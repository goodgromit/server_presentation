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 · 2분 · 누적 0:02]</a:t>
            </a:r>
          </a:p>
          <a:p/>
          <a:p>
            <a:r>
              <a:t>안녕하세요. 오늘은 "클라이언트 서버 통신과 멀티플레이"를 주제로 이야기하겠습니다.</a:t>
            </a:r>
          </a:p>
          <a:p/>
          <a:p>
            <a:r>
              <a:t>지금까지는 한 대의 기기 안에서 돌아가는 게임을 만들었다면, 오늘부터는 여러 사람이 각자의 기기에서 같은 게임에 들어오는 상황을 다룹니다. 사례는 2~5명이 함께하는 소규모 협동·경쟁 게임으로 잡았습니다. 대규모 MMO가 아니라 여러분이 팀 프로젝트로 실제로 만들 수 있는 규모입니다.</a:t>
            </a:r>
          </a:p>
          <a:p/>
          <a:p>
            <a:r>
              <a:t>시작하기 전에 나눠 드린 "서버 타입과 통신 방식 핸드아웃"을 옆에 두세요. 슬라이드에는 핵심 문장과 그림만 넣었고, 자세한 비교표는 핸드아웃에 있습니다. 제가 "핸드아웃 몇 번"이라고 말하면 그 표를 같이 봐 주시면 됩니다.</a:t>
            </a:r>
          </a:p>
          <a:p/>
          <a:p>
            <a:r>
              <a:t>전환: 먼저 오늘 어떤 순서로 갈지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진행 · 1분 · 누적 0:03]</a:t>
            </a:r>
          </a:p>
          <a:p/>
          <a:p>
            <a:r>
              <a:t>오늘은 다섯 부분으로 진행합니다. 게임 흐름과 책임, 서버 구성 요소, 통신 방식, 매칭과 실시간 데이터, 그리고 데모와 AI 활용입니다. 끝에서 설계 순서를 한 장으로 정리하고 질문을 받겠습니다.</a:t>
            </a:r>
          </a:p>
          <a:p/>
          <a:p>
            <a:r>
              <a:t>한 가지 미리 말씀드리면, 오늘은 특정 SDK 사용법을 거의 다루지 않습니다. Photon이든 Firebase든 엔진 네트워킹 기능이든 도구는 계속 바뀝니다. 대신 어떤 도구를 쓰든 똑같이 던져야 하는 질문, 즉 "누가 결정하고, 무엇을 어디에 저장하고, 어떻게 전달하는가"를 다룹니다.</a:t>
            </a:r>
          </a:p>
          <a:p/>
          <a:p>
            <a:r>
              <a:t>전환: 그럼 게임 한 판이 어떻게 흘러가는지부터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게임 흐름 · 2분 · 누적 0:05]</a:t>
            </a:r>
          </a:p>
          <a:p/>
          <a:p>
            <a:r>
              <a:t>화면에 플레이어가 겪는 순서를 그대로 적었습니다. 로그인하고, 내 프로필을 불러오고, 로비에 들어갔다가, 매칭을 돌리고, 게임 룸에서 플레이한 뒤, 결과를 저장하고 다시 로비로 돌아옵니다.</a:t>
            </a:r>
          </a:p>
          <a:p/>
          <a:p>
            <a:r>
              <a:t>이 흐름이 오늘 발표의 뼈대입니다. 각 단계 아래에 어떤 서버가 주로 일하는지 작게 적어 두었는데, 오늘 이 단계를 하나씩 따라가면서 담당 서버와 통신 방식을 붙여 나갈 겁니다.</a:t>
            </a:r>
          </a:p>
          <a:p/>
          <a:p>
            <a:r>
              <a:t>같은 흐름을 보는 눈은 직군마다 다릅니다. 기획자는 "매칭은 몇 명이 모이면 시작하나?" 같은 규칙으로 보고, 클라이언트 개발자는 "매칭 중에는 어떤 화면을 띄우고, 취소 버튼은 언제 막나?"를 보고, 서버 개발자는 "이 요청은 누가 보낼 권한이 있고, 실패하면 어떻게 되돌리나?"를 봅니다. 셋이 같은 그림을 보고 이야기해야 나중에 덜 싸웁니다.</a:t>
            </a:r>
          </a:p>
          <a:p/>
          <a:p>
            <a:r>
              <a:t>잠깐 생각해 보세요. 여러분 프로젝트에서 이 여섯 단계 중 가장 자신 없는 곳은 어디인가요? 질의응답 때 그 단계를 들고 오시면 좋겠습니다.</a:t>
            </a:r>
          </a:p>
          <a:p/>
          <a:p>
            <a:r>
              <a:t>전환: 이 흐름에서 각자 맡은 책임을 나눠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책임지는가 · 4분 · 누적 0:09]</a:t>
            </a:r>
          </a:p>
          <a:p/>
          <a:p>
            <a:r>
              <a:t>책임은 크게 세 군데로 나뉩니다.</a:t>
            </a:r>
          </a:p>
          <a:p/>
          <a:p>
            <a:r>
              <a:t>클라이언트는 화면, 입력, 로컬 표현을 맡습니다. 버튼을 누르면 바로 반응하고, 캐릭터가 부드럽게 움직이게 보여 주는 쪽입니다.</a:t>
            </a:r>
          </a:p>
          <a:p/>
          <a:p>
            <a:r>
              <a:t>서버는 요청 처리, 상태 관리, 권한 검증을 맡습니다. "이 사람이 이 행동을 해도 되나?", "지금 이 방의 진짜 상태는 무엇인가?"를 판단합니다.</a:t>
            </a:r>
          </a:p>
          <a:p/>
          <a:p>
            <a:r>
              <a:t>DB나 Firebase 같은 저장소는 다시 접속해도 남아 있어야 하는 데이터를 맡습니다. 게임을 껐다 켜도 레벨과 인벤토리가 그대로인 이유입니다.</a:t>
            </a:r>
          </a:p>
          <a:p/>
          <a:p>
            <a:r>
              <a:t>여기서 꼭 기억할 점이 있습니다. 클라이언트가 보여 주는 값과 서버가 확정한 값은 다를 수 있습니다. 예를 들어 내 화면에서는 총알이 적에게 맞은 것처럼 보였는데, 서버가 판단하기에는 그 순간 적이 이미 엄폐물 뒤에 있었다면 데미지가 들어가지 않습니다. 클라이언트는 빠르게 "보여 주고", 서버는 나중에 "확정"합니다.</a:t>
            </a:r>
          </a:p>
          <a:p/>
          <a:p>
            <a:r>
              <a:t>그래서 서버 구조를 정할 때 가장 중요한 질문은 화면 아래에 적은 이 질문입니다. "누가 결과를 확정하는가?" 클라이언트가 "나 이겼어, 보상 100골드 줘"라고 보냈을 때 그대로 믿어도 될까요? 이 질문에 대한 답이 서버를 얼마나 무겁게 만들지를 결정합니다. 오늘 이 질문을 여러 번 다시 꺼낼 겁니다.</a:t>
            </a:r>
          </a:p>
          <a:p/>
          <a:p>
            <a:r>
              <a:t>전환: 그럼 "서버"라고 뭉뚱그려 부르던 것을 역할별로 나눠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타입 한눈에 보기 · 4분 · 누적 0:13]</a:t>
            </a:r>
          </a:p>
          <a:p/>
          <a:p>
            <a:r>
              <a:t>왼쪽 그림이 소규모 멀티플레이 게임의 기본 구조입니다. [핸드아웃 §1]에 같은 그림이 조금 더 자세하게 있습니다.</a:t>
            </a:r>
          </a:p>
          <a:p/>
          <a:p>
            <a:r>
              <a:t>클라이언트는 세 곳과 이야기합니다. API 서버에는 로그인이나 프로필처럼 요청하고 응답받는 일을 보냅니다. 매칭 서버에는 "같이 할 사람 찾아 줘"라고 요청합니다. 매칭이 끝나면 실시간 게임 룸에 들어가 계속 데이터를 주고받습니다. API 서버는 뒤에서 DB나 Firebase와 연결되고, 게임 룸은 경기가 끝나면 결과를 API 서버로 넘깁니다.</a:t>
            </a:r>
          </a:p>
          <a:p/>
          <a:p>
            <a:r>
              <a:t>오른쪽 표가 한 줄 역할입니다. API 서버는 요청을 처리하고 응답하고, 매칭 서버는 대기열을 관리해 방을 배정하고, 실시간 게임 룸은 게임 중 이벤트와 상태를 교환하고, 전용 게임 서버는 게임 상태와 승패를 권한 있게 확정합니다.</a:t>
            </a:r>
          </a:p>
          <a:p/>
          <a:p>
            <a:r>
              <a:t>[핸드아웃 §2]를 보시면 인증 서버와 캐시가 별도 행으로 더 있고, 각 구성 요소마다 "주의할 점" 열이 있습니다. 나중에 설계할 때 그 열을 체크리스트로 쓰세요.</a:t>
            </a:r>
          </a:p>
          <a:p/>
          <a:p>
            <a:r>
              <a:t>중요한 점은, 이 상자 하나하나가 꼭 별도 서버일 필요는 없다는 것입니다. 작은 프로젝트에서는 Firebase 하나가 인증과 DB를 함께 맡고, Photon 같은 서비스 하나가 매칭과 게임 룸을 함께 맡기도 합니다. 그래서 서비스 이름보다 책임과 데이터 흐름을 먼저 나누는 게 순서입니다. 이름은 나중에 붙여도 됩니다.</a:t>
            </a:r>
          </a:p>
          <a:p/>
          <a:p>
            <a:r>
              <a:t>전환: 구성 요소를 하나씩 보겠습니다. 먼저 가장 익숙한 API 서버입니다.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서버는 요청과 응답을 처리한다 · 4분 · 누적 0:17]</a:t>
            </a:r>
          </a:p>
          <a:p/>
          <a:p>
            <a:r>
              <a:t>API 서버는 "물어보면 답하는" 서버입니다. 화면의 세 줄처럼 로그인 요청을 보내면 인증과 프로필을 확인하고, 프로필을 요청하면 돌려주고, 경기 결과를 보내면 검증해서 저장합니다.</a:t>
            </a:r>
          </a:p>
          <a:p/>
          <a:p>
            <a:r>
              <a:t>로그인, 프로필, 인벤토리, 상점, 전적, 보상처럼 바로 답을 받아야 하는 업무에 잘 맞습니다.</a:t>
            </a:r>
          </a:p>
          <a:p/>
          <a:p>
            <a:r>
              <a:t>여기서 초보 설계에서 가장 자주 터지는 문제가 하나 있습니다. 같은 요청이 두 번 도착하는 경우입니다. 플레이어가 결과 화면에서 보상 받기를 눌렀는데 네트워크가 잠깐 끊겨 응답을 못 받았습니다. 클라이언트는 실패한 줄 알고 다시 보냅니다. 그런데 사실 첫 요청은 서버에 도착해서 처리됐습니다. 그러면 보상이 두 번 들어갑니다.</a:t>
            </a:r>
          </a:p>
          <a:p/>
          <a:p>
            <a:r>
              <a:t>해결 방법은 요청에 경기 ID나 요청 ID 같은 고유 번호를 붙이고, 서버가 "이 번호는 이미 처리했다"를 기록해 두는 것입니다. 두 번째 요청이 오면 다시 지급하지 않고 첫 번째 결과를 그대로 돌려줍니다. 이런 성질을 멱등성이라고 부릅니다. 단어는 몰라도 되지만 "두 번 눌러도 한 번만 처리된다"는 원칙은 꼭 기억하세요.</a:t>
            </a:r>
          </a:p>
          <a:p/>
          <a:p>
            <a:r>
              <a:t>마지막으로, API는 주소 목록이 아닙니다. 화면 아래 네 칸처럼 요청 데이터, 성공 응답, 실패 응답, 권한 조건을 함께 적어야 API 문서입니다. 예를 들어 `POST /result`라면 "이미 처리된 경기", "이 경기 참가자가 아님", "존재하지 않는 경기" 같은 실패 응답까지 정해야 클라이언트가 각 경우에 맞는 화면을 띄울 수 있습니다.</a:t>
            </a:r>
          </a:p>
          <a:p/>
          <a:p>
            <a:r>
              <a:t>전환: 다음은 자주 헷갈리는 두 가지, 매칭 서버와 게임 룸입니다.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[매칭 서버와 게임 룸은 다르다 · 4분 · 누적 0:21]</a:t>
            </a:r>
          </a:p>
          <a:p/>
          <a:p>
            <a:r>
              <a:t>매칭 서버와 게임 룸은 같은 서비스에 들어 있는 경우가 많아서 하나로 생각하기 쉬운데, 하는 일은 완전히 다릅니다.</a:t>
            </a:r>
          </a:p>
          <a:p/>
          <a:p>
            <a:r>
              <a:t>식당에 비유해 보겠습니다. 매칭 서버는 입구에서 대기 명단을 관리하고 "4인 테이블 났습니다, 3번 테이블로 가세요"라고 안내하는 직원입니다. 게임 룸은 그 테이블 자체입니다. 손님이 앉아서 식사하는 동안 계속 쓰이는 공간이죠.</a:t>
            </a:r>
          </a:p>
          <a:p/>
          <a:p>
            <a:r>
              <a:t>위쪽 흐름이 매칭 서버입니다. 대기열에 등록하고, 조건을 비교하고, 방 ID를 배정합니다. 목표는 같은 조건의 사용자를 빠르게 묶어서 방에 넣는 것입니다. 일이 끝나면 사용자와 매칭 서버의 관계도 끝납니다.</a:t>
            </a:r>
          </a:p>
          <a:p/>
          <a:p>
            <a:r>
              <a:t>아래쪽 흐름이 게임 룸입니다. 배정받은 방 ID로 입장하고, 모두 준비하고, 실제 게임 데이터를 주고받습니다. 목표는 매칭된 사용자들이 끝까지 플레이할 수 있게 연결을 유지하는 것입니다.</a:t>
            </a:r>
          </a:p>
          <a:p/>
          <a:p>
            <a:r>
              <a:t>화면 아래 경고를 보세요. 사용자가 취소 버튼을 누른 순간 서버에서는 마침 매칭이 확정됐다면 어떻게 될까요? 한쪽 화면에는 "취소됨", 상대 화면에는 "매칭 완료"가 뜨는 어긋난 상태가 생길 수 있습니다. 그래서 둘이 동시에 일어나면 어느 쪽을 최종으로 인정할지 미리 정하고, 서버에서는 상태 변경을 한 번에 하나씩만 처리하게 만들어야 합니다. 이 상황은 뒤의 상태도와 예외 테스트에서 다시 다룹니다.</a:t>
            </a:r>
          </a:p>
          <a:p/>
          <a:p>
            <a:r>
              <a:t>전환: 게임 룸에도 두 종류가 있습니다. 메시지만 전달하는 룸과 직접 판정하는 서버입니다.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릴레이와 전용 게임 서버 · 4분 · 누적 0:25]</a:t>
            </a:r>
          </a:p>
          <a:p/>
          <a:p>
            <a:r>
              <a:t>게임 룸을 구현하는 방식은 크게 둘입니다.</a:t>
            </a:r>
          </a:p>
          <a:p/>
          <a:p>
            <a:r>
              <a:t>왼쪽은 실시간 릴레이 룸입니다. 릴레이는 우체국과 같습니다. A가 보낸 편지를 B와 C에게 전달하지만 편지 내용이 맞는지 틀린지는 보지 않습니다. 그래서 판정은 각 클라이언트나 방장 역할을 하는 호스트 클라이언트가 합니다. 캐주얼한 협동 게임이나 빠른 프로토타입에 잘 맞습니다.</a:t>
            </a:r>
          </a:p>
          <a:p/>
          <a:p>
            <a:r>
              <a:t>여기서 흔한 오해가 있습니다. "서버를 거쳐서 메시지가 오니까 서버가 판정하는 거 아닌가요?" 아닙니다. 메시지가 서버를 지나간다고 해서 서버가 게임 규칙을 아는 것은 아닙니다.</a:t>
            </a:r>
          </a:p>
          <a:p/>
          <a:p>
            <a:r>
              <a:t>오른쪽은 전용 게임 서버입니다. 이건 심판입니다. 서버가 직접 게임 루프를 돌리면서 "이 공격이 맞았는가, 점수는 몇 점인가, 누가 이겼는가"를 최종 확정합니다. 클라이언트는 "나 공격 버튼 눌렀어"라는 입력만 보내고, 결과는 서버가 알려 줍니다. 경쟁 PvP, 랭킹, 치팅 방지가 중요한 게임에 맞습니다.</a:t>
            </a:r>
          </a:p>
          <a:p/>
          <a:p>
            <a:r>
              <a:t>아래 막대가 그 대가입니다. 전용 서버로 갈수록 서버 비용과 구현 난도가 올라갑니다. 서버를 띄우고 배포하고 장애가 나면 복구해야 하니까요. 대신 공정성과 검증 능력이 높아집니다. 어느 쪽이 정답이 아니라, 우리 게임에서 조작당하면 안 되는 것이 무엇인지에 따라 고릅니다.</a:t>
            </a:r>
          </a:p>
          <a:p/>
          <a:p>
            <a:r>
              <a:t>전환: 이 선택을 조금 더 세분해 보겠습니다. 핸드아웃 5번을 펴 주세요.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게임 결과를 확정하는가: 네 가지 구조 · 4분 · 누적 0:29]</a:t>
            </a:r>
          </a:p>
          <a:p/>
          <a:p>
            <a:r>
              <a:t>[핸드아웃 §5] 내용입니다. 판정 주체에 따라 네 가지 구조가 있고, 왼쪽에서 오른쪽으로 갈수록 만들기는 어려워지고 공정해집니다.</a:t>
            </a:r>
          </a:p>
          <a:p/>
          <a:p>
            <a:r>
              <a:t>첫째, 클라이언트 주도. 각 플레이어 클라이언트가 자기 결과를 판정합니다. 가장 빠르게 만들 수 있지만, 클라이언트를 조작하면 결과도 조작되고, 플레이어끼리 판정이 어긋나기 쉽습니다.</a:t>
            </a:r>
          </a:p>
          <a:p/>
          <a:p>
            <a:r>
              <a:t>둘째, 호스트 클라이언트. 방장 역할의 클라이언트 하나가 판정합니다. 별도 서버 비용이 적지만, 방장이 나가면 게임이 끊기거나 방장을 넘겨야 하고, 방장이 조작하면 막을 방법이 없습니다.</a:t>
            </a:r>
          </a:p>
          <a:p/>
          <a:p>
            <a:r>
              <a:t>셋째, 릴레이 룸. 메시지는 서버를 거치지만 상태 처리는 여전히 클라이언트들이 합니다. 소규모 협동에서는 단순하고 충분합니다. 다만 다시 강조하면, 권한 있는 판정 서버는 아닙니다.</a:t>
            </a:r>
          </a:p>
          <a:p/>
          <a:p>
            <a:r>
              <a:t>넷째, 전용 게임 서버. 서버가 판정합니다. 공정한 판정과 검증에 유리하지만 서버 호스팅과 운영이 필요합니다.</a:t>
            </a:r>
          </a:p>
          <a:p/>
          <a:p>
            <a:r>
              <a:t>화면 아래 원칙이 오늘의 결론 중 하나입니다. 전적, 보상, 랭킹처럼 서비스 가치에 영향을 주는 결과는 신뢰할 수 있는 서버나 백엔드 검증을 거친 뒤 저장합니다. 그래서 현실적인 선택지는 이렇습니다. 게임 플레이 자체는 릴레이로 가볍게 만들더라도, 보상과 전적을 저장하는 순간만큼은 서버에서 한 번 검증합니다. 예를 들어 "5분짜리 경기에서 10초 만에 이겼다" 같은 말이 안 되는 결과는 저장 단계에서 걸러냅니다.</a:t>
            </a:r>
          </a:p>
          <a:p/>
          <a:p>
            <a:r>
              <a:t>전환: 이제 데이터가 실제로 어디에 머무는지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캐시, Firebase의 역할 · 4분 · 누적 0:33]</a:t>
            </a:r>
          </a:p>
          <a:p/>
          <a:p>
            <a:r>
              <a:t>저장소를 고르는 가장 쉬운 기준은 데이터의 수명입니다.</a:t>
            </a:r>
          </a:p>
          <a:p/>
          <a:p>
            <a:r>
              <a:t>왼쪽, 영구 데이터. 계정, 프로필, 전적, 보상, 구매 기록처럼 몇 달 뒤에도 남아 있어야 하는 데이터는 DB나 Firebase에 둡니다. Firebase는 인증과 클라우드 데이터 관리를 한 번에 제공해서 작은 팀에게 특히 유용합니다.</a:t>
            </a:r>
          </a:p>
          <a:p/>
          <a:p>
            <a:r>
              <a:t>가운데, 캐시. 세션, 대기열, 짧게 유지할 룸 상태처럼 몇 분에서 몇 시간 쓰고 버릴 데이터입니다. 캐시는 아주 빠르지만 사라질 수 있습니다. 서버가 재시작되거나 만료 시간이 지나면 없어집니다.</a:t>
            </a:r>
          </a:p>
          <a:p/>
          <a:p>
            <a:r>
              <a:t>오른쪽, 실시간 룸. 입력, 위치, 준비 상태, 순간 이벤트처럼 몇 초 뒤에는 의미가 없어지는 데이터입니다. 이건 룸 안에서 주고받고 끝냅니다.</a:t>
            </a:r>
          </a:p>
          <a:p/>
          <a:p>
            <a:r>
              <a:t>흔한 실수가 있습니다. 실시간 위치를 전부 영구 DB에 기록하려는 경우입니다. 5명이 초당 20번씩 위치를 보내면 초당 100번 쓰기입니다. 한 판이 10분이면 6만 번입니다. 클라우드 DB는 보통 읽기·쓰기 횟수로 과금하니 비용이 금방 커지고 지연도 늘어납니다.</a:t>
            </a:r>
          </a:p>
          <a:p/>
          <a:p>
            <a:r>
              <a:t>반대 실수도 있습니다. 보상 지급 기록을 캐시에만 두는 것입니다. 캐시가 날아가면 지급 기록도 사라져 중복 지급이나 누락이 생깁니다. 그래서 "무엇을 영구 저장할지"를 먼저 정하고, 나머지는 빠르지만 사라져도 되는 곳에 둡니다.</a:t>
            </a:r>
          </a:p>
          <a:p/>
          <a:p>
            <a:r>
              <a:t>전환: 지금까지 "어디서 무엇을 하는가"를 봤다면, 이제 "어떻게 전달하는가", 통신 방식으로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[연결지향 통신: TCP · 4분 · 누적 0:37]</a:t>
            </a:r>
          </a:p>
          <a:p/>
          <a:p>
            <a:r>
              <a:t>TCP는 연결을 먼저 만들고 유지하면서 순서와 전달을 보장하는 방식입니다. 전화 통화처럼 연결부터 맺고 이야기를 시작한다고 생각하면 됩니다.</a:t>
            </a:r>
          </a:p>
          <a:p/>
          <a:p>
            <a:r>
              <a:t>왼쪽 그림을 보세요. 패킷 1, 2, 3, 4를 보냈는데 2번이 중간에 사라졌습니다. TCP는 2번을 다시 보내게 하고, 받는 쪽 프로그램에는 반드시 1, 2, 3, 4 순서로 넘겨 줍니다. 그래서 프로그래머는 손실이나 순서를 신경 쓰지 않아도 됩니다.</a:t>
            </a:r>
          </a:p>
          <a:p/>
          <a:p>
            <a:r>
              <a:t>그래서 정확한 전달이 필요한 데이터에 맞습니다. 로그인, 프로필과 인벤토리, 구매와 보상, 경기 결과 저장. 이 데이터 중 하나라도 빠지거나 순서가 바뀌면 큰 문제가 되죠.</a:t>
            </a:r>
          </a:p>
          <a:p/>
          <a:p>
            <a:r>
              <a:t>그런데 그림의 3번, 4번을 보세요. 이미 도착했는데도 2번이 다시 올 때까지 기다리고 있습니다. 앞 데이터가 늦어지면 뒤 데이터도 같이 기다리는 겁니다. 일렬로 오는 택배에서 앞 상자 하나가 분실되면 뒤 상자들이 문 앞에 와 있어도 못 받는 상황입니다.</a:t>
            </a:r>
          </a:p>
          <a:p/>
          <a:p>
            <a:r>
              <a:t>캐릭터 위치처럼 빠르게 변하는 값에서는 이게 문제가 됩니다. 1초 전 위치를 기다리느라 지금 위치를 못 받으면 화면이 멈칫거립니다. 그래서 TCP가 위치값에 무조건 맞는 것은 아닙니다. 다만 턴제 게임이나 느린 협동 게임이라면 TCP만으로도 충분한 경우가 많습니다.</a:t>
            </a:r>
          </a:p>
          <a:p/>
          <a:p>
            <a:r>
              <a:t>전환: 그 반대 성격을 가진 것이 UDP입니다.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[비연결지향 통신: UDP · 4분 · 누적 0:41]</a:t>
            </a:r>
          </a:p>
          <a:p/>
          <a:p>
            <a:r>
              <a:t>UDP는 연결을 유지하지 않고 각 패킷을 독립적으로 보냅니다. 전화가 아니라 엽서에 가깝습니다. 보내고 나면 끝이고, 도착했는지 확인하지 않습니다.</a:t>
            </a:r>
          </a:p>
          <a:p/>
          <a:p>
            <a:r>
              <a:t>UDP는 전달, 순서, 중복 제거를 기본으로 보장하지 않습니다. 패킷이 사라질 수도, 순서가 바뀔 수도, 두 번 올 수도 있습니다. 그런데 왜 쓸까요? 최신 데이터가 더 중요할 때가 있기 때문입니다.</a:t>
            </a:r>
          </a:p>
          <a:p/>
          <a:p>
            <a:r>
              <a:t>그림을 보세요. 위치 패킷 1부터 5까지 보냈는데 2번과 4번이 사라졌습니다. 그래도 5번이 도착하면 5번 위치를 쓰면 됩니다. 사라진 2번을 다시 받을 필요가 없습니다. 이미 지나간 위치니까요. 1초 전 위치를 완벽하게 받는 것보다 지금 위치를 빠르게 받는 게 나은 경우, 이동 입력, 위치 스냅샷, 빠른 액션 게임의 상태가 여기에 해당합니다.</a:t>
            </a:r>
          </a:p>
          <a:p/>
          <a:p>
            <a:r>
              <a:t>물론 그냥 쓰면 문제가 생기니, 게임은 아래 네 가지로 보완합니다.</a:t>
            </a:r>
          </a:p>
          <a:p>
            <a:r>
              <a:t>- 순서 번호: 패킷마다 번호를 붙여서 늦게 온 옛날 패킷은 버립니다.</a:t>
            </a:r>
          </a:p>
          <a:p>
            <a:r>
              <a:t>- 보간: 띄엄띄엄 온 위치 사이를 부드럽게 이어서 그립니다.</a:t>
            </a:r>
          </a:p>
          <a:p>
            <a:r>
              <a:t>- 예측: 내 캐릭터는 서버 응답을 기다리지 않고 먼저 움직이고, 나중에 서버 값으로 보정합니다.</a:t>
            </a:r>
          </a:p>
          <a:p>
            <a:r>
              <a:t>- 선택적 재전송: "보스 처치" 같은 중요한 이벤트만 골라서 확실히 전달합니다.</a:t>
            </a:r>
          </a:p>
          <a:p/>
          <a:p>
            <a:r>
              <a:t>그래서 대부분의 게임 네트워크 라이브러리는 UDP 위에 "확실히 보내는 채널"과 "빨리 보내는 채널"을 함께 제공합니다. 여러분이 이걸 직접 만들 일은 많지 않지만, 어떤 데이터를 어느 채널로 보낼지는 직접 골라야 합니다.</a:t>
            </a:r>
          </a:p>
          <a:p/>
          <a:p>
            <a:r>
              <a:t>전환: 그럼 자주 듣는 HTTP, REST, WebSocket은 이 둘과 어떤 관계일까요?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 REST와 WebSocket · 4분 · 누적 0:45]</a:t>
            </a:r>
          </a:p>
          <a:p/>
          <a:p>
            <a:r>
              <a:t>왼쪽 그림이 오늘 꼭 정리하고 싶은 부분입니다. TCP와 UDP는 아래층, 전송 계층의 용어입니다. HTTP, REST, WebSocket은 그 위에서 응용 프로그램이 데이터를 주고받는 방식입니다. 일반적인 HTTP와 WebSocket은 TCP 위에서 동작하고, 게임용 실시간 프로토콜은 주로 UDP 위에서 동작합니다.</a:t>
            </a:r>
          </a:p>
          <a:p/>
          <a:p>
            <a:r>
              <a:t>오른쪽 표를 보겠습니다. HTTP REST는 요청하면 응답이 오는 방식입니다. 프로필 조회나 결과 저장처럼 한 번 묻고 답을 받으면 끝나는 일에 씁니다.</a:t>
            </a:r>
          </a:p>
          <a:p/>
          <a:p>
            <a:r>
              <a:t>WebSocket은 연결을 하나 열어 두고 양쪽에서 언제든 메시지를 보내는 방식입니다. 로비 알림, 채팅, 준비 상태처럼 "서버가 먼저 알려 줘야 하는" 일에 맞습니다. REST로 매칭 완료를 알려면 클라이언트가 1초마다 "됐어요?" 하고 물어봐야 하는데, WebSocket이면 서버가 "됐습니다" 하고 바로 보내 줍니다.</a:t>
            </a:r>
          </a:p>
          <a:p/>
          <a:p>
            <a:r>
              <a:t>UDP 기반 통신은 짧은 패킷을 빠르게 전달합니다. 이동, 입력, 스냅샷용입니다.</a:t>
            </a:r>
          </a:p>
          <a:p/>
          <a:p>
            <a:r>
              <a:t>그래서 "REST를 쓸까, UDP를 쓸까?"는 잘못된 질문입니다. 층이 다른 것을 비교하는 셈이니까요. 맞는 질문은 화면 아래 문장입니다. "이 데이터에는 어떤 전달 특성이 필요한가?" 정확해야 하나, 빨라야 하나, 서버가 먼저 알려 줘야 하나. 이걸 먼저 정하면 방식은 따라옵니다. [핸드아웃 §3, §4]에 연결지향·비연결지향 비교표와, 서버끼리 주고받는 메시지 큐까지 포함한 표가 있습니다.</a:t>
            </a:r>
          </a:p>
          <a:p/>
          <a:p>
            <a:r>
              <a:t>전환: 이제 데이터를 실제로 어떻게 저장하고 매칭을 어떻게 설계하는지로 넘어갑니다. 먼저 Firebase입니다.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[Firebase에는 무엇을 저장할까 · 3분 · 누적 0:48]</a:t>
            </a:r>
          </a:p>
          <a:p/>
          <a:p>
            <a:r>
              <a:t>기준은 한 문장입니다. 게임을 껐다 켜도 남아야 하는 데이터. 사용자 ID와 프로필, 인벤토리와 설정, 전적과 보상 지급 기록, 그리고 검증된 경기 결과입니다.</a:t>
            </a:r>
          </a:p>
          <a:p/>
          <a:p>
            <a:r>
              <a:t>여기서 "검증된"이라는 단어가 중요합니다. Firebase는 클라이언트에서 직접 데이터베이스에 쓸 수 있어서 편리한데, 바로 그 점이 위험합니다. 보상이나 전적을 클라이언트가 원하는 값으로 직접 쓰게 두면, 클라이언트를 조작한 사람이 자기 골드를 마음대로 바꿀 수 있습니다.</a:t>
            </a:r>
          </a:p>
          <a:p/>
          <a:p>
            <a:r>
              <a:t>그래서 오른쪽처럼 설계합니다. 클라이언트는 결과를 "제출"만 하고, 서버 쪽 코드가 검증한 뒤 저장합니다. Firebase라면 Cloud Functions 같은 서버 측 코드를 쓰고, 보안 규칙으로 클라이언트가 보상 필드를 직접 쓰지 못하게 막습니다.</a:t>
            </a:r>
          </a:p>
          <a:p/>
          <a:p>
            <a:r>
              <a:t>그리고 앞에서 본 중복 처리 기준을 같이 정합니다. 같은 경기 ID로 결과가 두 번 들어오면 두 번째는 무시한다는 규칙입니다. 권한 규칙과 중복 처리 기준, 이 두 가지를 저장 구조와 함께 설계하세요.</a:t>
            </a:r>
          </a:p>
          <a:p/>
          <a:p>
            <a:r>
              <a:t>전환: 다음은 오늘 가장 실무적인 도구, 매칭 상태도입니다.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매칭 상태도 · 5분 · 누적 0:53]</a:t>
            </a:r>
          </a:p>
          <a:p/>
          <a:p>
            <a:r>
              <a:t>매칭 기능을 상태도로 그렸습니다. 왼쪽부터 따라가 보겠습니다.</a:t>
            </a:r>
          </a:p>
          <a:p/>
          <a:p>
            <a:r>
              <a:t>로비에서 매칭을 신청하면 Waiting, 대기 상태가 됩니다. 상대를 찾으면 Matched, 방에 입장하면 Room, 모두 준비하면 Playing, 경기가 끝나면 Result, 결과를 저장하면 다시 Lobby로 돌아옵니다.</a:t>
            </a:r>
          </a:p>
          <a:p/>
          <a:p>
            <a:r>
              <a:t>아래쪽 되돌아가는 화살표가 더 중요합니다. 대기 중에 취소하거나 타임아웃이 나면 로비로 돌아갑니다. 매칭은 됐는데 방 입장에 실패하거나 상대가 나가도 로비로 돌아갑니다. 정상 흐름보다 이 되돌아가는 길이 버그가 더 많이 나는 곳입니다.</a:t>
            </a:r>
          </a:p>
          <a:p/>
          <a:p>
            <a:r>
              <a:t>상태도는 그림이 아니라 합의 도구입니다. 기획, 클라이언트, 서버가 이 한 장을 같이 보면서 화살표마다 세 가지를 정합니다. 화면 아래 적은 것처럼, 요청 주체, 최종 확정 주체, 실패 메시지입니다.</a:t>
            </a:r>
          </a:p>
          <a:p/>
          <a:p>
            <a:r>
              <a:t>예를 들어 Waiting에서 Matched로 가는 화살표라면, 요청 주체는 매칭 서버이고, 확정 주체도 매칭 서버이고, 실패하면 Waiting을 유지하고 "상대를 찾는 중입니다"를 계속 보여 줍니다. Waiting에서 Lobby로 가는 취소 화살표는 요청 주체가 클라이언트지만, 확정 주체는 서버입니다. 클라이언트가 취소를 눌렀다고 바로 로비 화면으로 바꾸면 안 되고, 서버가 "취소 확정"이라고 답했을 때 바꿔야 합니다.</a:t>
            </a:r>
          </a:p>
          <a:p/>
          <a:p>
            <a:r>
              <a:t>1분만 시간을 드리겠습니다. 옆 사람과 Matched에서 Lobby로 가는 화살표, 즉 입장 실패나 상대 이탈에 대해 이 세 가지를 정해 보세요. 누가 요청하고, 누가 확정하고, 화면에 어떤 메시지를 띄울까요?</a:t>
            </a:r>
          </a:p>
          <a:p/>
          <a:p>
            <a:r>
              <a:t>(1분 후) 몇 분 답을 들어 보겠습니다. … 좋습니다. 정답이 하나는 아닙니다. 중요한 건 팀 안에서 한 가지로 합의하는 것입니다.</a:t>
            </a:r>
          </a:p>
          <a:p/>
          <a:p>
            <a:r>
              <a:t>전환: 이 되돌아가는 화살표들이 바로 테스트해야 할 예외입니다.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[매칭 예외와 테스트 · 4분 · 누적 0:57]</a:t>
            </a:r>
          </a:p>
          <a:p/>
          <a:p>
            <a:r>
              <a:t>실제 서비스에서 바로 만나는 예외 다섯 가지를 정리했습니다. 오른쪽 열은 각 상황에서 "최종 상태가 무엇이어야 하는가"의 예시입니다.</a:t>
            </a:r>
          </a:p>
          <a:p/>
          <a:p>
            <a:r>
              <a:t>- 대기 중 취소: 대기열에서 빠지고 로비로 돌아갑니다.</a:t>
            </a:r>
          </a:p>
          <a:p>
            <a:r>
              <a:t>- 취소와 매칭 확정이 동시에 도착: 서버가 먼저 처리한 쪽 하나만 인정합니다. 취소가 먼저면 상대는 다시 대기로, 확정이 먼저면 취소 요청에 "이미 매칭됨"이라고 답합니다.</a:t>
            </a:r>
          </a:p>
          <a:p>
            <a:r>
              <a:t>- 매칭 직후 상대 이탈: 남은 사람은 다시 대기열에 넣거나 로비로 보냅니다. 어느 쪽인지는 기획이 정합니다.</a:t>
            </a:r>
          </a:p>
          <a:p>
            <a:r>
              <a:t>- 중복 매칭 요청: 버튼을 두 번 눌러도 대기열에는 한 건만 남습니다.</a:t>
            </a:r>
          </a:p>
          <a:p>
            <a:r>
              <a:t>- 방 입장 실패: 정해진 횟수만큼 재시도하고, 그래도 안 되면 로비로 보내고 이유를 보여 줍니다.</a:t>
            </a:r>
          </a:p>
          <a:p/>
          <a:p>
            <a:r>
              <a:t>정상 매칭만 구현하면 출시 첫날 이 중 몇 개를 바로 만납니다. 특히 동시 도착은 혼자 테스트하면 거의 안 나오다가 사용자가 많아지면 매일 나옵니다.</a:t>
            </a:r>
          </a:p>
          <a:p/>
          <a:p>
            <a:r>
              <a:t>테스트를 쓸 때 핵심은 화면 아래 문장입니다. "어떤 오류가 났나?"보다 "최종 상태가 무엇이어야 하나?"를 먼저 정합니다. 테스트 문장으로 쓰면 이렇습니다. "Waiting 상태에서, 취소와 매칭 확정이 동시에 오면, 두 사용자의 상태는 서로 모순되지 않아야 한다." 이렇게 상태로 정의하면 클라이언트와 서버가 같은 기준으로 테스트할 수 있습니다.</a:t>
            </a:r>
          </a:p>
          <a:p/>
          <a:p>
            <a:r>
              <a:t>전환: 매칭이 끝나고 게임이 시작되면 이제 실시간 데이터의 양이 문제가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데이터와 최적화 · 4분 · 누적 1:01]</a:t>
            </a:r>
          </a:p>
          <a:p/>
          <a:p>
            <a:r>
              <a:t>실시간 최적화의 원칙은 화면 맨 위 한 줄입니다. 필요한 데이터만, 필요한 대상에게, 필요한 주기로.</a:t>
            </a:r>
          </a:p>
          <a:p/>
          <a:p>
            <a:r>
              <a:t>먼저 데이터를 세 종류로 나눕니다. 입력은 이동, 공격, 선택처럼 플레이어가 한 행동입니다. 상태는 위치, 체력, 점수처럼 지금 이 순간의 값입니다. 이벤트는 피격, 이모트, 알림처럼 한 번 일어나고 끝나는 일입니다.</a:t>
            </a:r>
          </a:p>
          <a:p/>
          <a:p>
            <a:r>
              <a:t>이 셋은 보내는 방식이 다릅니다. 상태는 최신 값만 중요하니 주기적으로 보내고 오래된 것은 버려도 됩니다. 이벤트는 한 번만 일어나니 확실히 전달해야 합니다.</a:t>
            </a:r>
          </a:p>
          <a:p/>
          <a:p>
            <a:r>
              <a:t>아래 세 가지 팁입니다.</a:t>
            </a:r>
          </a:p>
          <a:p/>
          <a:p>
            <a:r>
              <a:t>첫째, 변하지 않은 상태를 매번 보내지 않습니다. 체력이 그대로면 체력은 빼고 바뀐 값만 보냅니다.</a:t>
            </a:r>
          </a:p>
          <a:p/>
          <a:p>
            <a:r>
              <a:t>둘째, 시야 밖이나 멀리 있는 플레이어는 덜 자주 갱신해도 됩니다. 2~5인 게임에서는 효과가 크지 않을 수 있지만, 맵이 넓으면 의미가 있습니다.</a:t>
            </a:r>
          </a:p>
          <a:p/>
          <a:p>
            <a:r>
              <a:t>셋째, 이벤트와 현재 상태를 구분하면 늦게 들어온 사람 처리가 쉬워집니다. 중간에 재접속한 플레이어에게 지난 10분간의 이벤트를 전부 다시 보낼 필요 없이, 현재 상태 스냅샷 하나를 주고 그 뒤 이벤트만 보내면 됩니다.</a:t>
            </a:r>
          </a:p>
          <a:p/>
          <a:p>
            <a:r>
              <a:t>전환: 이론은 여기까지입니다. 실제로 상태가 바뀌는 모습을 데모로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[Firebase 매칭 데모 · 6분 · 누적 1:07]</a:t>
            </a:r>
          </a:p>
          <a:p/>
          <a:p>
            <a:r>
              <a:t>(데모 준비: `ai_시연/index.html`을 일반 창과 시크릿 창 두 개로 미리 열어 둔다. 네트워크가 안 되면 미리 찍어 둔 캡처로 진행한다.)</a:t>
            </a:r>
          </a:p>
          <a:p/>
          <a:p>
            <a:r>
              <a:t>지금 화면 두 개를 띄웠습니다. 왼쪽은 일반 창, 오른쪽은 시크릿 창입니다. 시크릿 창을 쓰는 이유는 로그인 정보를 따로 가져서 서로 다른 사용자처럼 보이게 하기 위해서입니다.</a:t>
            </a:r>
          </a:p>
          <a:p/>
          <a:p>
            <a:r>
              <a:t>먼저 왼쪽 첫 번째 사용자가 매칭을 신청합니다. 상태가 waiting으로 바뀐 걸 보세요. 아직 상대가 없으니 대기 중입니다. 앞의 상태도에서 Lobby에서 Waiting으로 간 겁니다.</a:t>
            </a:r>
          </a:p>
          <a:p/>
          <a:p>
            <a:r>
              <a:t>이제 오른쪽 두 번째 사용자가 매칭을 신청합니다. 대기 중인 사람이 있으니 match가 생성됩니다. 그리고 보세요. 왼쪽 화면도 새로고침 없이 바로 바뀌었습니다. 두 화면이 같은 데이터를 보고 있고, 데이터가 바뀌면 실시간으로 알림을 받기 때문입니다. 앞에서 말한 "서버가 먼저 알려 주는" 방식입니다.</a:t>
            </a:r>
          </a:p>
          <a:p/>
          <a:p>
            <a:r>
              <a:t>여기서 질문 하나 드리겠습니다. 이 데모에서 match를 만든 건 누구일까요? 서버일까요, 두 번째 사용자의 클라이언트일까요? … 이 예제에서는 클라이언트 코드가 데이터를 읽고 match를 만듭니다. 그래서 오늘 배운 기준으로 보면 이건 수업용입니다. 두 사람이 정확히 동시에 신청하면 어떻게 될지, 조작된 클라이언트가 아무 match나 만들면 어떻게 될지 생각해 보세요.</a:t>
            </a:r>
          </a:p>
          <a:p/>
          <a:p>
            <a:r>
              <a:t>분명히 말씀드리면, 이 코드는 상태 전환을 눈으로 보여 주기 위한 수업용 예제입니다. 전용 게임 서버도 아니고 운영용 매칭 완성본도 아닙니다. 실제 서비스라면 매칭 확정을 서버 쪽 코드로 옮기고, 앞의 예외 다섯 가지를 테스트해야 합니다.</a:t>
            </a:r>
          </a:p>
          <a:p/>
          <a:p>
            <a:r>
              <a:t>전환: 이런 구조를 설계할 때 AI를 어떻게 쓰면 좋을지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[AI로 구조 초안 검토하기 · 3분 · 누적 1:10]</a:t>
            </a:r>
          </a:p>
          <a:p/>
          <a:p>
            <a:r>
              <a:t>AI 도구는 서버 구조 초안을 잡는 데 꽤 유용합니다. 다만 원칙은 화면의 한 줄입니다. AI에게 구조를 결정하게 하지 말고, 빠진 질문을 찾게 합니다.</a:t>
            </a:r>
          </a:p>
          <a:p/>
          <a:p>
            <a:r>
              <a:t>좋은 답을 받으려면 요청에 다섯 가지를 넣으세요. 경기 인원과 장르, 서버별 책임, 지속 저장 데이터와 실시간 데이터, 권한과 예외 상황, 원하는 결과물 형식입니다.</a:t>
            </a:r>
          </a:p>
          <a:p/>
          <a:p>
            <a:r>
              <a:t>예를 들면 이렇게 요청합니다. "4인 협동 디펜스 게임이다. 서버 책임표, API 목록, 매칭 상태, 테스트 시나리오를 만들고, 네가 가정한 부분은 따로 표시해 줘." 마지막 문장이 중요합니다. AI는 모르는 부분을 그럴듯하게 채우기 때문에, 가정을 구분하게 해야 우리가 무엇을 확인해야 하는지 보입니다.</a:t>
            </a:r>
          </a:p>
          <a:p/>
          <a:p>
            <a:r>
              <a:t>받은 답은 정답이 아니라 팀 검토의 시작점입니다. 출력물을 들고 팀원과 "이 가정이 우리 게임에 맞나?"를 이야기하는 데 쓰세요.</a:t>
            </a:r>
          </a:p>
          <a:p/>
          <a:p>
            <a:r>
              <a:t>전환: 그럼 AI 답을 어떻게 확인할까요?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답변 검증 · 3분 · 누적 1:13]</a:t>
            </a:r>
          </a:p>
          <a:p/>
          <a:p>
            <a:r>
              <a:t>확인할 것은 네 가지입니다.</a:t>
            </a:r>
          </a:p>
          <a:p/>
          <a:p>
            <a:r>
              <a:t>서버 책임은 우리 실제 기획과 구조에 대조합니다. AI가 만든 책임표가 우리 게임 규칙과 맞는지 봅니다.</a:t>
            </a:r>
          </a:p>
          <a:p/>
          <a:p>
            <a:r>
              <a:t>기술 기능은 공식 문서로 확인합니다. AI가 말한 TCP, UDP, Firebase, Photon 관련 설명은 제품 문서와 실제 실행으로 확인하세요. 특히 서비스의 기능과 요금은 자주 바뀌어서, AI가 예전 정보를 말하는 경우가 많습니다.</a:t>
            </a:r>
          </a:p>
          <a:p/>
          <a:p>
            <a:r>
              <a:t>권한과 보안은 규칙을 만들고 실제로 권한 테스트를 해 봅니다. 다른 사용자 데이터를 쓸 수 있는지 직접 시도해 보는 겁니다.</a:t>
            </a:r>
          </a:p>
          <a:p/>
          <a:p>
            <a:r>
              <a:t>예외 처리는 취소, 이탈, 재접속을 실제로 테스트합니다.</a:t>
            </a:r>
          </a:p>
          <a:p/>
          <a:p>
            <a:r>
              <a:t>그리고 특히 조심할 문장이 있습니다. "서버가 판정한다." AI 답에 이 말이 나오면 실제 권한 주체가 누구인지 다시 물어보세요. 릴레이 서버를 쓰면서 "서버가 판정한다"고 적힌 설계가 의외로 많습니다. 오늘 배운 것처럼, 메시지가 서버를 지나간다고 서버가 판정하는 것은 아닙니다.</a:t>
            </a:r>
          </a:p>
          <a:p/>
          <a:p>
            <a:r>
              <a:t>전환: 마지막으로 오늘 내용을 설계 순서로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설계 순서 6단계 · 3분 · 누적 1:16]</a:t>
            </a:r>
          </a:p>
          <a:p/>
          <a:p>
            <a:r>
              <a:t>[핸드아웃 §6]과 같은 내용입니다. 여러분 프로젝트에 바로 적용할 순서입니다.</a:t>
            </a:r>
          </a:p>
          <a:p/>
          <a:p>
            <a:r>
              <a:t>1. 경기 인원, 장르, 지연에 민감한 행동을 정합니다. 몇 명이 하는지, 어떤 행동이 0.1초에 민감한지부터 정합니다.</a:t>
            </a:r>
          </a:p>
          <a:p>
            <a:r>
              <a:t>2. 데이터를 지속 데이터, 매칭 데이터, 실시간 데이터로 나눕니다.</a:t>
            </a:r>
          </a:p>
          <a:p>
            <a:r>
              <a:t>3. 각 데이터의 확정 주체와 저장 위치를 정합니다. 오늘 계속 물었던 "누가 확정하는가"입니다.</a:t>
            </a:r>
          </a:p>
          <a:p>
            <a:r>
              <a:t>4. API 요청과 실시간 메시지를 따로 나열합니다.</a:t>
            </a:r>
          </a:p>
          <a:p>
            <a:r>
              <a:t>5. 취소, 이탈, 재접속, 중복 요청, 저장 실패를 상태도로 검토합니다.</a:t>
            </a:r>
          </a:p>
          <a:p>
            <a:r>
              <a:t>6. 최소 인원으로 실제 접속, 지연, 이탈 테스트를 합니다. 두 대의 기기로도 충분합니다.</a:t>
            </a:r>
          </a:p>
          <a:p/>
          <a:p>
            <a:r>
              <a:t>이 순서대로 가면 서버 기술을 고르는 건 거의 마지막 단계입니다. 도구보다 구조가 먼저입니다.</a:t>
            </a:r>
          </a:p>
          <a:p/>
          <a:p>
            <a:r>
              <a:t>전환: 이제 질문을 받겠습니다.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 10~14분 · 누적 약 1:30]</a:t>
            </a:r>
          </a:p>
          <a:p/>
          <a:p>
            <a:r>
              <a:t>질문하실 때 세 가지를 같이 알려 주시면 더 구체적으로 답할 수 있습니다. 첫째, 지금 만드는 게임과 경기 인원. 둘째, 저장, 매칭, 실시간, 판정 중 막힌 지점. 셋째, 사용 중인 엔진이나 서비스와 제약.</a:t>
            </a:r>
          </a:p>
          <a:p/>
          <a:p>
            <a:r>
              <a:t>답할 때는 오늘 순서대로 같이 보겠습니다. 서버 책임이 누구에게 있는지, 어떤 통신 방식이 맞는지, 데이터 권한은 누가 갖는지 순서로 검토하겠습니다.</a:t>
            </a:r>
          </a:p>
          <a:p/>
          <a:p>
            <a:r>
              <a:t>(질문이 없으면 던질 질문)</a:t>
            </a:r>
          </a:p>
          <a:p>
            <a:r>
              <a:t>- "여러분 게임에서 조작당하면 가장 곤란한 값은 무엇인가요? 그 값은 지금 누가 확정하고 있나요?"</a:t>
            </a:r>
          </a:p>
          <a:p>
            <a:r>
              <a:t>- "지금 프로젝트에서 상대가 경기 중간에 나가면 어떻게 되나요?"</a:t>
            </a:r>
          </a:p>
          <a:p/>
          <a:p>
            <a:r>
              <a:t>(마무리 멘트) 오늘 핵심은 한 문장입니다. "누가 결과를 확정하는가"를 먼저 정하면, 서버 구조와 통신 방식은 따라옵니다.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822960" y="1417320"/>
            <a:ext cx="109728" cy="2103120"/>
          </a:xfrm>
          <a:prstGeom prst="rect">
            <a:avLst/>
          </a:prstGeom>
          <a:solidFill>
            <a:srgbClr val="2563EB"/>
          </a:solidFill>
          <a:ln>
            <a:noFill/>
          </a:ln>
        </p:spPr>
        <p:txBody>
          <a:bodyPr rtlCol="0" anchor="ctr" wrap="square" tIns="36576" bIns="36576"/>
          <a:lstStyle/>
          <a:p>
            <a:pPr algn="ctr"/>
          </a:p>
        </p:txBody>
      </p:sp>
      <p:sp>
        <p:nvSpPr>
          <p:cNvPr id="3" name="TextBox 2"/>
          <p:cNvSpPr txBox="1"/>
          <p:nvPr/>
        </p:nvSpPr>
        <p:spPr>
          <a:xfrm>
            <a:off x="1143000" y="1325880"/>
            <a:ext cx="9144000" cy="457200"/>
          </a:xfrm>
          <a:prstGeom prst="rect">
            <a:avLst/>
          </a:prstGeom>
          <a:noFill/>
        </p:spPr>
        <p:txBody>
          <a:bodyPr wrap="square" lIns="36576" rIns="36576" tIns="18288" bIns="18288" anchor="t">
            <a:spAutoFit/>
          </a:bodyPr>
          <a:lstStyle/>
          <a:p>
            <a:pPr algn="l">
              <a:spcAft>
                <a:spcPts val="0"/>
              </a:spcAft>
            </a:pPr>
            <a:r>
              <a:rPr sz="1800" b="1">
                <a:solidFill>
                  <a:srgbClr val="93C5FD"/>
                </a:solidFill>
                <a:latin typeface="맑은 고딕"/>
                <a:ea typeface="맑은 고딕"/>
                <a:cs typeface="맑은 고딕"/>
              </a:rPr>
              <a:t>LEVEL 9</a:t>
            </a:r>
          </a:p>
        </p:txBody>
      </p:sp>
      <p:sp>
        <p:nvSpPr>
          <p:cNvPr id="4" name="TextBox 3"/>
          <p:cNvSpPr txBox="1"/>
          <p:nvPr/>
        </p:nvSpPr>
        <p:spPr>
          <a:xfrm>
            <a:off x="1143000" y="1783080"/>
            <a:ext cx="10058400" cy="1188720"/>
          </a:xfrm>
          <a:prstGeom prst="rect">
            <a:avLst/>
          </a:prstGeom>
          <a:noFill/>
        </p:spPr>
        <p:txBody>
          <a:bodyPr wrap="square" lIns="36576" rIns="36576" tIns="18288" bIns="18288" anchor="t">
            <a:spAutoFit/>
          </a:bodyPr>
          <a:lstStyle/>
          <a:p>
            <a:pPr algn="l">
              <a:spcAft>
                <a:spcPts val="0"/>
              </a:spcAft>
            </a:pPr>
            <a:r>
              <a:rPr sz="4400" b="1">
                <a:solidFill>
                  <a:srgbClr val="FFFFFF"/>
                </a:solidFill>
                <a:latin typeface="맑은 고딕"/>
                <a:ea typeface="맑은 고딕"/>
                <a:cs typeface="맑은 고딕"/>
              </a:rPr>
              <a:t>클라이언트 서버 통신과 멀티플레이</a:t>
            </a:r>
          </a:p>
        </p:txBody>
      </p:sp>
      <p:sp>
        <p:nvSpPr>
          <p:cNvPr id="5" name="TextBox 4"/>
          <p:cNvSpPr txBox="1"/>
          <p:nvPr/>
        </p:nvSpPr>
        <p:spPr>
          <a:xfrm>
            <a:off x="1143000" y="2880360"/>
            <a:ext cx="10058400" cy="640080"/>
          </a:xfrm>
          <a:prstGeom prst="rect">
            <a:avLst/>
          </a:prstGeom>
          <a:noFill/>
        </p:spPr>
        <p:txBody>
          <a:bodyPr wrap="square" lIns="36576" rIns="36576" tIns="18288" bIns="18288" anchor="t">
            <a:spAutoFit/>
          </a:bodyPr>
          <a:lstStyle/>
          <a:p>
            <a:pPr algn="l">
              <a:spcAft>
                <a:spcPts val="0"/>
              </a:spcAft>
            </a:pPr>
            <a:r>
              <a:rPr sz="2000" b="0">
                <a:solidFill>
                  <a:srgbClr val="CBD5E1"/>
                </a:solidFill>
                <a:latin typeface="맑은 고딕"/>
                <a:ea typeface="맑은 고딕"/>
                <a:cs typeface="맑은 고딕"/>
              </a:rPr>
              <a:t>소규모(2~5인) 협동·경쟁 게임으로 보는 서버와 데이터의 흐름</a:t>
            </a:r>
          </a:p>
        </p:txBody>
      </p:sp>
      <p:sp>
        <p:nvSpPr>
          <p:cNvPr id="6" name="TextBox 5"/>
          <p:cNvSpPr txBox="1"/>
          <p:nvPr/>
        </p:nvSpPr>
        <p:spPr>
          <a:xfrm>
            <a:off x="1143000" y="5120640"/>
            <a:ext cx="10058400" cy="365760"/>
          </a:xfrm>
          <a:prstGeom prst="rect">
            <a:avLst/>
          </a:prstGeom>
          <a:noFill/>
        </p:spPr>
        <p:txBody>
          <a:bodyPr wrap="square" lIns="36576" rIns="36576" tIns="18288" bIns="18288" anchor="t">
            <a:spAutoFit/>
          </a:bodyPr>
          <a:lstStyle/>
          <a:p>
            <a:pPr algn="l">
              <a:spcAft>
                <a:spcPts val="0"/>
              </a:spcAft>
            </a:pPr>
            <a:r>
              <a:rPr sz="1400" b="0">
                <a:solidFill>
                  <a:srgbClr val="94A3B8"/>
                </a:solidFill>
                <a:latin typeface="맑은 고딕"/>
                <a:ea typeface="맑은 고딕"/>
                <a:cs typeface="맑은 고딕"/>
              </a:rPr>
              <a:t>함께 보는 자료 · 서버 타입과 통신 방식 핸드아웃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오늘의 진행</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SDK 사용법보다 구조를 본다</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2 / 22</a:t>
            </a:r>
          </a:p>
        </p:txBody>
      </p:sp>
      <p:sp>
        <p:nvSpPr>
          <p:cNvPr id="6" name="TextBox 5"/>
          <p:cNvSpPr txBox="1"/>
          <p:nvPr/>
        </p:nvSpPr>
        <p:spPr>
          <a:xfrm>
            <a:off x="548640" y="1508760"/>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01</a:t>
            </a:r>
          </a:p>
        </p:txBody>
      </p:sp>
      <p:sp>
        <p:nvSpPr>
          <p:cNvPr id="7" name="TextBox 6"/>
          <p:cNvSpPr txBox="1"/>
          <p:nvPr/>
        </p:nvSpPr>
        <p:spPr>
          <a:xfrm>
            <a:off x="1417320" y="1508760"/>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게임 흐름과 책임</a:t>
            </a:r>
          </a:p>
        </p:txBody>
      </p:sp>
      <p:sp>
        <p:nvSpPr>
          <p:cNvPr id="8" name="TextBox 7"/>
          <p:cNvSpPr txBox="1"/>
          <p:nvPr/>
        </p:nvSpPr>
        <p:spPr>
          <a:xfrm>
            <a:off x="5212080" y="1508760"/>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게임 한 판의 흐름 · 누가 무엇을 책임지는가</a:t>
            </a:r>
          </a:p>
        </p:txBody>
      </p:sp>
      <p:sp>
        <p:nvSpPr>
          <p:cNvPr id="9" name="TextBox 8"/>
          <p:cNvSpPr txBox="1"/>
          <p:nvPr/>
        </p:nvSpPr>
        <p:spPr>
          <a:xfrm>
            <a:off x="10424160" y="1508760"/>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6분</a:t>
            </a:r>
          </a:p>
        </p:txBody>
      </p:sp>
      <p:cxnSp>
        <p:nvCxnSpPr>
          <p:cNvPr id="10" name="Connector 9"/>
          <p:cNvCxnSpPr/>
          <p:nvPr/>
        </p:nvCxnSpPr>
        <p:spPr>
          <a:xfrm>
            <a:off x="548640" y="2148839"/>
            <a:ext cx="11091672" cy="0"/>
          </a:xfrm>
          <a:prstGeom prst="line">
            <a:avLst/>
          </a:prstGeom>
          <a:ln w="9525">
            <a:solidFill>
              <a:srgbClr val="E5E7EB"/>
            </a:solidFill>
            <a:round/>
          </a:ln>
        </p:spPr>
      </p:cxnSp>
      <p:sp>
        <p:nvSpPr>
          <p:cNvPr id="11" name="TextBox 10"/>
          <p:cNvSpPr txBox="1"/>
          <p:nvPr/>
        </p:nvSpPr>
        <p:spPr>
          <a:xfrm>
            <a:off x="548640" y="2221991"/>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02</a:t>
            </a:r>
          </a:p>
        </p:txBody>
      </p:sp>
      <p:sp>
        <p:nvSpPr>
          <p:cNvPr id="12" name="TextBox 11"/>
          <p:cNvSpPr txBox="1"/>
          <p:nvPr/>
        </p:nvSpPr>
        <p:spPr>
          <a:xfrm>
            <a:off x="1417320" y="2221991"/>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서버 구성 요소</a:t>
            </a:r>
          </a:p>
        </p:txBody>
      </p:sp>
      <p:sp>
        <p:nvSpPr>
          <p:cNvPr id="13" name="TextBox 12"/>
          <p:cNvSpPr txBox="1"/>
          <p:nvPr/>
        </p:nvSpPr>
        <p:spPr>
          <a:xfrm>
            <a:off x="5212080" y="2221991"/>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API · 매칭 · 게임 룸 · 판정 주체 · 저장소</a:t>
            </a:r>
          </a:p>
        </p:txBody>
      </p:sp>
      <p:sp>
        <p:nvSpPr>
          <p:cNvPr id="14" name="TextBox 13"/>
          <p:cNvSpPr txBox="1"/>
          <p:nvPr/>
        </p:nvSpPr>
        <p:spPr>
          <a:xfrm>
            <a:off x="10424160" y="2221991"/>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24분</a:t>
            </a:r>
          </a:p>
        </p:txBody>
      </p:sp>
      <p:cxnSp>
        <p:nvCxnSpPr>
          <p:cNvPr id="15" name="Connector 14"/>
          <p:cNvCxnSpPr/>
          <p:nvPr/>
        </p:nvCxnSpPr>
        <p:spPr>
          <a:xfrm>
            <a:off x="548640" y="2862072"/>
            <a:ext cx="11091672" cy="0"/>
          </a:xfrm>
          <a:prstGeom prst="line">
            <a:avLst/>
          </a:prstGeom>
          <a:ln w="9525">
            <a:solidFill>
              <a:srgbClr val="E5E7EB"/>
            </a:solidFill>
            <a:round/>
          </a:ln>
        </p:spPr>
      </p:cxnSp>
      <p:sp>
        <p:nvSpPr>
          <p:cNvPr id="16" name="TextBox 15"/>
          <p:cNvSpPr txBox="1"/>
          <p:nvPr/>
        </p:nvSpPr>
        <p:spPr>
          <a:xfrm>
            <a:off x="548640" y="2935224"/>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03</a:t>
            </a:r>
          </a:p>
        </p:txBody>
      </p:sp>
      <p:sp>
        <p:nvSpPr>
          <p:cNvPr id="17" name="TextBox 16"/>
          <p:cNvSpPr txBox="1"/>
          <p:nvPr/>
        </p:nvSpPr>
        <p:spPr>
          <a:xfrm>
            <a:off x="1417320" y="2935224"/>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통신 방식</a:t>
            </a:r>
          </a:p>
        </p:txBody>
      </p:sp>
      <p:sp>
        <p:nvSpPr>
          <p:cNvPr id="18" name="TextBox 17"/>
          <p:cNvSpPr txBox="1"/>
          <p:nvPr/>
        </p:nvSpPr>
        <p:spPr>
          <a:xfrm>
            <a:off x="5212080" y="2935224"/>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TCP · UDP · HTTP REST · WebSocket</a:t>
            </a:r>
          </a:p>
        </p:txBody>
      </p:sp>
      <p:sp>
        <p:nvSpPr>
          <p:cNvPr id="19" name="TextBox 18"/>
          <p:cNvSpPr txBox="1"/>
          <p:nvPr/>
        </p:nvSpPr>
        <p:spPr>
          <a:xfrm>
            <a:off x="10424160" y="2935224"/>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12분</a:t>
            </a:r>
          </a:p>
        </p:txBody>
      </p:sp>
      <p:cxnSp>
        <p:nvCxnSpPr>
          <p:cNvPr id="20" name="Connector 19"/>
          <p:cNvCxnSpPr/>
          <p:nvPr/>
        </p:nvCxnSpPr>
        <p:spPr>
          <a:xfrm>
            <a:off x="548640" y="3575304"/>
            <a:ext cx="11091672" cy="0"/>
          </a:xfrm>
          <a:prstGeom prst="line">
            <a:avLst/>
          </a:prstGeom>
          <a:ln w="9525">
            <a:solidFill>
              <a:srgbClr val="E5E7EB"/>
            </a:solidFill>
            <a:round/>
          </a:ln>
        </p:spPr>
      </p:cxnSp>
      <p:sp>
        <p:nvSpPr>
          <p:cNvPr id="21" name="TextBox 20"/>
          <p:cNvSpPr txBox="1"/>
          <p:nvPr/>
        </p:nvSpPr>
        <p:spPr>
          <a:xfrm>
            <a:off x="548640" y="3648456"/>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04</a:t>
            </a:r>
          </a:p>
        </p:txBody>
      </p:sp>
      <p:sp>
        <p:nvSpPr>
          <p:cNvPr id="22" name="TextBox 21"/>
          <p:cNvSpPr txBox="1"/>
          <p:nvPr/>
        </p:nvSpPr>
        <p:spPr>
          <a:xfrm>
            <a:off x="1417320" y="3648456"/>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데이터 · 매칭 · 실시간</a:t>
            </a:r>
          </a:p>
        </p:txBody>
      </p:sp>
      <p:sp>
        <p:nvSpPr>
          <p:cNvPr id="23" name="TextBox 22"/>
          <p:cNvSpPr txBox="1"/>
          <p:nvPr/>
        </p:nvSpPr>
        <p:spPr>
          <a:xfrm>
            <a:off x="5212080" y="3648456"/>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Firebase 저장 · 매칭 상태도 · 예외 · 최적화</a:t>
            </a:r>
          </a:p>
        </p:txBody>
      </p:sp>
      <p:sp>
        <p:nvSpPr>
          <p:cNvPr id="24" name="TextBox 23"/>
          <p:cNvSpPr txBox="1"/>
          <p:nvPr/>
        </p:nvSpPr>
        <p:spPr>
          <a:xfrm>
            <a:off x="10424160" y="3648456"/>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16분</a:t>
            </a:r>
          </a:p>
        </p:txBody>
      </p:sp>
      <p:cxnSp>
        <p:nvCxnSpPr>
          <p:cNvPr id="25" name="Connector 24"/>
          <p:cNvCxnSpPr/>
          <p:nvPr/>
        </p:nvCxnSpPr>
        <p:spPr>
          <a:xfrm>
            <a:off x="548640" y="4288536"/>
            <a:ext cx="11091672" cy="0"/>
          </a:xfrm>
          <a:prstGeom prst="line">
            <a:avLst/>
          </a:prstGeom>
          <a:ln w="9525">
            <a:solidFill>
              <a:srgbClr val="E5E7EB"/>
            </a:solidFill>
            <a:round/>
          </a:ln>
        </p:spPr>
      </p:cxnSp>
      <p:sp>
        <p:nvSpPr>
          <p:cNvPr id="26" name="TextBox 25"/>
          <p:cNvSpPr txBox="1"/>
          <p:nvPr/>
        </p:nvSpPr>
        <p:spPr>
          <a:xfrm>
            <a:off x="548640" y="4361688"/>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05</a:t>
            </a:r>
          </a:p>
        </p:txBody>
      </p:sp>
      <p:sp>
        <p:nvSpPr>
          <p:cNvPr id="27" name="TextBox 26"/>
          <p:cNvSpPr txBox="1"/>
          <p:nvPr/>
        </p:nvSpPr>
        <p:spPr>
          <a:xfrm>
            <a:off x="1417320" y="4361688"/>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데모와 AI 활용</a:t>
            </a:r>
          </a:p>
        </p:txBody>
      </p:sp>
      <p:sp>
        <p:nvSpPr>
          <p:cNvPr id="28" name="TextBox 27"/>
          <p:cNvSpPr txBox="1"/>
          <p:nvPr/>
        </p:nvSpPr>
        <p:spPr>
          <a:xfrm>
            <a:off x="5212080" y="4361688"/>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Firebase 매칭 데모 · AI 초안 검토와 검증</a:t>
            </a:r>
          </a:p>
        </p:txBody>
      </p:sp>
      <p:sp>
        <p:nvSpPr>
          <p:cNvPr id="29" name="TextBox 28"/>
          <p:cNvSpPr txBox="1"/>
          <p:nvPr/>
        </p:nvSpPr>
        <p:spPr>
          <a:xfrm>
            <a:off x="10424160" y="4361688"/>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12분</a:t>
            </a:r>
          </a:p>
        </p:txBody>
      </p:sp>
      <p:cxnSp>
        <p:nvCxnSpPr>
          <p:cNvPr id="30" name="Connector 29"/>
          <p:cNvCxnSpPr/>
          <p:nvPr/>
        </p:nvCxnSpPr>
        <p:spPr>
          <a:xfrm>
            <a:off x="548640" y="5001768"/>
            <a:ext cx="11091672" cy="0"/>
          </a:xfrm>
          <a:prstGeom prst="line">
            <a:avLst/>
          </a:prstGeom>
          <a:ln w="9525">
            <a:solidFill>
              <a:srgbClr val="E5E7EB"/>
            </a:solidFill>
            <a:round/>
          </a:ln>
        </p:spPr>
      </p:cxnSp>
      <p:sp>
        <p:nvSpPr>
          <p:cNvPr id="31" name="TextBox 30"/>
          <p:cNvSpPr txBox="1"/>
          <p:nvPr/>
        </p:nvSpPr>
        <p:spPr>
          <a:xfrm>
            <a:off x="548640" y="5074920"/>
            <a:ext cx="822960" cy="548640"/>
          </a:xfrm>
          <a:prstGeom prst="rect">
            <a:avLst/>
          </a:prstGeom>
          <a:noFill/>
        </p:spPr>
        <p:txBody>
          <a:bodyPr wrap="square" lIns="36576" rIns="36576" tIns="18288" bIns="18288" anchor="ctr">
            <a:spAutoFit/>
          </a:bodyPr>
          <a:lstStyle/>
          <a:p>
            <a:pPr algn="l">
              <a:spcAft>
                <a:spcPts val="0"/>
              </a:spcAft>
            </a:pPr>
            <a:r>
              <a:rPr sz="2400" b="1">
                <a:solidFill>
                  <a:srgbClr val="2563EB"/>
                </a:solidFill>
                <a:latin typeface="맑은 고딕"/>
                <a:ea typeface="맑은 고딕"/>
                <a:cs typeface="맑은 고딕"/>
              </a:rPr>
              <a:t>—</a:t>
            </a:r>
          </a:p>
        </p:txBody>
      </p:sp>
      <p:sp>
        <p:nvSpPr>
          <p:cNvPr id="32" name="TextBox 31"/>
          <p:cNvSpPr txBox="1"/>
          <p:nvPr/>
        </p:nvSpPr>
        <p:spPr>
          <a:xfrm>
            <a:off x="1417320" y="5074920"/>
            <a:ext cx="3749039" cy="548640"/>
          </a:xfrm>
          <a:prstGeom prst="rect">
            <a:avLst/>
          </a:prstGeom>
          <a:noFill/>
        </p:spPr>
        <p:txBody>
          <a:bodyPr wrap="square" lIns="36576" rIns="36576" tIns="18288" bIns="18288" anchor="ctr">
            <a:spAutoFit/>
          </a:bodyPr>
          <a:lstStyle/>
          <a:p>
            <a:pPr algn="l">
              <a:spcAft>
                <a:spcPts val="0"/>
              </a:spcAft>
            </a:pPr>
            <a:r>
              <a:rPr sz="2000" b="1">
                <a:solidFill>
                  <a:srgbClr val="1F2937"/>
                </a:solidFill>
                <a:latin typeface="맑은 고딕"/>
                <a:ea typeface="맑은 고딕"/>
                <a:cs typeface="맑은 고딕"/>
              </a:rPr>
              <a:t>정리와 질의응답</a:t>
            </a:r>
          </a:p>
        </p:txBody>
      </p:sp>
      <p:sp>
        <p:nvSpPr>
          <p:cNvPr id="33" name="TextBox 32"/>
          <p:cNvSpPr txBox="1"/>
          <p:nvPr/>
        </p:nvSpPr>
        <p:spPr>
          <a:xfrm>
            <a:off x="5212080" y="5074920"/>
            <a:ext cx="5120640" cy="548640"/>
          </a:xfrm>
          <a:prstGeom prst="rect">
            <a:avLst/>
          </a:prstGeom>
          <a:noFill/>
        </p:spPr>
        <p:txBody>
          <a:bodyPr wrap="square" lIns="36576" rIns="36576" tIns="18288" bIns="18288" anchor="ctr">
            <a:spAutoFit/>
          </a:bodyPr>
          <a:lstStyle/>
          <a:p>
            <a:pPr algn="l">
              <a:spcAft>
                <a:spcPts val="0"/>
              </a:spcAft>
            </a:pPr>
            <a:r>
              <a:rPr sz="1400" b="0">
                <a:solidFill>
                  <a:srgbClr val="6B7280"/>
                </a:solidFill>
                <a:latin typeface="맑은 고딕"/>
                <a:ea typeface="맑은 고딕"/>
                <a:cs typeface="맑은 고딕"/>
              </a:rPr>
              <a:t>설계 순서 6단계 · 여러분의 프로젝트</a:t>
            </a:r>
          </a:p>
        </p:txBody>
      </p:sp>
      <p:sp>
        <p:nvSpPr>
          <p:cNvPr id="34" name="TextBox 33"/>
          <p:cNvSpPr txBox="1"/>
          <p:nvPr/>
        </p:nvSpPr>
        <p:spPr>
          <a:xfrm>
            <a:off x="10424160" y="5074920"/>
            <a:ext cx="1216152" cy="548640"/>
          </a:xfrm>
          <a:prstGeom prst="rect">
            <a:avLst/>
          </a:prstGeom>
          <a:noFill/>
        </p:spPr>
        <p:txBody>
          <a:bodyPr wrap="square" lIns="36576" rIns="36576" tIns="18288" bIns="18288" anchor="ctr">
            <a:spAutoFit/>
          </a:bodyPr>
          <a:lstStyle/>
          <a:p>
            <a:pPr algn="r">
              <a:spcAft>
                <a:spcPts val="0"/>
              </a:spcAft>
            </a:pPr>
            <a:r>
              <a:rPr sz="1400" b="0">
                <a:solidFill>
                  <a:srgbClr val="6B7280"/>
                </a:solidFill>
                <a:latin typeface="맑은 고딕"/>
                <a:ea typeface="맑은 고딕"/>
                <a:cs typeface="맑은 고딕"/>
              </a:rPr>
              <a:t>15분</a:t>
            </a:r>
          </a:p>
        </p:txBody>
      </p:sp>
      <p:sp>
        <p:nvSpPr>
          <p:cNvPr id="35" name="TextBox 34"/>
          <p:cNvSpPr txBox="1"/>
          <p:nvPr/>
        </p:nvSpPr>
        <p:spPr>
          <a:xfrm>
            <a:off x="548640" y="5897880"/>
            <a:ext cx="11064240" cy="365760"/>
          </a:xfrm>
          <a:prstGeom prst="rect">
            <a:avLst/>
          </a:prstGeom>
          <a:noFill/>
        </p:spPr>
        <p:txBody>
          <a:bodyPr wrap="square" lIns="36576" rIns="36576" tIns="18288" bIns="18288" anchor="t">
            <a:spAutoFit/>
          </a:bodyPr>
          <a:lstStyle/>
          <a:p>
            <a:pPr algn="l">
              <a:spcAft>
                <a:spcPts val="0"/>
              </a:spcAft>
            </a:pPr>
            <a:r>
              <a:rPr sz="1500" b="1">
                <a:solidFill>
                  <a:srgbClr val="1F2937"/>
                </a:solidFill>
                <a:latin typeface="맑은 고딕"/>
                <a:ea typeface="맑은 고딕"/>
                <a:cs typeface="맑은 고딕"/>
              </a:rPr>
              <a:t>세 가지 질문을 계속 묻는다  </a:t>
            </a:r>
            <a:r>
              <a:rPr sz="1500" b="1">
                <a:solidFill>
                  <a:srgbClr val="2563EB"/>
                </a:solidFill>
                <a:latin typeface="맑은 고딕"/>
                <a:ea typeface="맑은 고딕"/>
                <a:cs typeface="맑은 고딕"/>
              </a:rPr>
              <a:t>누가 결정하는가 · 무엇을 어디에 저장하는가 · 어떻게 전달하는가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1 · 게임 흐름과 책임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오늘의 게임 흐름</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3 / 22</a:t>
            </a:r>
          </a:p>
        </p:txBody>
      </p:sp>
      <p:sp>
        <p:nvSpPr>
          <p:cNvPr id="6" name="Rounded Rectangle 5"/>
          <p:cNvSpPr/>
          <p:nvPr/>
        </p:nvSpPr>
        <p:spPr>
          <a:xfrm>
            <a:off x="548640" y="1600200"/>
            <a:ext cx="1600200" cy="868680"/>
          </a:xfrm>
          <a:prstGeom prst="roundRect">
            <a:avLst>
              <a:gd name="adj" fmla="val 12000"/>
            </a:avLst>
          </a:prstGeom>
          <a:solidFill>
            <a:srgbClr val="CCFBF1"/>
          </a:solidFill>
          <a:ln w="15875">
            <a:solidFill>
              <a:srgbClr val="0F766E"/>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로그인</a:t>
            </a:r>
          </a:p>
        </p:txBody>
      </p:sp>
      <p:sp>
        <p:nvSpPr>
          <p:cNvPr id="7" name="TextBox 6"/>
          <p:cNvSpPr txBox="1"/>
          <p:nvPr/>
        </p:nvSpPr>
        <p:spPr>
          <a:xfrm>
            <a:off x="548640"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0F766E"/>
                </a:solidFill>
                <a:latin typeface="맑은 고딕"/>
                <a:ea typeface="맑은 고딕"/>
                <a:cs typeface="맑은 고딕"/>
              </a:rPr>
              <a:t>API 서버</a:t>
            </a:r>
          </a:p>
        </p:txBody>
      </p:sp>
      <p:cxnSp>
        <p:nvCxnSpPr>
          <p:cNvPr id="8" name="Connector 7"/>
          <p:cNvCxnSpPr/>
          <p:nvPr/>
        </p:nvCxnSpPr>
        <p:spPr>
          <a:xfrm>
            <a:off x="2185416" y="2034540"/>
            <a:ext cx="210312" cy="0"/>
          </a:xfrm>
          <a:prstGeom prst="line">
            <a:avLst/>
          </a:prstGeom>
          <a:ln w="19050">
            <a:solidFill>
              <a:srgbClr val="6B7280"/>
            </a:solidFill>
            <a:round/>
            <a:tailEnd type="triangle" w="med" len="med"/>
          </a:ln>
        </p:spPr>
      </p:cxnSp>
      <p:sp>
        <p:nvSpPr>
          <p:cNvPr id="9" name="Rounded Rectangle 8"/>
          <p:cNvSpPr/>
          <p:nvPr/>
        </p:nvSpPr>
        <p:spPr>
          <a:xfrm>
            <a:off x="2432304" y="1600200"/>
            <a:ext cx="1600200" cy="868680"/>
          </a:xfrm>
          <a:prstGeom prst="roundRect">
            <a:avLst>
              <a:gd name="adj" fmla="val 12000"/>
            </a:avLst>
          </a:prstGeom>
          <a:solidFill>
            <a:srgbClr val="CCFBF1"/>
          </a:solidFill>
          <a:ln w="15875">
            <a:solidFill>
              <a:srgbClr val="0F766E"/>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프로필 로드</a:t>
            </a:r>
          </a:p>
        </p:txBody>
      </p:sp>
      <p:sp>
        <p:nvSpPr>
          <p:cNvPr id="10" name="TextBox 9"/>
          <p:cNvSpPr txBox="1"/>
          <p:nvPr/>
        </p:nvSpPr>
        <p:spPr>
          <a:xfrm>
            <a:off x="2432304"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0F766E"/>
                </a:solidFill>
                <a:latin typeface="맑은 고딕"/>
                <a:ea typeface="맑은 고딕"/>
                <a:cs typeface="맑은 고딕"/>
              </a:rPr>
              <a:t>API · DB</a:t>
            </a:r>
          </a:p>
        </p:txBody>
      </p:sp>
      <p:cxnSp>
        <p:nvCxnSpPr>
          <p:cNvPr id="11" name="Connector 10"/>
          <p:cNvCxnSpPr/>
          <p:nvPr/>
        </p:nvCxnSpPr>
        <p:spPr>
          <a:xfrm>
            <a:off x="4069080" y="2034540"/>
            <a:ext cx="210312" cy="0"/>
          </a:xfrm>
          <a:prstGeom prst="line">
            <a:avLst/>
          </a:prstGeom>
          <a:ln w="19050">
            <a:solidFill>
              <a:srgbClr val="6B7280"/>
            </a:solidFill>
            <a:round/>
            <a:tailEnd type="triangle" w="med" len="med"/>
          </a:ln>
        </p:spPr>
      </p:cxnSp>
      <p:sp>
        <p:nvSpPr>
          <p:cNvPr id="12" name="Rounded Rectangle 11"/>
          <p:cNvSpPr/>
          <p:nvPr/>
        </p:nvSpPr>
        <p:spPr>
          <a:xfrm>
            <a:off x="4315968" y="1600200"/>
            <a:ext cx="1600200" cy="868680"/>
          </a:xfrm>
          <a:prstGeom prst="roundRect">
            <a:avLst>
              <a:gd name="adj" fmla="val 12000"/>
            </a:avLst>
          </a:prstGeom>
          <a:solidFill>
            <a:srgbClr val="CCFBF1"/>
          </a:solidFill>
          <a:ln w="15875">
            <a:solidFill>
              <a:srgbClr val="0F766E"/>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로비</a:t>
            </a:r>
          </a:p>
        </p:txBody>
      </p:sp>
      <p:sp>
        <p:nvSpPr>
          <p:cNvPr id="13" name="TextBox 12"/>
          <p:cNvSpPr txBox="1"/>
          <p:nvPr/>
        </p:nvSpPr>
        <p:spPr>
          <a:xfrm>
            <a:off x="4315968"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0F766E"/>
                </a:solidFill>
                <a:latin typeface="맑은 고딕"/>
                <a:ea typeface="맑은 고딕"/>
                <a:cs typeface="맑은 고딕"/>
              </a:rPr>
              <a:t>API · 알림</a:t>
            </a:r>
          </a:p>
        </p:txBody>
      </p:sp>
      <p:cxnSp>
        <p:nvCxnSpPr>
          <p:cNvPr id="14" name="Connector 13"/>
          <p:cNvCxnSpPr/>
          <p:nvPr/>
        </p:nvCxnSpPr>
        <p:spPr>
          <a:xfrm>
            <a:off x="5952744" y="2034540"/>
            <a:ext cx="210311" cy="0"/>
          </a:xfrm>
          <a:prstGeom prst="line">
            <a:avLst/>
          </a:prstGeom>
          <a:ln w="19050">
            <a:solidFill>
              <a:srgbClr val="6B7280"/>
            </a:solidFill>
            <a:round/>
            <a:tailEnd type="triangle" w="med" len="med"/>
          </a:ln>
        </p:spPr>
      </p:cxnSp>
      <p:sp>
        <p:nvSpPr>
          <p:cNvPr id="15" name="Rounded Rectangle 14"/>
          <p:cNvSpPr/>
          <p:nvPr/>
        </p:nvSpPr>
        <p:spPr>
          <a:xfrm>
            <a:off x="6199631" y="1600200"/>
            <a:ext cx="1600200" cy="868680"/>
          </a:xfrm>
          <a:prstGeom prst="roundRect">
            <a:avLst>
              <a:gd name="adj" fmla="val 12000"/>
            </a:avLst>
          </a:prstGeom>
          <a:solidFill>
            <a:srgbClr val="EDE9FE"/>
          </a:solidFill>
          <a:ln w="15875">
            <a:solidFill>
              <a:srgbClr val="6D28D9"/>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매칭</a:t>
            </a:r>
          </a:p>
        </p:txBody>
      </p:sp>
      <p:sp>
        <p:nvSpPr>
          <p:cNvPr id="16" name="TextBox 15"/>
          <p:cNvSpPr txBox="1"/>
          <p:nvPr/>
        </p:nvSpPr>
        <p:spPr>
          <a:xfrm>
            <a:off x="6199631"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6D28D9"/>
                </a:solidFill>
                <a:latin typeface="맑은 고딕"/>
                <a:ea typeface="맑은 고딕"/>
                <a:cs typeface="맑은 고딕"/>
              </a:rPr>
              <a:t>매칭 서버</a:t>
            </a:r>
          </a:p>
        </p:txBody>
      </p:sp>
      <p:cxnSp>
        <p:nvCxnSpPr>
          <p:cNvPr id="17" name="Connector 16"/>
          <p:cNvCxnSpPr/>
          <p:nvPr/>
        </p:nvCxnSpPr>
        <p:spPr>
          <a:xfrm>
            <a:off x="7836407" y="2034540"/>
            <a:ext cx="210313" cy="0"/>
          </a:xfrm>
          <a:prstGeom prst="line">
            <a:avLst/>
          </a:prstGeom>
          <a:ln w="19050">
            <a:solidFill>
              <a:srgbClr val="6B7280"/>
            </a:solidFill>
            <a:round/>
            <a:tailEnd type="triangle" w="med" len="med"/>
          </a:ln>
        </p:spPr>
      </p:cxnSp>
      <p:sp>
        <p:nvSpPr>
          <p:cNvPr id="18" name="Rounded Rectangle 17"/>
          <p:cNvSpPr/>
          <p:nvPr/>
        </p:nvSpPr>
        <p:spPr>
          <a:xfrm>
            <a:off x="8083296" y="1600200"/>
            <a:ext cx="1600200" cy="868680"/>
          </a:xfrm>
          <a:prstGeom prst="roundRect">
            <a:avLst>
              <a:gd name="adj" fmla="val 12000"/>
            </a:avLst>
          </a:prstGeom>
          <a:solidFill>
            <a:srgbClr val="FFEDD5"/>
          </a:solidFill>
          <a:ln w="15875">
            <a:solidFill>
              <a:srgbClr val="C2410C"/>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게임 룸</a:t>
            </a:r>
          </a:p>
        </p:txBody>
      </p:sp>
      <p:sp>
        <p:nvSpPr>
          <p:cNvPr id="19" name="TextBox 18"/>
          <p:cNvSpPr txBox="1"/>
          <p:nvPr/>
        </p:nvSpPr>
        <p:spPr>
          <a:xfrm>
            <a:off x="8083296"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C2410C"/>
                </a:solidFill>
                <a:latin typeface="맑은 고딕"/>
                <a:ea typeface="맑은 고딕"/>
                <a:cs typeface="맑은 고딕"/>
              </a:rPr>
              <a:t>실시간 룸</a:t>
            </a:r>
          </a:p>
        </p:txBody>
      </p:sp>
      <p:cxnSp>
        <p:nvCxnSpPr>
          <p:cNvPr id="20" name="Connector 19"/>
          <p:cNvCxnSpPr/>
          <p:nvPr/>
        </p:nvCxnSpPr>
        <p:spPr>
          <a:xfrm>
            <a:off x="9720072" y="2034540"/>
            <a:ext cx="210312" cy="0"/>
          </a:xfrm>
          <a:prstGeom prst="line">
            <a:avLst/>
          </a:prstGeom>
          <a:ln w="19050">
            <a:solidFill>
              <a:srgbClr val="6B7280"/>
            </a:solidFill>
            <a:round/>
            <a:tailEnd type="triangle" w="med" len="med"/>
          </a:ln>
        </p:spPr>
      </p:cxnSp>
      <p:sp>
        <p:nvSpPr>
          <p:cNvPr id="21" name="Rounded Rectangle 20"/>
          <p:cNvSpPr/>
          <p:nvPr/>
        </p:nvSpPr>
        <p:spPr>
          <a:xfrm>
            <a:off x="9966960" y="1600200"/>
            <a:ext cx="1600200" cy="868680"/>
          </a:xfrm>
          <a:prstGeom prst="roundRect">
            <a:avLst>
              <a:gd name="adj" fmla="val 12000"/>
            </a:avLst>
          </a:prstGeom>
          <a:solidFill>
            <a:srgbClr val="CCFBF1"/>
          </a:solidFill>
          <a:ln w="15875">
            <a:solidFill>
              <a:srgbClr val="0F766E"/>
            </a:solidFill>
          </a:ln>
        </p:spPr>
        <p:txBody>
          <a:bodyPr rtlCol="0" anchor="ctr" wrap="square" tIns="36576" bIns="36576"/>
          <a:lstStyle/>
          <a:p>
            <a:pPr algn="ctr">
              <a:spcAft>
                <a:spcPts val="0"/>
              </a:spcAft>
            </a:pPr>
            <a:r>
              <a:rPr sz="1700" b="1">
                <a:solidFill>
                  <a:srgbClr val="1F2937"/>
                </a:solidFill>
                <a:latin typeface="맑은 고딕"/>
                <a:ea typeface="맑은 고딕"/>
                <a:cs typeface="맑은 고딕"/>
              </a:rPr>
              <a:t>결과 저장</a:t>
            </a:r>
          </a:p>
        </p:txBody>
      </p:sp>
      <p:sp>
        <p:nvSpPr>
          <p:cNvPr id="22" name="TextBox 21"/>
          <p:cNvSpPr txBox="1"/>
          <p:nvPr/>
        </p:nvSpPr>
        <p:spPr>
          <a:xfrm>
            <a:off x="9966960" y="2514600"/>
            <a:ext cx="1600200" cy="320040"/>
          </a:xfrm>
          <a:prstGeom prst="rect">
            <a:avLst/>
          </a:prstGeom>
          <a:noFill/>
        </p:spPr>
        <p:txBody>
          <a:bodyPr wrap="square" lIns="36576" rIns="36576" tIns="18288" bIns="18288" anchor="t">
            <a:spAutoFit/>
          </a:bodyPr>
          <a:lstStyle/>
          <a:p>
            <a:pPr algn="ctr">
              <a:spcAft>
                <a:spcPts val="0"/>
              </a:spcAft>
            </a:pPr>
            <a:r>
              <a:rPr sz="1200" b="1">
                <a:solidFill>
                  <a:srgbClr val="0F766E"/>
                </a:solidFill>
                <a:latin typeface="맑은 고딕"/>
                <a:ea typeface="맑은 고딕"/>
                <a:cs typeface="맑은 고딕"/>
              </a:rPr>
              <a:t>API · DB</a:t>
            </a:r>
          </a:p>
        </p:txBody>
      </p:sp>
      <p:sp>
        <p:nvSpPr>
          <p:cNvPr id="23" name="TextBox 22"/>
          <p:cNvSpPr txBox="1"/>
          <p:nvPr/>
        </p:nvSpPr>
        <p:spPr>
          <a:xfrm>
            <a:off x="548640" y="3108960"/>
            <a:ext cx="10972800" cy="365760"/>
          </a:xfrm>
          <a:prstGeom prst="rect">
            <a:avLst/>
          </a:prstGeom>
          <a:noFill/>
        </p:spPr>
        <p:txBody>
          <a:bodyPr wrap="square" lIns="36576" rIns="36576" tIns="18288" bIns="18288" anchor="t">
            <a:spAutoFit/>
          </a:bodyPr>
          <a:lstStyle/>
          <a:p>
            <a:pPr algn="l">
              <a:spcAft>
                <a:spcPts val="0"/>
              </a:spcAft>
            </a:pPr>
            <a:r>
              <a:rPr sz="1600" b="1">
                <a:solidFill>
                  <a:srgbClr val="1F2937"/>
                </a:solidFill>
                <a:latin typeface="맑은 고딕"/>
                <a:ea typeface="맑은 고딕"/>
                <a:cs typeface="맑은 고딕"/>
              </a:rPr>
              <a:t>같은 흐름, 세 가지 시선</a:t>
            </a:r>
          </a:p>
        </p:txBody>
      </p:sp>
      <p:sp>
        <p:nvSpPr>
          <p:cNvPr id="24" name="Rounded Rectangle 23"/>
          <p:cNvSpPr/>
          <p:nvPr/>
        </p:nvSpPr>
        <p:spPr>
          <a:xfrm>
            <a:off x="548640" y="3566160"/>
            <a:ext cx="3520440" cy="22402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25" name="TextBox 24"/>
          <p:cNvSpPr txBox="1"/>
          <p:nvPr/>
        </p:nvSpPr>
        <p:spPr>
          <a:xfrm>
            <a:off x="777240" y="3703320"/>
            <a:ext cx="3108960" cy="36576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기획자</a:t>
            </a:r>
          </a:p>
        </p:txBody>
      </p:sp>
      <p:sp>
        <p:nvSpPr>
          <p:cNvPr id="26" name="TextBox 25"/>
          <p:cNvSpPr txBox="1"/>
          <p:nvPr/>
        </p:nvSpPr>
        <p:spPr>
          <a:xfrm>
            <a:off x="777240" y="4041648"/>
            <a:ext cx="3108960" cy="457200"/>
          </a:xfrm>
          <a:prstGeom prst="rect">
            <a:avLst/>
          </a:prstGeom>
          <a:noFill/>
        </p:spPr>
        <p:txBody>
          <a:bodyPr wrap="square" lIns="36576" rIns="36576" tIns="18288" bIns="18288" anchor="t">
            <a:spAutoFit/>
          </a:bodyPr>
          <a:lstStyle/>
          <a:p>
            <a:pPr algn="l">
              <a:spcAft>
                <a:spcPts val="0"/>
              </a:spcAft>
            </a:pPr>
            <a:r>
              <a:rPr sz="1900" b="1">
                <a:solidFill>
                  <a:srgbClr val="1F2937"/>
                </a:solidFill>
                <a:latin typeface="맑은 고딕"/>
                <a:ea typeface="맑은 고딕"/>
                <a:cs typeface="맑은 고딕"/>
              </a:rPr>
              <a:t>규칙으로 본다</a:t>
            </a:r>
          </a:p>
        </p:txBody>
      </p:sp>
      <p:sp>
        <p:nvSpPr>
          <p:cNvPr id="27" name="TextBox 26"/>
          <p:cNvSpPr txBox="1"/>
          <p:nvPr/>
        </p:nvSpPr>
        <p:spPr>
          <a:xfrm>
            <a:off x="777240" y="4617720"/>
            <a:ext cx="3108960" cy="1097280"/>
          </a:xfrm>
          <a:prstGeom prst="rect">
            <a:avLst/>
          </a:prstGeom>
          <a:noFill/>
        </p:spPr>
        <p:txBody>
          <a:bodyPr wrap="square" lIns="36576" rIns="36576" tIns="18288" bIns="18288" anchor="t">
            <a:spAutoFit/>
          </a:bodyPr>
          <a:lstStyle/>
          <a:p>
            <a:pPr algn="l">
              <a:spcAft>
                <a:spcPts val="400"/>
              </a:spcAft>
            </a:pPr>
            <a:r>
              <a:rPr sz="1400" b="0">
                <a:solidFill>
                  <a:srgbClr val="374151"/>
                </a:solidFill>
                <a:latin typeface="맑은 고딕"/>
                <a:ea typeface="맑은 고딕"/>
                <a:cs typeface="맑은 고딕"/>
              </a:rPr>
              <a:t>몇 명이 모이면 시작하나?</a:t>
            </a:r>
          </a:p>
          <a:p>
            <a:pPr algn="l">
              <a:spcAft>
                <a:spcPts val="400"/>
              </a:spcAft>
            </a:pPr>
            <a:r>
              <a:rPr sz="1400" b="0">
                <a:solidFill>
                  <a:srgbClr val="374151"/>
                </a:solidFill>
                <a:latin typeface="맑은 고딕"/>
                <a:ea typeface="맑은 고딕"/>
                <a:cs typeface="맑은 고딕"/>
              </a:rPr>
              <a:t>중간에 나가면 패배인가?</a:t>
            </a:r>
          </a:p>
        </p:txBody>
      </p:sp>
      <p:sp>
        <p:nvSpPr>
          <p:cNvPr id="28" name="Rounded Rectangle 27"/>
          <p:cNvSpPr/>
          <p:nvPr/>
        </p:nvSpPr>
        <p:spPr>
          <a:xfrm>
            <a:off x="4334255" y="3566160"/>
            <a:ext cx="3520440" cy="22402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29" name="TextBox 28"/>
          <p:cNvSpPr txBox="1"/>
          <p:nvPr/>
        </p:nvSpPr>
        <p:spPr>
          <a:xfrm>
            <a:off x="4562855" y="3703320"/>
            <a:ext cx="3108960" cy="36576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클라이언트 개발자</a:t>
            </a:r>
          </a:p>
        </p:txBody>
      </p:sp>
      <p:sp>
        <p:nvSpPr>
          <p:cNvPr id="30" name="TextBox 29"/>
          <p:cNvSpPr txBox="1"/>
          <p:nvPr/>
        </p:nvSpPr>
        <p:spPr>
          <a:xfrm>
            <a:off x="4562855" y="4041648"/>
            <a:ext cx="3108960" cy="457200"/>
          </a:xfrm>
          <a:prstGeom prst="rect">
            <a:avLst/>
          </a:prstGeom>
          <a:noFill/>
        </p:spPr>
        <p:txBody>
          <a:bodyPr wrap="square" lIns="36576" rIns="36576" tIns="18288" bIns="18288" anchor="t">
            <a:spAutoFit/>
          </a:bodyPr>
          <a:lstStyle/>
          <a:p>
            <a:pPr algn="l">
              <a:spcAft>
                <a:spcPts val="0"/>
              </a:spcAft>
            </a:pPr>
            <a:r>
              <a:rPr sz="1900" b="1">
                <a:solidFill>
                  <a:srgbClr val="1F2937"/>
                </a:solidFill>
                <a:latin typeface="맑은 고딕"/>
                <a:ea typeface="맑은 고딕"/>
                <a:cs typeface="맑은 고딕"/>
              </a:rPr>
              <a:t>화면과 입력으로 본다</a:t>
            </a:r>
          </a:p>
        </p:txBody>
      </p:sp>
      <p:sp>
        <p:nvSpPr>
          <p:cNvPr id="31" name="TextBox 30"/>
          <p:cNvSpPr txBox="1"/>
          <p:nvPr/>
        </p:nvSpPr>
        <p:spPr>
          <a:xfrm>
            <a:off x="4562855" y="4617720"/>
            <a:ext cx="3108960" cy="1097280"/>
          </a:xfrm>
          <a:prstGeom prst="rect">
            <a:avLst/>
          </a:prstGeom>
          <a:noFill/>
        </p:spPr>
        <p:txBody>
          <a:bodyPr wrap="square" lIns="36576" rIns="36576" tIns="18288" bIns="18288" anchor="t">
            <a:spAutoFit/>
          </a:bodyPr>
          <a:lstStyle/>
          <a:p>
            <a:pPr algn="l">
              <a:spcAft>
                <a:spcPts val="400"/>
              </a:spcAft>
            </a:pPr>
            <a:r>
              <a:rPr sz="1400" b="0">
                <a:solidFill>
                  <a:srgbClr val="374151"/>
                </a:solidFill>
                <a:latin typeface="맑은 고딕"/>
                <a:ea typeface="맑은 고딕"/>
                <a:cs typeface="맑은 고딕"/>
              </a:rPr>
              <a:t>매칭 중에는 어떤 화면을 띄우나?</a:t>
            </a:r>
          </a:p>
          <a:p>
            <a:pPr algn="l">
              <a:spcAft>
                <a:spcPts val="400"/>
              </a:spcAft>
            </a:pPr>
            <a:r>
              <a:rPr sz="1400" b="0">
                <a:solidFill>
                  <a:srgbClr val="374151"/>
                </a:solidFill>
                <a:latin typeface="맑은 고딕"/>
                <a:ea typeface="맑은 고딕"/>
                <a:cs typeface="맑은 고딕"/>
              </a:rPr>
              <a:t>취소 버튼은 언제 막나?</a:t>
            </a:r>
          </a:p>
        </p:txBody>
      </p:sp>
      <p:sp>
        <p:nvSpPr>
          <p:cNvPr id="32" name="Rounded Rectangle 31"/>
          <p:cNvSpPr/>
          <p:nvPr/>
        </p:nvSpPr>
        <p:spPr>
          <a:xfrm>
            <a:off x="8119871" y="3566160"/>
            <a:ext cx="3520440" cy="22402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33" name="TextBox 32"/>
          <p:cNvSpPr txBox="1"/>
          <p:nvPr/>
        </p:nvSpPr>
        <p:spPr>
          <a:xfrm>
            <a:off x="8348471" y="3703320"/>
            <a:ext cx="3108960" cy="36576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서버 개발자</a:t>
            </a:r>
          </a:p>
        </p:txBody>
      </p:sp>
      <p:sp>
        <p:nvSpPr>
          <p:cNvPr id="34" name="TextBox 33"/>
          <p:cNvSpPr txBox="1"/>
          <p:nvPr/>
        </p:nvSpPr>
        <p:spPr>
          <a:xfrm>
            <a:off x="8348471" y="4041648"/>
            <a:ext cx="3108960" cy="457200"/>
          </a:xfrm>
          <a:prstGeom prst="rect">
            <a:avLst/>
          </a:prstGeom>
          <a:noFill/>
        </p:spPr>
        <p:txBody>
          <a:bodyPr wrap="square" lIns="36576" rIns="36576" tIns="18288" bIns="18288" anchor="t">
            <a:spAutoFit/>
          </a:bodyPr>
          <a:lstStyle/>
          <a:p>
            <a:pPr algn="l">
              <a:spcAft>
                <a:spcPts val="0"/>
              </a:spcAft>
            </a:pPr>
            <a:r>
              <a:rPr sz="1900" b="1">
                <a:solidFill>
                  <a:srgbClr val="1F2937"/>
                </a:solidFill>
                <a:latin typeface="맑은 고딕"/>
                <a:ea typeface="맑은 고딕"/>
                <a:cs typeface="맑은 고딕"/>
              </a:rPr>
              <a:t>권한 · 데이터 · 장애로 본다</a:t>
            </a:r>
          </a:p>
        </p:txBody>
      </p:sp>
      <p:sp>
        <p:nvSpPr>
          <p:cNvPr id="35" name="TextBox 34"/>
          <p:cNvSpPr txBox="1"/>
          <p:nvPr/>
        </p:nvSpPr>
        <p:spPr>
          <a:xfrm>
            <a:off x="8348471" y="4617720"/>
            <a:ext cx="3108960" cy="1097280"/>
          </a:xfrm>
          <a:prstGeom prst="rect">
            <a:avLst/>
          </a:prstGeom>
          <a:noFill/>
        </p:spPr>
        <p:txBody>
          <a:bodyPr wrap="square" lIns="36576" rIns="36576" tIns="18288" bIns="18288" anchor="t">
            <a:spAutoFit/>
          </a:bodyPr>
          <a:lstStyle/>
          <a:p>
            <a:pPr algn="l">
              <a:spcAft>
                <a:spcPts val="400"/>
              </a:spcAft>
            </a:pPr>
            <a:r>
              <a:rPr sz="1400" b="0">
                <a:solidFill>
                  <a:srgbClr val="374151"/>
                </a:solidFill>
                <a:latin typeface="맑은 고딕"/>
                <a:ea typeface="맑은 고딕"/>
                <a:cs typeface="맑은 고딕"/>
              </a:rPr>
              <a:t>이 요청은 누가 보낼 수 있나?</a:t>
            </a:r>
          </a:p>
          <a:p>
            <a:pPr algn="l">
              <a:spcAft>
                <a:spcPts val="400"/>
              </a:spcAft>
            </a:pPr>
            <a:r>
              <a:rPr sz="1400" b="0">
                <a:solidFill>
                  <a:srgbClr val="374151"/>
                </a:solidFill>
                <a:latin typeface="맑은 고딕"/>
                <a:ea typeface="맑은 고딕"/>
                <a:cs typeface="맑은 고딕"/>
              </a:rPr>
              <a:t>실패하면 어떻게 되돌리나?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1 · 게임 흐름과 책임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누가 무엇을 책임지는가</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4 / 22</a:t>
            </a:r>
          </a:p>
        </p:txBody>
      </p:sp>
      <p:sp>
        <p:nvSpPr>
          <p:cNvPr id="6" name="Rounded Rectangle 5"/>
          <p:cNvSpPr/>
          <p:nvPr/>
        </p:nvSpPr>
        <p:spPr>
          <a:xfrm>
            <a:off x="548640" y="1554480"/>
            <a:ext cx="3520440" cy="24231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7" name="Rectangle 6"/>
          <p:cNvSpPr/>
          <p:nvPr/>
        </p:nvSpPr>
        <p:spPr>
          <a:xfrm>
            <a:off x="548640" y="1554480"/>
            <a:ext cx="3520440" cy="91440"/>
          </a:xfrm>
          <a:prstGeom prst="rect">
            <a:avLst/>
          </a:prstGeom>
          <a:solidFill>
            <a:srgbClr val="2563EB"/>
          </a:solidFill>
          <a:ln>
            <a:noFill/>
          </a:ln>
        </p:spPr>
        <p:txBody>
          <a:bodyPr rtlCol="0" anchor="ctr" wrap="square" tIns="36576" bIns="36576"/>
          <a:lstStyle/>
          <a:p>
            <a:pPr algn="ctr"/>
          </a:p>
        </p:txBody>
      </p:sp>
      <p:sp>
        <p:nvSpPr>
          <p:cNvPr id="8" name="TextBox 7"/>
          <p:cNvSpPr txBox="1"/>
          <p:nvPr/>
        </p:nvSpPr>
        <p:spPr>
          <a:xfrm>
            <a:off x="822959" y="1783080"/>
            <a:ext cx="3017520" cy="457200"/>
          </a:xfrm>
          <a:prstGeom prst="rect">
            <a:avLst/>
          </a:prstGeom>
          <a:noFill/>
        </p:spPr>
        <p:txBody>
          <a:bodyPr wrap="square" lIns="36576" rIns="36576" tIns="18288" bIns="18288" anchor="t">
            <a:spAutoFit/>
          </a:bodyPr>
          <a:lstStyle/>
          <a:p>
            <a:pPr algn="l">
              <a:spcAft>
                <a:spcPts val="0"/>
              </a:spcAft>
            </a:pPr>
            <a:r>
              <a:rPr sz="2200" b="1">
                <a:solidFill>
                  <a:srgbClr val="2563EB"/>
                </a:solidFill>
                <a:latin typeface="맑은 고딕"/>
                <a:ea typeface="맑은 고딕"/>
                <a:cs typeface="맑은 고딕"/>
              </a:rPr>
              <a:t>클라이언트</a:t>
            </a:r>
          </a:p>
        </p:txBody>
      </p:sp>
      <p:sp>
        <p:nvSpPr>
          <p:cNvPr id="9" name="TextBox 8"/>
          <p:cNvSpPr txBox="1"/>
          <p:nvPr/>
        </p:nvSpPr>
        <p:spPr>
          <a:xfrm>
            <a:off x="822959" y="2240280"/>
            <a:ext cx="3017520" cy="365760"/>
          </a:xfrm>
          <a:prstGeom prst="rect">
            <a:avLst/>
          </a:prstGeom>
          <a:noFill/>
        </p:spPr>
        <p:txBody>
          <a:bodyPr wrap="square" lIns="36576" rIns="36576" tIns="18288" bIns="18288" anchor="t">
            <a:spAutoFit/>
          </a:bodyPr>
          <a:lstStyle/>
          <a:p>
            <a:pPr algn="l">
              <a:spcAft>
                <a:spcPts val="0"/>
              </a:spcAft>
            </a:pPr>
            <a:r>
              <a:rPr sz="1400" b="0">
                <a:solidFill>
                  <a:srgbClr val="6B7280"/>
                </a:solidFill>
                <a:latin typeface="맑은 고딕"/>
                <a:ea typeface="맑은 고딕"/>
                <a:cs typeface="맑은 고딕"/>
              </a:rPr>
              <a:t>빠르게 보여 준다</a:t>
            </a:r>
          </a:p>
        </p:txBody>
      </p:sp>
      <p:sp>
        <p:nvSpPr>
          <p:cNvPr id="10" name="TextBox 9"/>
          <p:cNvSpPr txBox="1"/>
          <p:nvPr/>
        </p:nvSpPr>
        <p:spPr>
          <a:xfrm>
            <a:off x="822959" y="2697480"/>
            <a:ext cx="3017520" cy="1188720"/>
          </a:xfrm>
          <a:prstGeom prst="rect">
            <a:avLst/>
          </a:prstGeom>
          <a:noFill/>
        </p:spPr>
        <p:txBody>
          <a:bodyPr wrap="square" lIns="36576" rIns="36576" tIns="18288" bIns="18288" anchor="t">
            <a:spAutoFit/>
          </a:bodyPr>
          <a:lstStyle/>
          <a:p>
            <a:pPr algn="l">
              <a:spcAft>
                <a:spcPts val="200"/>
              </a:spcAft>
            </a:pPr>
            <a:r>
              <a:rPr sz="1800" b="1">
                <a:solidFill>
                  <a:srgbClr val="1F2937"/>
                </a:solidFill>
                <a:latin typeface="맑은 고딕"/>
                <a:ea typeface="맑은 고딕"/>
                <a:cs typeface="맑은 고딕"/>
              </a:rPr>
              <a:t>화면</a:t>
            </a:r>
          </a:p>
          <a:p>
            <a:pPr algn="l">
              <a:spcAft>
                <a:spcPts val="200"/>
              </a:spcAft>
            </a:pPr>
            <a:r>
              <a:rPr sz="1800" b="1">
                <a:solidFill>
                  <a:srgbClr val="1F2937"/>
                </a:solidFill>
                <a:latin typeface="맑은 고딕"/>
                <a:ea typeface="맑은 고딕"/>
                <a:cs typeface="맑은 고딕"/>
              </a:rPr>
              <a:t>입력</a:t>
            </a:r>
          </a:p>
          <a:p>
            <a:pPr algn="l">
              <a:spcAft>
                <a:spcPts val="200"/>
              </a:spcAft>
            </a:pPr>
            <a:r>
              <a:rPr sz="1800" b="1">
                <a:solidFill>
                  <a:srgbClr val="1F2937"/>
                </a:solidFill>
                <a:latin typeface="맑은 고딕"/>
                <a:ea typeface="맑은 고딕"/>
                <a:cs typeface="맑은 고딕"/>
              </a:rPr>
              <a:t>로컬 표현</a:t>
            </a:r>
          </a:p>
        </p:txBody>
      </p:sp>
      <p:sp>
        <p:nvSpPr>
          <p:cNvPr id="11" name="Rounded Rectangle 10"/>
          <p:cNvSpPr/>
          <p:nvPr/>
        </p:nvSpPr>
        <p:spPr>
          <a:xfrm>
            <a:off x="4334255" y="1554480"/>
            <a:ext cx="3520440" cy="24231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2" name="Rectangle 11"/>
          <p:cNvSpPr/>
          <p:nvPr/>
        </p:nvSpPr>
        <p:spPr>
          <a:xfrm>
            <a:off x="4334255" y="1554480"/>
            <a:ext cx="3520440" cy="91440"/>
          </a:xfrm>
          <a:prstGeom prst="rect">
            <a:avLst/>
          </a:prstGeom>
          <a:solidFill>
            <a:srgbClr val="0F766E"/>
          </a:solidFill>
          <a:ln>
            <a:noFill/>
          </a:ln>
        </p:spPr>
        <p:txBody>
          <a:bodyPr rtlCol="0" anchor="ctr" wrap="square" tIns="36576" bIns="36576"/>
          <a:lstStyle/>
          <a:p>
            <a:pPr algn="ctr"/>
          </a:p>
        </p:txBody>
      </p:sp>
      <p:sp>
        <p:nvSpPr>
          <p:cNvPr id="13" name="TextBox 12"/>
          <p:cNvSpPr txBox="1"/>
          <p:nvPr/>
        </p:nvSpPr>
        <p:spPr>
          <a:xfrm>
            <a:off x="4608575" y="1783080"/>
            <a:ext cx="3017520" cy="457200"/>
          </a:xfrm>
          <a:prstGeom prst="rect">
            <a:avLst/>
          </a:prstGeom>
          <a:noFill/>
        </p:spPr>
        <p:txBody>
          <a:bodyPr wrap="square" lIns="36576" rIns="36576" tIns="18288" bIns="18288" anchor="t">
            <a:spAutoFit/>
          </a:bodyPr>
          <a:lstStyle/>
          <a:p>
            <a:pPr algn="l">
              <a:spcAft>
                <a:spcPts val="0"/>
              </a:spcAft>
            </a:pPr>
            <a:r>
              <a:rPr sz="2200" b="1">
                <a:solidFill>
                  <a:srgbClr val="0F766E"/>
                </a:solidFill>
                <a:latin typeface="맑은 고딕"/>
                <a:ea typeface="맑은 고딕"/>
                <a:cs typeface="맑은 고딕"/>
              </a:rPr>
              <a:t>서버</a:t>
            </a:r>
          </a:p>
        </p:txBody>
      </p:sp>
      <p:sp>
        <p:nvSpPr>
          <p:cNvPr id="14" name="TextBox 13"/>
          <p:cNvSpPr txBox="1"/>
          <p:nvPr/>
        </p:nvSpPr>
        <p:spPr>
          <a:xfrm>
            <a:off x="4608575" y="2240280"/>
            <a:ext cx="3017520" cy="365760"/>
          </a:xfrm>
          <a:prstGeom prst="rect">
            <a:avLst/>
          </a:prstGeom>
          <a:noFill/>
        </p:spPr>
        <p:txBody>
          <a:bodyPr wrap="square" lIns="36576" rIns="36576" tIns="18288" bIns="18288" anchor="t">
            <a:spAutoFit/>
          </a:bodyPr>
          <a:lstStyle/>
          <a:p>
            <a:pPr algn="l">
              <a:spcAft>
                <a:spcPts val="0"/>
              </a:spcAft>
            </a:pPr>
            <a:r>
              <a:rPr sz="1400" b="0">
                <a:solidFill>
                  <a:srgbClr val="6B7280"/>
                </a:solidFill>
                <a:latin typeface="맑은 고딕"/>
                <a:ea typeface="맑은 고딕"/>
                <a:cs typeface="맑은 고딕"/>
              </a:rPr>
              <a:t>판단하고 확정한다</a:t>
            </a:r>
          </a:p>
        </p:txBody>
      </p:sp>
      <p:sp>
        <p:nvSpPr>
          <p:cNvPr id="15" name="TextBox 14"/>
          <p:cNvSpPr txBox="1"/>
          <p:nvPr/>
        </p:nvSpPr>
        <p:spPr>
          <a:xfrm>
            <a:off x="4608575" y="2697480"/>
            <a:ext cx="3017520" cy="1188720"/>
          </a:xfrm>
          <a:prstGeom prst="rect">
            <a:avLst/>
          </a:prstGeom>
          <a:noFill/>
        </p:spPr>
        <p:txBody>
          <a:bodyPr wrap="square" lIns="36576" rIns="36576" tIns="18288" bIns="18288" anchor="t">
            <a:spAutoFit/>
          </a:bodyPr>
          <a:lstStyle/>
          <a:p>
            <a:pPr algn="l">
              <a:spcAft>
                <a:spcPts val="200"/>
              </a:spcAft>
            </a:pPr>
            <a:r>
              <a:rPr sz="1800" b="1">
                <a:solidFill>
                  <a:srgbClr val="1F2937"/>
                </a:solidFill>
                <a:latin typeface="맑은 고딕"/>
                <a:ea typeface="맑은 고딕"/>
                <a:cs typeface="맑은 고딕"/>
              </a:rPr>
              <a:t>요청 처리</a:t>
            </a:r>
          </a:p>
          <a:p>
            <a:pPr algn="l">
              <a:spcAft>
                <a:spcPts val="200"/>
              </a:spcAft>
            </a:pPr>
            <a:r>
              <a:rPr sz="1800" b="1">
                <a:solidFill>
                  <a:srgbClr val="1F2937"/>
                </a:solidFill>
                <a:latin typeface="맑은 고딕"/>
                <a:ea typeface="맑은 고딕"/>
                <a:cs typeface="맑은 고딕"/>
              </a:rPr>
              <a:t>상태 관리</a:t>
            </a:r>
          </a:p>
          <a:p>
            <a:pPr algn="l">
              <a:spcAft>
                <a:spcPts val="200"/>
              </a:spcAft>
            </a:pPr>
            <a:r>
              <a:rPr sz="1800" b="1">
                <a:solidFill>
                  <a:srgbClr val="1F2937"/>
                </a:solidFill>
                <a:latin typeface="맑은 고딕"/>
                <a:ea typeface="맑은 고딕"/>
                <a:cs typeface="맑은 고딕"/>
              </a:rPr>
              <a:t>권한 검증</a:t>
            </a:r>
          </a:p>
        </p:txBody>
      </p:sp>
      <p:sp>
        <p:nvSpPr>
          <p:cNvPr id="16" name="Rounded Rectangle 15"/>
          <p:cNvSpPr/>
          <p:nvPr/>
        </p:nvSpPr>
        <p:spPr>
          <a:xfrm>
            <a:off x="8119871" y="1554480"/>
            <a:ext cx="3520440" cy="24231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7" name="Rectangle 16"/>
          <p:cNvSpPr/>
          <p:nvPr/>
        </p:nvSpPr>
        <p:spPr>
          <a:xfrm>
            <a:off x="8119871" y="1554480"/>
            <a:ext cx="3520440" cy="91440"/>
          </a:xfrm>
          <a:prstGeom prst="rect">
            <a:avLst/>
          </a:prstGeom>
          <a:solidFill>
            <a:srgbClr val="475569"/>
          </a:solidFill>
          <a:ln>
            <a:noFill/>
          </a:ln>
        </p:spPr>
        <p:txBody>
          <a:bodyPr rtlCol="0" anchor="ctr" wrap="square" tIns="36576" bIns="36576"/>
          <a:lstStyle/>
          <a:p>
            <a:pPr algn="ctr"/>
          </a:p>
        </p:txBody>
      </p:sp>
      <p:sp>
        <p:nvSpPr>
          <p:cNvPr id="18" name="TextBox 17"/>
          <p:cNvSpPr txBox="1"/>
          <p:nvPr/>
        </p:nvSpPr>
        <p:spPr>
          <a:xfrm>
            <a:off x="8394192" y="1783080"/>
            <a:ext cx="3017520" cy="457200"/>
          </a:xfrm>
          <a:prstGeom prst="rect">
            <a:avLst/>
          </a:prstGeom>
          <a:noFill/>
        </p:spPr>
        <p:txBody>
          <a:bodyPr wrap="square" lIns="36576" rIns="36576" tIns="18288" bIns="18288" anchor="t">
            <a:spAutoFit/>
          </a:bodyPr>
          <a:lstStyle/>
          <a:p>
            <a:pPr algn="l">
              <a:spcAft>
                <a:spcPts val="0"/>
              </a:spcAft>
            </a:pPr>
            <a:r>
              <a:rPr sz="2200" b="1">
                <a:solidFill>
                  <a:srgbClr val="475569"/>
                </a:solidFill>
                <a:latin typeface="맑은 고딕"/>
                <a:ea typeface="맑은 고딕"/>
                <a:cs typeface="맑은 고딕"/>
              </a:rPr>
              <a:t>DB · Firebase</a:t>
            </a:r>
          </a:p>
        </p:txBody>
      </p:sp>
      <p:sp>
        <p:nvSpPr>
          <p:cNvPr id="19" name="TextBox 18"/>
          <p:cNvSpPr txBox="1"/>
          <p:nvPr/>
        </p:nvSpPr>
        <p:spPr>
          <a:xfrm>
            <a:off x="8394192" y="2240280"/>
            <a:ext cx="3017520" cy="365760"/>
          </a:xfrm>
          <a:prstGeom prst="rect">
            <a:avLst/>
          </a:prstGeom>
          <a:noFill/>
        </p:spPr>
        <p:txBody>
          <a:bodyPr wrap="square" lIns="36576" rIns="36576" tIns="18288" bIns="18288" anchor="t">
            <a:spAutoFit/>
          </a:bodyPr>
          <a:lstStyle/>
          <a:p>
            <a:pPr algn="l">
              <a:spcAft>
                <a:spcPts val="0"/>
              </a:spcAft>
            </a:pPr>
            <a:r>
              <a:rPr sz="1400" b="0">
                <a:solidFill>
                  <a:srgbClr val="6B7280"/>
                </a:solidFill>
                <a:latin typeface="맑은 고딕"/>
                <a:ea typeface="맑은 고딕"/>
                <a:cs typeface="맑은 고딕"/>
              </a:rPr>
              <a:t>기억한다</a:t>
            </a:r>
          </a:p>
        </p:txBody>
      </p:sp>
      <p:sp>
        <p:nvSpPr>
          <p:cNvPr id="20" name="TextBox 19"/>
          <p:cNvSpPr txBox="1"/>
          <p:nvPr/>
        </p:nvSpPr>
        <p:spPr>
          <a:xfrm>
            <a:off x="8394192" y="2697480"/>
            <a:ext cx="3017520" cy="1188720"/>
          </a:xfrm>
          <a:prstGeom prst="rect">
            <a:avLst/>
          </a:prstGeom>
          <a:noFill/>
        </p:spPr>
        <p:txBody>
          <a:bodyPr wrap="square" lIns="36576" rIns="36576" tIns="18288" bIns="18288" anchor="t">
            <a:spAutoFit/>
          </a:bodyPr>
          <a:lstStyle/>
          <a:p>
            <a:pPr algn="l">
              <a:spcAft>
                <a:spcPts val="200"/>
              </a:spcAft>
            </a:pPr>
            <a:r>
              <a:rPr sz="1800" b="1">
                <a:solidFill>
                  <a:srgbClr val="1F2937"/>
                </a:solidFill>
                <a:latin typeface="맑은 고딕"/>
                <a:ea typeface="맑은 고딕"/>
                <a:cs typeface="맑은 고딕"/>
              </a:rPr>
              <a:t>다시 접속해도</a:t>
            </a:r>
          </a:p>
          <a:p>
            <a:pPr algn="l">
              <a:spcAft>
                <a:spcPts val="200"/>
              </a:spcAft>
            </a:pPr>
            <a:r>
              <a:rPr sz="1800" b="1">
                <a:solidFill>
                  <a:srgbClr val="1F2937"/>
                </a:solidFill>
                <a:latin typeface="맑은 고딕"/>
                <a:ea typeface="맑은 고딕"/>
                <a:cs typeface="맑은 고딕"/>
              </a:rPr>
              <a:t>남는 데이터</a:t>
            </a:r>
          </a:p>
        </p:txBody>
      </p:sp>
      <p:sp>
        <p:nvSpPr>
          <p:cNvPr id="21" name="Rounded Rectangle 20"/>
          <p:cNvSpPr/>
          <p:nvPr/>
        </p:nvSpPr>
        <p:spPr>
          <a:xfrm>
            <a:off x="548640" y="4251960"/>
            <a:ext cx="5166360" cy="1783080"/>
          </a:xfrm>
          <a:prstGeom prst="roundRect">
            <a:avLst>
              <a:gd name="adj" fmla="val 6000"/>
            </a:avLst>
          </a:prstGeom>
          <a:solidFill>
            <a:srgbClr val="FFF7ED"/>
          </a:solidFill>
          <a:ln w="12700">
            <a:solidFill>
              <a:srgbClr val="FED7AA"/>
            </a:solidFill>
          </a:ln>
        </p:spPr>
        <p:txBody>
          <a:bodyPr rtlCol="0" anchor="ctr" wrap="square" tIns="36576" bIns="36576"/>
          <a:lstStyle/>
          <a:p>
            <a:pPr algn="ctr"/>
          </a:p>
        </p:txBody>
      </p:sp>
      <p:sp>
        <p:nvSpPr>
          <p:cNvPr id="22" name="TextBox 21"/>
          <p:cNvSpPr txBox="1"/>
          <p:nvPr/>
        </p:nvSpPr>
        <p:spPr>
          <a:xfrm>
            <a:off x="777240" y="4389120"/>
            <a:ext cx="4754880" cy="411480"/>
          </a:xfrm>
          <a:prstGeom prst="rect">
            <a:avLst/>
          </a:prstGeom>
          <a:noFill/>
        </p:spPr>
        <p:txBody>
          <a:bodyPr wrap="square" lIns="36576" rIns="36576" tIns="18288" bIns="18288" anchor="t">
            <a:spAutoFit/>
          </a:bodyPr>
          <a:lstStyle/>
          <a:p>
            <a:pPr algn="l">
              <a:spcAft>
                <a:spcPts val="0"/>
              </a:spcAft>
            </a:pPr>
            <a:r>
              <a:rPr sz="1800" b="1">
                <a:solidFill>
                  <a:srgbClr val="C2410C"/>
                </a:solidFill>
                <a:latin typeface="맑은 고딕"/>
                <a:ea typeface="맑은 고딕"/>
                <a:cs typeface="맑은 고딕"/>
              </a:rPr>
              <a:t>보여 주는 값 ≠ 확정된 값</a:t>
            </a:r>
          </a:p>
        </p:txBody>
      </p:sp>
      <p:sp>
        <p:nvSpPr>
          <p:cNvPr id="23" name="TextBox 22"/>
          <p:cNvSpPr txBox="1"/>
          <p:nvPr/>
        </p:nvSpPr>
        <p:spPr>
          <a:xfrm>
            <a:off x="777240" y="4846320"/>
            <a:ext cx="4754880" cy="1097280"/>
          </a:xfrm>
          <a:prstGeom prst="rect">
            <a:avLst/>
          </a:prstGeom>
          <a:noFill/>
        </p:spPr>
        <p:txBody>
          <a:bodyPr wrap="square" lIns="36576" rIns="36576" tIns="18288" bIns="18288" anchor="t">
            <a:spAutoFit/>
          </a:bodyPr>
          <a:lstStyle/>
          <a:p>
            <a:pPr algn="l">
              <a:spcAft>
                <a:spcPts val="300"/>
              </a:spcAft>
            </a:pPr>
            <a:r>
              <a:rPr sz="1400" b="0">
                <a:solidFill>
                  <a:srgbClr val="1F2937"/>
                </a:solidFill>
                <a:latin typeface="맑은 고딕"/>
                <a:ea typeface="맑은 고딕"/>
                <a:cs typeface="맑은 고딕"/>
              </a:rPr>
              <a:t>내 화면: 총알이 적에게 명중!</a:t>
            </a:r>
          </a:p>
          <a:p>
            <a:pPr algn="l">
              <a:spcAft>
                <a:spcPts val="300"/>
              </a:spcAft>
            </a:pPr>
            <a:r>
              <a:rPr sz="1400" b="0">
                <a:solidFill>
                  <a:srgbClr val="1F2937"/>
                </a:solidFill>
                <a:latin typeface="맑은 고딕"/>
                <a:ea typeface="맑은 고딕"/>
                <a:cs typeface="맑은 고딕"/>
              </a:rPr>
              <a:t>서버 판정: 그 순간 적은 이미 엄폐물 뒤</a:t>
            </a:r>
          </a:p>
          <a:p>
            <a:pPr algn="l">
              <a:spcAft>
                <a:spcPts val="300"/>
              </a:spcAft>
            </a:pPr>
            <a:r>
              <a:rPr sz="1400" b="1">
                <a:solidFill>
                  <a:srgbClr val="1F2937"/>
                </a:solidFill>
                <a:latin typeface="맑은 고딕"/>
                <a:ea typeface="맑은 고딕"/>
                <a:cs typeface="맑은 고딕"/>
              </a:rPr>
              <a:t>→ 데미지는 들어가지 않는다</a:t>
            </a:r>
          </a:p>
        </p:txBody>
      </p:sp>
      <p:sp>
        <p:nvSpPr>
          <p:cNvPr id="24" name="Rounded Rectangle 23"/>
          <p:cNvSpPr/>
          <p:nvPr/>
        </p:nvSpPr>
        <p:spPr>
          <a:xfrm>
            <a:off x="5943600" y="4251960"/>
            <a:ext cx="5696712" cy="1783080"/>
          </a:xfrm>
          <a:prstGeom prst="roundRect">
            <a:avLst>
              <a:gd name="adj" fmla="val 6000"/>
            </a:avLst>
          </a:prstGeom>
          <a:solidFill>
            <a:srgbClr val="0F172A"/>
          </a:solidFill>
          <a:ln>
            <a:noFill/>
          </a:ln>
        </p:spPr>
        <p:txBody>
          <a:bodyPr rtlCol="0" anchor="ctr" wrap="square" tIns="36576" bIns="36576"/>
          <a:lstStyle/>
          <a:p>
            <a:pPr algn="ctr"/>
          </a:p>
        </p:txBody>
      </p:sp>
      <p:sp>
        <p:nvSpPr>
          <p:cNvPr id="25" name="TextBox 24"/>
          <p:cNvSpPr txBox="1"/>
          <p:nvPr/>
        </p:nvSpPr>
        <p:spPr>
          <a:xfrm>
            <a:off x="6217920" y="4434840"/>
            <a:ext cx="5212080" cy="640080"/>
          </a:xfrm>
          <a:prstGeom prst="rect">
            <a:avLst/>
          </a:prstGeom>
          <a:noFill/>
        </p:spPr>
        <p:txBody>
          <a:bodyPr wrap="square" lIns="36576" rIns="36576" tIns="18288" bIns="18288" anchor="t">
            <a:spAutoFit/>
          </a:bodyPr>
          <a:lstStyle/>
          <a:p>
            <a:pPr algn="l">
              <a:spcAft>
                <a:spcPts val="0"/>
              </a:spcAft>
            </a:pPr>
            <a:r>
              <a:rPr sz="2800" b="1">
                <a:solidFill>
                  <a:srgbClr val="FFFFFF"/>
                </a:solidFill>
                <a:latin typeface="맑은 고딕"/>
                <a:ea typeface="맑은 고딕"/>
                <a:cs typeface="맑은 고딕"/>
              </a:rPr>
              <a:t>누가 결과를 확정하는가?</a:t>
            </a:r>
          </a:p>
        </p:txBody>
      </p:sp>
      <p:sp>
        <p:nvSpPr>
          <p:cNvPr id="26" name="TextBox 25"/>
          <p:cNvSpPr txBox="1"/>
          <p:nvPr/>
        </p:nvSpPr>
        <p:spPr>
          <a:xfrm>
            <a:off x="6217920" y="5120640"/>
            <a:ext cx="5212080" cy="731520"/>
          </a:xfrm>
          <a:prstGeom prst="rect">
            <a:avLst/>
          </a:prstGeom>
          <a:noFill/>
        </p:spPr>
        <p:txBody>
          <a:bodyPr wrap="square" lIns="36576" rIns="36576" tIns="18288" bIns="18288" anchor="t">
            <a:spAutoFit/>
          </a:bodyPr>
          <a:lstStyle/>
          <a:p>
            <a:pPr algn="l">
              <a:spcAft>
                <a:spcPts val="200"/>
              </a:spcAft>
            </a:pPr>
            <a:r>
              <a:rPr sz="1400" b="0">
                <a:solidFill>
                  <a:srgbClr val="CBD5E1"/>
                </a:solidFill>
                <a:latin typeface="맑은 고딕"/>
                <a:ea typeface="맑은 고딕"/>
                <a:cs typeface="맑은 고딕"/>
              </a:rPr>
              <a:t>서버 구조를 결정하는 가장 중요한 질문</a:t>
            </a:r>
          </a:p>
          <a:p>
            <a:pPr algn="l">
              <a:spcAft>
                <a:spcPts val="200"/>
              </a:spcAft>
            </a:pPr>
            <a:r>
              <a:rPr sz="1400" b="0">
                <a:solidFill>
                  <a:srgbClr val="CBD5E1"/>
                </a:solidFill>
                <a:latin typeface="맑은 고딕"/>
                <a:ea typeface="맑은 고딕"/>
                <a:cs typeface="맑은 고딕"/>
              </a:rPr>
              <a:t>“나 이겼어, 보상 줘”를 그대로 믿어도 될까?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서버 타입 한눈에 보기</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5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§1 · §2</a:t>
            </a:r>
          </a:p>
        </p:txBody>
      </p:sp>
      <p:sp>
        <p:nvSpPr>
          <p:cNvPr id="7" name="Rounded Rectangle 6"/>
          <p:cNvSpPr/>
          <p:nvPr/>
        </p:nvSpPr>
        <p:spPr>
          <a:xfrm>
            <a:off x="548640" y="3017520"/>
            <a:ext cx="1463040" cy="914400"/>
          </a:xfrm>
          <a:prstGeom prst="roundRect">
            <a:avLst>
              <a:gd name="adj" fmla="val 12000"/>
            </a:avLst>
          </a:prstGeom>
          <a:solidFill>
            <a:srgbClr val="DBEAFE"/>
          </a:solidFill>
          <a:ln w="15875">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클라이언트</a:t>
            </a:r>
          </a:p>
        </p:txBody>
      </p:sp>
      <p:sp>
        <p:nvSpPr>
          <p:cNvPr id="8" name="Rounded Rectangle 7"/>
          <p:cNvSpPr/>
          <p:nvPr/>
        </p:nvSpPr>
        <p:spPr>
          <a:xfrm>
            <a:off x="2926080" y="1600200"/>
            <a:ext cx="1828800" cy="777240"/>
          </a:xfrm>
          <a:prstGeom prst="roundRect">
            <a:avLst>
              <a:gd name="adj" fmla="val 12000"/>
            </a:avLst>
          </a:prstGeom>
          <a:solidFill>
            <a:srgbClr val="CCFBF1"/>
          </a:solidFill>
          <a:ln w="15875">
            <a:solidFill>
              <a:srgbClr val="0F766E"/>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API 서버</a:t>
            </a:r>
          </a:p>
        </p:txBody>
      </p:sp>
      <p:sp>
        <p:nvSpPr>
          <p:cNvPr id="9" name="Rounded Rectangle 8"/>
          <p:cNvSpPr/>
          <p:nvPr/>
        </p:nvSpPr>
        <p:spPr>
          <a:xfrm>
            <a:off x="2926080" y="3063240"/>
            <a:ext cx="1828800" cy="777240"/>
          </a:xfrm>
          <a:prstGeom prst="roundRect">
            <a:avLst>
              <a:gd name="adj" fmla="val 12000"/>
            </a:avLst>
          </a:prstGeom>
          <a:solidFill>
            <a:srgbClr val="EDE9FE"/>
          </a:solidFill>
          <a:ln w="15875">
            <a:solidFill>
              <a:srgbClr val="6D28D9"/>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매칭 서버</a:t>
            </a:r>
          </a:p>
        </p:txBody>
      </p:sp>
      <p:sp>
        <p:nvSpPr>
          <p:cNvPr id="10" name="Rounded Rectangle 9"/>
          <p:cNvSpPr/>
          <p:nvPr/>
        </p:nvSpPr>
        <p:spPr>
          <a:xfrm>
            <a:off x="2926080" y="4526280"/>
            <a:ext cx="1828800" cy="777240"/>
          </a:xfrm>
          <a:prstGeom prst="roundRect">
            <a:avLst>
              <a:gd name="adj" fmla="val 12000"/>
            </a:avLst>
          </a:prstGeom>
          <a:solidFill>
            <a:srgbClr val="FFEDD5"/>
          </a:solidFill>
          <a:ln w="15875">
            <a:solidFill>
              <a:srgbClr val="C2410C"/>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실시간 게임 룸</a:t>
            </a:r>
          </a:p>
          <a:p>
            <a:pPr algn="ctr">
              <a:spcAft>
                <a:spcPts val="0"/>
              </a:spcAft>
            </a:pPr>
            <a:r>
              <a:rPr sz="1100" b="0">
                <a:solidFill>
                  <a:srgbClr val="6B7280"/>
                </a:solidFill>
                <a:latin typeface="맑은 고딕"/>
                <a:ea typeface="맑은 고딕"/>
                <a:cs typeface="맑은 고딕"/>
              </a:rPr>
              <a:t>릴레이 또는 전용 서버</a:t>
            </a:r>
          </a:p>
        </p:txBody>
      </p:sp>
      <p:sp>
        <p:nvSpPr>
          <p:cNvPr id="11" name="Can 10"/>
          <p:cNvSpPr/>
          <p:nvPr/>
        </p:nvSpPr>
        <p:spPr>
          <a:xfrm>
            <a:off x="5440680" y="1508760"/>
            <a:ext cx="1097280" cy="960120"/>
          </a:xfrm>
          <a:prstGeom prst="can">
            <a:avLst/>
          </a:prstGeom>
          <a:solidFill>
            <a:srgbClr val="E2E8F0"/>
          </a:solidFill>
          <a:ln w="15875">
            <a:solidFill>
              <a:srgbClr val="475569"/>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Firebase</a:t>
            </a:r>
          </a:p>
          <a:p>
            <a:pPr algn="ctr">
              <a:spcAft>
                <a:spcPts val="0"/>
              </a:spcAft>
            </a:pPr>
            <a:r>
              <a:rPr sz="1300" b="1">
                <a:solidFill>
                  <a:srgbClr val="1F2937"/>
                </a:solidFill>
                <a:latin typeface="맑은 고딕"/>
                <a:ea typeface="맑은 고딕"/>
                <a:cs typeface="맑은 고딕"/>
              </a:rPr>
              <a:t>· DB</a:t>
            </a:r>
          </a:p>
        </p:txBody>
      </p:sp>
      <p:cxnSp>
        <p:nvCxnSpPr>
          <p:cNvPr id="12" name="Connector 11"/>
          <p:cNvCxnSpPr/>
          <p:nvPr/>
        </p:nvCxnSpPr>
        <p:spPr>
          <a:xfrm flipV="1">
            <a:off x="2011680" y="2103120"/>
            <a:ext cx="914400" cy="1143000"/>
          </a:xfrm>
          <a:prstGeom prst="line">
            <a:avLst/>
          </a:prstGeom>
          <a:ln w="22225">
            <a:solidFill>
              <a:srgbClr val="0F766E"/>
            </a:solidFill>
            <a:round/>
            <a:tailEnd type="triangle" w="med" len="med"/>
          </a:ln>
        </p:spPr>
      </p:cxnSp>
      <p:sp>
        <p:nvSpPr>
          <p:cNvPr id="13" name="TextBox 12"/>
          <p:cNvSpPr txBox="1"/>
          <p:nvPr/>
        </p:nvSpPr>
        <p:spPr>
          <a:xfrm>
            <a:off x="731520" y="2697480"/>
            <a:ext cx="1417320" cy="274320"/>
          </a:xfrm>
          <a:prstGeom prst="rect">
            <a:avLst/>
          </a:prstGeom>
          <a:noFill/>
        </p:spPr>
        <p:txBody>
          <a:bodyPr wrap="square" lIns="36576" rIns="36576" tIns="18288" bIns="18288" anchor="t">
            <a:spAutoFit/>
          </a:bodyPr>
          <a:lstStyle/>
          <a:p>
            <a:pPr algn="r">
              <a:spcAft>
                <a:spcPts val="0"/>
              </a:spcAft>
            </a:pPr>
            <a:r>
              <a:rPr sz="1100" b="1">
                <a:solidFill>
                  <a:srgbClr val="0F766E"/>
                </a:solidFill>
                <a:latin typeface="맑은 고딕"/>
                <a:ea typeface="맑은 고딕"/>
                <a:cs typeface="맑은 고딕"/>
              </a:rPr>
              <a:t>HTTP/REST</a:t>
            </a:r>
          </a:p>
        </p:txBody>
      </p:sp>
      <p:cxnSp>
        <p:nvCxnSpPr>
          <p:cNvPr id="14" name="Connector 13"/>
          <p:cNvCxnSpPr/>
          <p:nvPr/>
        </p:nvCxnSpPr>
        <p:spPr>
          <a:xfrm>
            <a:off x="2011680" y="3456432"/>
            <a:ext cx="914400" cy="0"/>
          </a:xfrm>
          <a:prstGeom prst="line">
            <a:avLst/>
          </a:prstGeom>
          <a:ln w="22225">
            <a:solidFill>
              <a:srgbClr val="6D28D9"/>
            </a:solidFill>
            <a:round/>
            <a:headEnd type="triangle" w="med" len="med"/>
            <a:tailEnd type="triangle" w="med" len="med"/>
          </a:ln>
        </p:spPr>
      </p:cxnSp>
      <p:sp>
        <p:nvSpPr>
          <p:cNvPr id="15" name="TextBox 14"/>
          <p:cNvSpPr txBox="1"/>
          <p:nvPr/>
        </p:nvSpPr>
        <p:spPr>
          <a:xfrm>
            <a:off x="1965960" y="3127248"/>
            <a:ext cx="1005840" cy="274320"/>
          </a:xfrm>
          <a:prstGeom prst="rect">
            <a:avLst/>
          </a:prstGeom>
          <a:noFill/>
        </p:spPr>
        <p:txBody>
          <a:bodyPr wrap="square" lIns="36576" rIns="36576" tIns="18288" bIns="18288" anchor="t">
            <a:spAutoFit/>
          </a:bodyPr>
          <a:lstStyle/>
          <a:p>
            <a:pPr algn="ctr">
              <a:spcAft>
                <a:spcPts val="0"/>
              </a:spcAft>
            </a:pPr>
            <a:r>
              <a:rPr sz="1100" b="1">
                <a:solidFill>
                  <a:srgbClr val="6D28D9"/>
                </a:solidFill>
                <a:latin typeface="맑은 고딕"/>
                <a:ea typeface="맑은 고딕"/>
                <a:cs typeface="맑은 고딕"/>
              </a:rPr>
              <a:t>매칭 요청</a:t>
            </a:r>
          </a:p>
        </p:txBody>
      </p:sp>
      <p:cxnSp>
        <p:nvCxnSpPr>
          <p:cNvPr id="16" name="Connector 15"/>
          <p:cNvCxnSpPr/>
          <p:nvPr/>
        </p:nvCxnSpPr>
        <p:spPr>
          <a:xfrm>
            <a:off x="2011680" y="3703320"/>
            <a:ext cx="914400" cy="1097280"/>
          </a:xfrm>
          <a:prstGeom prst="line">
            <a:avLst/>
          </a:prstGeom>
          <a:ln w="22225">
            <a:solidFill>
              <a:srgbClr val="C2410C"/>
            </a:solidFill>
            <a:round/>
            <a:headEnd type="triangle" w="med" len="med"/>
            <a:tailEnd type="triangle" w="med" len="med"/>
          </a:ln>
        </p:spPr>
      </p:cxnSp>
      <p:sp>
        <p:nvSpPr>
          <p:cNvPr id="17" name="TextBox 16"/>
          <p:cNvSpPr txBox="1"/>
          <p:nvPr/>
        </p:nvSpPr>
        <p:spPr>
          <a:xfrm>
            <a:off x="731520" y="4069080"/>
            <a:ext cx="1508760" cy="274320"/>
          </a:xfrm>
          <a:prstGeom prst="rect">
            <a:avLst/>
          </a:prstGeom>
          <a:noFill/>
        </p:spPr>
        <p:txBody>
          <a:bodyPr wrap="square" lIns="36576" rIns="36576" tIns="18288" bIns="18288" anchor="t">
            <a:spAutoFit/>
          </a:bodyPr>
          <a:lstStyle/>
          <a:p>
            <a:pPr algn="r">
              <a:spcAft>
                <a:spcPts val="0"/>
              </a:spcAft>
            </a:pPr>
            <a:r>
              <a:rPr sz="1100" b="1">
                <a:solidFill>
                  <a:srgbClr val="C2410C"/>
                </a:solidFill>
                <a:latin typeface="맑은 고딕"/>
                <a:ea typeface="맑은 고딕"/>
                <a:cs typeface="맑은 고딕"/>
              </a:rPr>
              <a:t>실시간 통신</a:t>
            </a:r>
          </a:p>
        </p:txBody>
      </p:sp>
      <p:cxnSp>
        <p:nvCxnSpPr>
          <p:cNvPr id="18" name="Connector 17"/>
          <p:cNvCxnSpPr/>
          <p:nvPr/>
        </p:nvCxnSpPr>
        <p:spPr>
          <a:xfrm>
            <a:off x="4754880" y="1984248"/>
            <a:ext cx="685800" cy="0"/>
          </a:xfrm>
          <a:prstGeom prst="line">
            <a:avLst/>
          </a:prstGeom>
          <a:ln w="22225">
            <a:solidFill>
              <a:srgbClr val="475569"/>
            </a:solidFill>
            <a:round/>
            <a:headEnd type="triangle" w="med" len="med"/>
            <a:tailEnd type="triangle" w="med" len="med"/>
          </a:ln>
        </p:spPr>
      </p:cxnSp>
      <p:sp>
        <p:nvSpPr>
          <p:cNvPr id="19" name="Freeform 18"/>
          <p:cNvSpPr/>
          <p:nvPr/>
        </p:nvSpPr>
        <p:spPr>
          <a:xfrm>
            <a:off x="4754880" y="2240280"/>
            <a:ext cx="365760" cy="2514600"/>
          </a:xfrm>
          <a:custGeom>
            <a:avLst/>
            <a:gdLst/>
            <a:ahLst/>
            <a:cxnLst/>
            <a:rect l="l" t="t" r="r" b="b"/>
            <a:pathLst>
              <a:path w="365760" h="2514600">
                <a:moveTo>
                  <a:pt x="0" y="2514600"/>
                </a:moveTo>
                <a:lnTo>
                  <a:pt x="365760" y="2514600"/>
                </a:lnTo>
                <a:lnTo>
                  <a:pt x="365760" y="0"/>
                </a:lnTo>
                <a:lnTo>
                  <a:pt x="0" y="0"/>
                </a:lnTo>
              </a:path>
            </a:pathLst>
          </a:custGeom>
          <a:noFill/>
          <a:ln w="22225">
            <a:solidFill>
              <a:srgbClr val="C2410C"/>
            </a:solidFill>
            <a:round/>
            <a:tailEnd type="triangle" w="med" len="med"/>
          </a:ln>
        </p:spPr>
        <p:txBody>
          <a:bodyPr rtlCol="0" anchor="ctr"/>
          <a:lstStyle/>
          <a:p>
            <a:pPr algn="ctr"/>
          </a:p>
        </p:txBody>
      </p:sp>
      <p:sp>
        <p:nvSpPr>
          <p:cNvPr id="20" name="TextBox 19"/>
          <p:cNvSpPr txBox="1"/>
          <p:nvPr/>
        </p:nvSpPr>
        <p:spPr>
          <a:xfrm>
            <a:off x="5193792" y="3246120"/>
            <a:ext cx="1188720" cy="548640"/>
          </a:xfrm>
          <a:prstGeom prst="rect">
            <a:avLst/>
          </a:prstGeom>
          <a:noFill/>
        </p:spPr>
        <p:txBody>
          <a:bodyPr wrap="square" lIns="36576" rIns="36576" tIns="18288" bIns="18288" anchor="t">
            <a:spAutoFit/>
          </a:bodyPr>
          <a:lstStyle/>
          <a:p>
            <a:pPr algn="l">
              <a:spcAft>
                <a:spcPts val="0"/>
              </a:spcAft>
            </a:pPr>
            <a:r>
              <a:rPr sz="1100" b="1">
                <a:solidFill>
                  <a:srgbClr val="C2410C"/>
                </a:solidFill>
                <a:latin typeface="맑은 고딕"/>
                <a:ea typeface="맑은 고딕"/>
                <a:cs typeface="맑은 고딕"/>
              </a:rPr>
              <a:t>검증된</a:t>
            </a:r>
          </a:p>
          <a:p>
            <a:pPr algn="l">
              <a:spcAft>
                <a:spcPts val="0"/>
              </a:spcAft>
            </a:pPr>
            <a:r>
              <a:rPr sz="1100" b="1">
                <a:solidFill>
                  <a:srgbClr val="C2410C"/>
                </a:solidFill>
                <a:latin typeface="맑은 고딕"/>
                <a:ea typeface="맑은 고딕"/>
                <a:cs typeface="맑은 고딕"/>
              </a:rPr>
              <a:t>결과</a:t>
            </a:r>
          </a:p>
        </p:txBody>
      </p:sp>
      <p:graphicFrame>
        <p:nvGraphicFramePr>
          <p:cNvPr id="21" name="Table 20"/>
          <p:cNvGraphicFramePr>
            <a:graphicFrameLocks noGrp="1"/>
          </p:cNvGraphicFramePr>
          <p:nvPr/>
        </p:nvGraphicFramePr>
        <p:xfrm>
          <a:off x="6812280" y="1600200"/>
          <a:ext cx="4828032" cy="3310128"/>
        </p:xfrm>
        <a:graphic>
          <a:graphicData uri="http://schemas.openxmlformats.org/drawingml/2006/table">
            <a:tbl>
              <a:tblPr firstRow="1">
                <a:tableStyleId>{5C22544A-7EE6-4342-B048-85BDC9FD1C3A}</a:tableStyleId>
              </a:tblPr>
              <a:tblGrid>
                <a:gridCol w="1691640"/>
                <a:gridCol w="3136392"/>
              </a:tblGrid>
              <a:tr h="457200">
                <a:tc>
                  <a:txBody>
                    <a:bodyPr wrap="square"/>
                    <a:lstStyle/>
                    <a:p>
                      <a:pPr algn="l">
                        <a:spcAft>
                          <a:spcPts val="0"/>
                        </a:spcAft>
                      </a:pPr>
                      <a:r>
                        <a:rPr sz="1200" b="1">
                          <a:solidFill>
                            <a:srgbClr val="FFFFFF"/>
                          </a:solidFill>
                          <a:latin typeface="맑은 고딕"/>
                          <a:ea typeface="맑은 고딕"/>
                          <a:cs typeface="맑은 고딕"/>
                        </a:rPr>
                        <a:t>구성 요소</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한 줄 역할</a:t>
                      </a:r>
                    </a:p>
                  </a:txBody>
                  <a:tcPr marL="128016" marR="128016" marT="36576" marB="36576" anchor="ctr">
                    <a:solidFill>
                      <a:srgbClr val="1F2937"/>
                    </a:solidFill>
                  </a:tcPr>
                </a:tc>
              </a:tr>
              <a:tr h="713232">
                <a:tc>
                  <a:txBody>
                    <a:bodyPr wrap="square"/>
                    <a:lstStyle/>
                    <a:p>
                      <a:pPr algn="l">
                        <a:spcAft>
                          <a:spcPts val="0"/>
                        </a:spcAft>
                      </a:pPr>
                      <a:r>
                        <a:rPr sz="1300" b="1">
                          <a:solidFill>
                            <a:srgbClr val="0F766E"/>
                          </a:solidFill>
                          <a:latin typeface="맑은 고딕"/>
                          <a:ea typeface="맑은 고딕"/>
                          <a:cs typeface="맑은 고딕"/>
                        </a:rPr>
                        <a:t>API 서버</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요청을 받아 처리하고 응답한다</a:t>
                      </a:r>
                    </a:p>
                  </a:txBody>
                  <a:tcPr marL="128016" marR="128016" marT="36576" marB="36576" anchor="ctr">
                    <a:solidFill>
                      <a:srgbClr val="FFFFFF"/>
                    </a:solidFill>
                  </a:tcPr>
                </a:tc>
              </a:tr>
              <a:tr h="713232">
                <a:tc>
                  <a:txBody>
                    <a:bodyPr wrap="square"/>
                    <a:lstStyle/>
                    <a:p>
                      <a:pPr algn="l">
                        <a:spcAft>
                          <a:spcPts val="0"/>
                        </a:spcAft>
                      </a:pPr>
                      <a:r>
                        <a:rPr sz="1300" b="1">
                          <a:solidFill>
                            <a:srgbClr val="6D28D9"/>
                          </a:solidFill>
                          <a:latin typeface="맑은 고딕"/>
                          <a:ea typeface="맑은 고딕"/>
                          <a:cs typeface="맑은 고딕"/>
                        </a:rPr>
                        <a:t>매칭 서버</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대기열을 관리하고 게임 룸을 배정한다</a:t>
                      </a:r>
                    </a:p>
                  </a:txBody>
                  <a:tcPr marL="128016" marR="128016" marT="36576" marB="36576" anchor="ctr">
                    <a:solidFill>
                      <a:srgbClr val="F3F4F6"/>
                    </a:solidFill>
                  </a:tcPr>
                </a:tc>
              </a:tr>
              <a:tr h="713232">
                <a:tc>
                  <a:txBody>
                    <a:bodyPr wrap="square"/>
                    <a:lstStyle/>
                    <a:p>
                      <a:pPr algn="l">
                        <a:spcAft>
                          <a:spcPts val="0"/>
                        </a:spcAft>
                      </a:pPr>
                      <a:r>
                        <a:rPr sz="1300" b="1">
                          <a:solidFill>
                            <a:srgbClr val="C2410C"/>
                          </a:solidFill>
                          <a:latin typeface="맑은 고딕"/>
                          <a:ea typeface="맑은 고딕"/>
                          <a:cs typeface="맑은 고딕"/>
                        </a:rPr>
                        <a:t>실시간 게임 룸</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게임 중 이벤트와 상태를 교환한다</a:t>
                      </a:r>
                    </a:p>
                  </a:txBody>
                  <a:tcPr marL="128016" marR="128016" marT="36576" marB="36576" anchor="ctr">
                    <a:solidFill>
                      <a:srgbClr val="FFFFFF"/>
                    </a:solidFill>
                  </a:tcPr>
                </a:tc>
              </a:tr>
              <a:tr h="713232">
                <a:tc>
                  <a:txBody>
                    <a:bodyPr wrap="square"/>
                    <a:lstStyle/>
                    <a:p>
                      <a:pPr algn="l">
                        <a:spcAft>
                          <a:spcPts val="0"/>
                        </a:spcAft>
                      </a:pPr>
                      <a:r>
                        <a:rPr sz="1300" b="1">
                          <a:solidFill>
                            <a:srgbClr val="C2410C"/>
                          </a:solidFill>
                          <a:latin typeface="맑은 고딕"/>
                          <a:ea typeface="맑은 고딕"/>
                          <a:cs typeface="맑은 고딕"/>
                        </a:rPr>
                        <a:t>전용 게임 서버</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게임 상태 · 승패를 권한 있게 확정</a:t>
                      </a:r>
                    </a:p>
                  </a:txBody>
                  <a:tcPr marL="128016" marR="128016" marT="36576" marB="36576" anchor="ctr">
                    <a:solidFill>
                      <a:srgbClr val="F3F4F6"/>
                    </a:solidFill>
                  </a:tcPr>
                </a:tc>
              </a:tr>
            </a:tbl>
          </a:graphicData>
        </a:graphic>
      </p:graphicFrame>
      <p:sp>
        <p:nvSpPr>
          <p:cNvPr id="22" name="Rounded Rectangle 21"/>
          <p:cNvSpPr/>
          <p:nvPr/>
        </p:nvSpPr>
        <p:spPr>
          <a:xfrm>
            <a:off x="548640" y="5532120"/>
            <a:ext cx="11091672" cy="640080"/>
          </a:xfrm>
          <a:prstGeom prst="roundRect">
            <a:avLst>
              <a:gd name="adj" fmla="val 12000"/>
            </a:avLst>
          </a:prstGeom>
          <a:solidFill>
            <a:srgbClr val="EFF6FF"/>
          </a:solidFill>
          <a:ln>
            <a:noFill/>
          </a:ln>
        </p:spPr>
        <p:txBody>
          <a:bodyPr rtlCol="0" anchor="ctr" wrap="square" lIns="228600" rIns="228600" tIns="36576" bIns="36576"/>
          <a:lstStyle/>
          <a:p>
            <a:pPr algn="l">
              <a:spcAft>
                <a:spcPts val="0"/>
              </a:spcAft>
            </a:pPr>
            <a:r>
              <a:rPr sz="1500" b="0">
                <a:solidFill>
                  <a:srgbClr val="1F2937"/>
                </a:solidFill>
                <a:latin typeface="맑은 고딕"/>
                <a:ea typeface="맑은 고딕"/>
                <a:cs typeface="맑은 고딕"/>
              </a:rPr>
              <a:t>작은 프로젝트에서는 여러 역할이 하나의 서비스에 합쳐질 수 있다.  </a:t>
            </a:r>
            <a:r>
              <a:rPr sz="1500" b="1">
                <a:solidFill>
                  <a:srgbClr val="2563EB"/>
                </a:solidFill>
                <a:latin typeface="맑은 고딕"/>
                <a:ea typeface="맑은 고딕"/>
                <a:cs typeface="맑은 고딕"/>
              </a:rPr>
              <a:t>→ 이름보다 책임과 데이터 흐름을 먼저 나눈다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API 서버는 요청과 응답을 처리한다</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6 / 22</a:t>
            </a:r>
          </a:p>
        </p:txBody>
      </p:sp>
      <p:sp>
        <p:nvSpPr>
          <p:cNvPr id="6" name="Rounded Rectangle 5"/>
          <p:cNvSpPr/>
          <p:nvPr/>
        </p:nvSpPr>
        <p:spPr>
          <a:xfrm>
            <a:off x="548640" y="1554480"/>
            <a:ext cx="1417320" cy="475488"/>
          </a:xfrm>
          <a:prstGeom prst="roundRect">
            <a:avLst>
              <a:gd name="adj" fmla="val 12000"/>
            </a:avLst>
          </a:prstGeom>
          <a:solidFill>
            <a:srgbClr val="DBEAFE"/>
          </a:solidFill>
          <a:ln w="12700">
            <a:solidFill>
              <a:srgbClr val="2563EB"/>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클라이언트</a:t>
            </a:r>
          </a:p>
        </p:txBody>
      </p:sp>
      <p:cxnSp>
        <p:nvCxnSpPr>
          <p:cNvPr id="7" name="Connector 6"/>
          <p:cNvCxnSpPr/>
          <p:nvPr/>
        </p:nvCxnSpPr>
        <p:spPr>
          <a:xfrm>
            <a:off x="2011680" y="1792224"/>
            <a:ext cx="320040" cy="0"/>
          </a:xfrm>
          <a:prstGeom prst="line">
            <a:avLst/>
          </a:prstGeom>
          <a:ln w="22225">
            <a:solidFill>
              <a:srgbClr val="6B7280"/>
            </a:solidFill>
            <a:round/>
            <a:tailEnd type="triangle" w="med" len="med"/>
          </a:ln>
        </p:spPr>
      </p:cxnSp>
      <p:sp>
        <p:nvSpPr>
          <p:cNvPr id="8" name="Rounded Rectangle 7"/>
          <p:cNvSpPr/>
          <p:nvPr/>
        </p:nvSpPr>
        <p:spPr>
          <a:xfrm>
            <a:off x="2377440" y="1554480"/>
            <a:ext cx="2194560" cy="475488"/>
          </a:xfrm>
          <a:prstGeom prst="roundRect">
            <a:avLst>
              <a:gd name="adj" fmla="val 12000"/>
            </a:avLst>
          </a:prstGeom>
          <a:solidFill>
            <a:srgbClr val="1E293B"/>
          </a:solidFill>
          <a:ln>
            <a:noFill/>
          </a:ln>
        </p:spPr>
        <p:txBody>
          <a:bodyPr rtlCol="0" anchor="ctr" wrap="square" tIns="36576" bIns="36576"/>
          <a:lstStyle/>
          <a:p>
            <a:pPr algn="ctr">
              <a:spcAft>
                <a:spcPts val="0"/>
              </a:spcAft>
            </a:pPr>
            <a:r>
              <a:rPr sz="1500" b="1">
                <a:solidFill>
                  <a:srgbClr val="FFFFFF"/>
                </a:solidFill>
                <a:latin typeface="Consolas"/>
                <a:ea typeface="Consolas"/>
                <a:cs typeface="Consolas"/>
              </a:rPr>
              <a:t>POST /login</a:t>
            </a:r>
          </a:p>
        </p:txBody>
      </p:sp>
      <p:cxnSp>
        <p:nvCxnSpPr>
          <p:cNvPr id="9" name="Connector 8"/>
          <p:cNvCxnSpPr/>
          <p:nvPr/>
        </p:nvCxnSpPr>
        <p:spPr>
          <a:xfrm>
            <a:off x="4617720" y="1792224"/>
            <a:ext cx="320040" cy="0"/>
          </a:xfrm>
          <a:prstGeom prst="line">
            <a:avLst/>
          </a:prstGeom>
          <a:ln w="22225">
            <a:solidFill>
              <a:srgbClr val="6B7280"/>
            </a:solidFill>
            <a:round/>
            <a:tailEnd type="triangle" w="med" len="med"/>
          </a:ln>
        </p:spPr>
      </p:cxnSp>
      <p:sp>
        <p:nvSpPr>
          <p:cNvPr id="10" name="Rounded Rectangle 9"/>
          <p:cNvSpPr/>
          <p:nvPr/>
        </p:nvSpPr>
        <p:spPr>
          <a:xfrm>
            <a:off x="4983480" y="1554480"/>
            <a:ext cx="1417320" cy="475488"/>
          </a:xfrm>
          <a:prstGeom prst="roundRect">
            <a:avLst>
              <a:gd name="adj" fmla="val 12000"/>
            </a:avLst>
          </a:prstGeom>
          <a:solidFill>
            <a:srgbClr val="CCFBF1"/>
          </a:solidFill>
          <a:ln w="12700">
            <a:solidFill>
              <a:srgbClr val="0F766E"/>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API 서버</a:t>
            </a:r>
          </a:p>
        </p:txBody>
      </p:sp>
      <p:cxnSp>
        <p:nvCxnSpPr>
          <p:cNvPr id="11" name="Connector 10"/>
          <p:cNvCxnSpPr/>
          <p:nvPr/>
        </p:nvCxnSpPr>
        <p:spPr>
          <a:xfrm>
            <a:off x="6446520" y="1792224"/>
            <a:ext cx="320040" cy="0"/>
          </a:xfrm>
          <a:prstGeom prst="line">
            <a:avLst/>
          </a:prstGeom>
          <a:ln w="22225">
            <a:solidFill>
              <a:srgbClr val="6B7280"/>
            </a:solidFill>
            <a:round/>
            <a:tailEnd type="triangle" w="med" len="med"/>
          </a:ln>
        </p:spPr>
      </p:cxnSp>
      <p:sp>
        <p:nvSpPr>
          <p:cNvPr id="12" name="TextBox 11"/>
          <p:cNvSpPr txBox="1"/>
          <p:nvPr/>
        </p:nvSpPr>
        <p:spPr>
          <a:xfrm>
            <a:off x="6858000" y="1554480"/>
            <a:ext cx="2743200" cy="475488"/>
          </a:xfrm>
          <a:prstGeom prst="rect">
            <a:avLst/>
          </a:prstGeom>
          <a:noFill/>
        </p:spPr>
        <p:txBody>
          <a:bodyPr wrap="square" lIns="36576" rIns="36576" tIns="18288" bIns="18288" anchor="ctr">
            <a:spAutoFit/>
          </a:bodyPr>
          <a:lstStyle/>
          <a:p>
            <a:pPr algn="l">
              <a:spcAft>
                <a:spcPts val="0"/>
              </a:spcAft>
            </a:pPr>
            <a:r>
              <a:rPr sz="1500" b="1">
                <a:solidFill>
                  <a:srgbClr val="1F2937"/>
                </a:solidFill>
                <a:latin typeface="맑은 고딕"/>
                <a:ea typeface="맑은 고딕"/>
                <a:cs typeface="맑은 고딕"/>
              </a:rPr>
              <a:t>인증 · 프로필 확인</a:t>
            </a:r>
          </a:p>
        </p:txBody>
      </p:sp>
      <p:sp>
        <p:nvSpPr>
          <p:cNvPr id="13" name="Rounded Rectangle 12"/>
          <p:cNvSpPr/>
          <p:nvPr/>
        </p:nvSpPr>
        <p:spPr>
          <a:xfrm>
            <a:off x="548640" y="2176272"/>
            <a:ext cx="1417320" cy="475488"/>
          </a:xfrm>
          <a:prstGeom prst="roundRect">
            <a:avLst>
              <a:gd name="adj" fmla="val 12000"/>
            </a:avLst>
          </a:prstGeom>
          <a:solidFill>
            <a:srgbClr val="DBEAFE"/>
          </a:solidFill>
          <a:ln w="12700">
            <a:solidFill>
              <a:srgbClr val="2563EB"/>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클라이언트</a:t>
            </a:r>
          </a:p>
        </p:txBody>
      </p:sp>
      <p:cxnSp>
        <p:nvCxnSpPr>
          <p:cNvPr id="14" name="Connector 13"/>
          <p:cNvCxnSpPr/>
          <p:nvPr/>
        </p:nvCxnSpPr>
        <p:spPr>
          <a:xfrm>
            <a:off x="2011680" y="2414015"/>
            <a:ext cx="320040" cy="0"/>
          </a:xfrm>
          <a:prstGeom prst="line">
            <a:avLst/>
          </a:prstGeom>
          <a:ln w="22225">
            <a:solidFill>
              <a:srgbClr val="6B7280"/>
            </a:solidFill>
            <a:round/>
            <a:tailEnd type="triangle" w="med" len="med"/>
          </a:ln>
        </p:spPr>
      </p:cxnSp>
      <p:sp>
        <p:nvSpPr>
          <p:cNvPr id="15" name="Rounded Rectangle 14"/>
          <p:cNvSpPr/>
          <p:nvPr/>
        </p:nvSpPr>
        <p:spPr>
          <a:xfrm>
            <a:off x="2377440" y="2176272"/>
            <a:ext cx="2194560" cy="475488"/>
          </a:xfrm>
          <a:prstGeom prst="roundRect">
            <a:avLst>
              <a:gd name="adj" fmla="val 12000"/>
            </a:avLst>
          </a:prstGeom>
          <a:solidFill>
            <a:srgbClr val="1E293B"/>
          </a:solidFill>
          <a:ln>
            <a:noFill/>
          </a:ln>
        </p:spPr>
        <p:txBody>
          <a:bodyPr rtlCol="0" anchor="ctr" wrap="square" tIns="36576" bIns="36576"/>
          <a:lstStyle/>
          <a:p>
            <a:pPr algn="ctr">
              <a:spcAft>
                <a:spcPts val="0"/>
              </a:spcAft>
            </a:pPr>
            <a:r>
              <a:rPr sz="1500" b="1">
                <a:solidFill>
                  <a:srgbClr val="FFFFFF"/>
                </a:solidFill>
                <a:latin typeface="Consolas"/>
                <a:ea typeface="Consolas"/>
                <a:cs typeface="Consolas"/>
              </a:rPr>
              <a:t>GET /profile</a:t>
            </a:r>
          </a:p>
        </p:txBody>
      </p:sp>
      <p:cxnSp>
        <p:nvCxnSpPr>
          <p:cNvPr id="16" name="Connector 15"/>
          <p:cNvCxnSpPr/>
          <p:nvPr/>
        </p:nvCxnSpPr>
        <p:spPr>
          <a:xfrm>
            <a:off x="4617720" y="2414015"/>
            <a:ext cx="320040" cy="0"/>
          </a:xfrm>
          <a:prstGeom prst="line">
            <a:avLst/>
          </a:prstGeom>
          <a:ln w="22225">
            <a:solidFill>
              <a:srgbClr val="6B7280"/>
            </a:solidFill>
            <a:round/>
            <a:tailEnd type="triangle" w="med" len="med"/>
          </a:ln>
        </p:spPr>
      </p:cxnSp>
      <p:sp>
        <p:nvSpPr>
          <p:cNvPr id="17" name="Rounded Rectangle 16"/>
          <p:cNvSpPr/>
          <p:nvPr/>
        </p:nvSpPr>
        <p:spPr>
          <a:xfrm>
            <a:off x="4983480" y="2176272"/>
            <a:ext cx="1417320" cy="475488"/>
          </a:xfrm>
          <a:prstGeom prst="roundRect">
            <a:avLst>
              <a:gd name="adj" fmla="val 12000"/>
            </a:avLst>
          </a:prstGeom>
          <a:solidFill>
            <a:srgbClr val="CCFBF1"/>
          </a:solidFill>
          <a:ln w="12700">
            <a:solidFill>
              <a:srgbClr val="0F766E"/>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API 서버</a:t>
            </a:r>
          </a:p>
        </p:txBody>
      </p:sp>
      <p:cxnSp>
        <p:nvCxnSpPr>
          <p:cNvPr id="18" name="Connector 17"/>
          <p:cNvCxnSpPr/>
          <p:nvPr/>
        </p:nvCxnSpPr>
        <p:spPr>
          <a:xfrm>
            <a:off x="6446520" y="2414015"/>
            <a:ext cx="320040" cy="0"/>
          </a:xfrm>
          <a:prstGeom prst="line">
            <a:avLst/>
          </a:prstGeom>
          <a:ln w="22225">
            <a:solidFill>
              <a:srgbClr val="6B7280"/>
            </a:solidFill>
            <a:round/>
            <a:tailEnd type="triangle" w="med" len="med"/>
          </a:ln>
        </p:spPr>
      </p:cxnSp>
      <p:sp>
        <p:nvSpPr>
          <p:cNvPr id="19" name="TextBox 18"/>
          <p:cNvSpPr txBox="1"/>
          <p:nvPr/>
        </p:nvSpPr>
        <p:spPr>
          <a:xfrm>
            <a:off x="6858000" y="2176272"/>
            <a:ext cx="2743200" cy="475488"/>
          </a:xfrm>
          <a:prstGeom prst="rect">
            <a:avLst/>
          </a:prstGeom>
          <a:noFill/>
        </p:spPr>
        <p:txBody>
          <a:bodyPr wrap="square" lIns="36576" rIns="36576" tIns="18288" bIns="18288" anchor="ctr">
            <a:spAutoFit/>
          </a:bodyPr>
          <a:lstStyle/>
          <a:p>
            <a:pPr algn="l">
              <a:spcAft>
                <a:spcPts val="0"/>
              </a:spcAft>
            </a:pPr>
            <a:r>
              <a:rPr sz="1500" b="1">
                <a:solidFill>
                  <a:srgbClr val="1F2937"/>
                </a:solidFill>
                <a:latin typeface="맑은 고딕"/>
                <a:ea typeface="맑은 고딕"/>
                <a:cs typeface="맑은 고딕"/>
              </a:rPr>
              <a:t>프로필 반환</a:t>
            </a:r>
          </a:p>
        </p:txBody>
      </p:sp>
      <p:sp>
        <p:nvSpPr>
          <p:cNvPr id="20" name="Rounded Rectangle 19"/>
          <p:cNvSpPr/>
          <p:nvPr/>
        </p:nvSpPr>
        <p:spPr>
          <a:xfrm>
            <a:off x="548640" y="2798064"/>
            <a:ext cx="1417320" cy="475488"/>
          </a:xfrm>
          <a:prstGeom prst="roundRect">
            <a:avLst>
              <a:gd name="adj" fmla="val 12000"/>
            </a:avLst>
          </a:prstGeom>
          <a:solidFill>
            <a:srgbClr val="DBEAFE"/>
          </a:solidFill>
          <a:ln w="12700">
            <a:solidFill>
              <a:srgbClr val="2563EB"/>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클라이언트</a:t>
            </a:r>
          </a:p>
        </p:txBody>
      </p:sp>
      <p:cxnSp>
        <p:nvCxnSpPr>
          <p:cNvPr id="21" name="Connector 20"/>
          <p:cNvCxnSpPr/>
          <p:nvPr/>
        </p:nvCxnSpPr>
        <p:spPr>
          <a:xfrm>
            <a:off x="2011680" y="3035808"/>
            <a:ext cx="320040" cy="0"/>
          </a:xfrm>
          <a:prstGeom prst="line">
            <a:avLst/>
          </a:prstGeom>
          <a:ln w="22225">
            <a:solidFill>
              <a:srgbClr val="6B7280"/>
            </a:solidFill>
            <a:round/>
            <a:tailEnd type="triangle" w="med" len="med"/>
          </a:ln>
        </p:spPr>
      </p:cxnSp>
      <p:sp>
        <p:nvSpPr>
          <p:cNvPr id="22" name="Rounded Rectangle 21"/>
          <p:cNvSpPr/>
          <p:nvPr/>
        </p:nvSpPr>
        <p:spPr>
          <a:xfrm>
            <a:off x="2377440" y="2798064"/>
            <a:ext cx="2194560" cy="475488"/>
          </a:xfrm>
          <a:prstGeom prst="roundRect">
            <a:avLst>
              <a:gd name="adj" fmla="val 12000"/>
            </a:avLst>
          </a:prstGeom>
          <a:solidFill>
            <a:srgbClr val="1E293B"/>
          </a:solidFill>
          <a:ln>
            <a:noFill/>
          </a:ln>
        </p:spPr>
        <p:txBody>
          <a:bodyPr rtlCol="0" anchor="ctr" wrap="square" tIns="36576" bIns="36576"/>
          <a:lstStyle/>
          <a:p>
            <a:pPr algn="ctr">
              <a:spcAft>
                <a:spcPts val="0"/>
              </a:spcAft>
            </a:pPr>
            <a:r>
              <a:rPr sz="1500" b="1">
                <a:solidFill>
                  <a:srgbClr val="FFFFFF"/>
                </a:solidFill>
                <a:latin typeface="Consolas"/>
                <a:ea typeface="Consolas"/>
                <a:cs typeface="Consolas"/>
              </a:rPr>
              <a:t>POST /result</a:t>
            </a:r>
          </a:p>
        </p:txBody>
      </p:sp>
      <p:cxnSp>
        <p:nvCxnSpPr>
          <p:cNvPr id="23" name="Connector 22"/>
          <p:cNvCxnSpPr/>
          <p:nvPr/>
        </p:nvCxnSpPr>
        <p:spPr>
          <a:xfrm>
            <a:off x="4617720" y="3035808"/>
            <a:ext cx="320040" cy="0"/>
          </a:xfrm>
          <a:prstGeom prst="line">
            <a:avLst/>
          </a:prstGeom>
          <a:ln w="22225">
            <a:solidFill>
              <a:srgbClr val="6B7280"/>
            </a:solidFill>
            <a:round/>
            <a:tailEnd type="triangle" w="med" len="med"/>
          </a:ln>
        </p:spPr>
      </p:cxnSp>
      <p:sp>
        <p:nvSpPr>
          <p:cNvPr id="24" name="Rounded Rectangle 23"/>
          <p:cNvSpPr/>
          <p:nvPr/>
        </p:nvSpPr>
        <p:spPr>
          <a:xfrm>
            <a:off x="4983480" y="2798064"/>
            <a:ext cx="1417320" cy="475488"/>
          </a:xfrm>
          <a:prstGeom prst="roundRect">
            <a:avLst>
              <a:gd name="adj" fmla="val 12000"/>
            </a:avLst>
          </a:prstGeom>
          <a:solidFill>
            <a:srgbClr val="CCFBF1"/>
          </a:solidFill>
          <a:ln w="12700">
            <a:solidFill>
              <a:srgbClr val="0F766E"/>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API 서버</a:t>
            </a:r>
          </a:p>
        </p:txBody>
      </p:sp>
      <p:cxnSp>
        <p:nvCxnSpPr>
          <p:cNvPr id="25" name="Connector 24"/>
          <p:cNvCxnSpPr/>
          <p:nvPr/>
        </p:nvCxnSpPr>
        <p:spPr>
          <a:xfrm>
            <a:off x="6446520" y="3035808"/>
            <a:ext cx="320040" cy="0"/>
          </a:xfrm>
          <a:prstGeom prst="line">
            <a:avLst/>
          </a:prstGeom>
          <a:ln w="22225">
            <a:solidFill>
              <a:srgbClr val="6B7280"/>
            </a:solidFill>
            <a:round/>
            <a:tailEnd type="triangle" w="med" len="med"/>
          </a:ln>
        </p:spPr>
      </p:cxnSp>
      <p:sp>
        <p:nvSpPr>
          <p:cNvPr id="26" name="TextBox 25"/>
          <p:cNvSpPr txBox="1"/>
          <p:nvPr/>
        </p:nvSpPr>
        <p:spPr>
          <a:xfrm>
            <a:off x="6858000" y="2798064"/>
            <a:ext cx="2743200" cy="475488"/>
          </a:xfrm>
          <a:prstGeom prst="rect">
            <a:avLst/>
          </a:prstGeom>
          <a:noFill/>
        </p:spPr>
        <p:txBody>
          <a:bodyPr wrap="square" lIns="36576" rIns="36576" tIns="18288" bIns="18288" anchor="ctr">
            <a:spAutoFit/>
          </a:bodyPr>
          <a:lstStyle/>
          <a:p>
            <a:pPr algn="l">
              <a:spcAft>
                <a:spcPts val="0"/>
              </a:spcAft>
            </a:pPr>
            <a:r>
              <a:rPr sz="1500" b="1">
                <a:solidFill>
                  <a:srgbClr val="1F2937"/>
                </a:solidFill>
                <a:latin typeface="맑은 고딕"/>
                <a:ea typeface="맑은 고딕"/>
                <a:cs typeface="맑은 고딕"/>
              </a:rPr>
              <a:t>결과 검증 · 저장</a:t>
            </a:r>
          </a:p>
        </p:txBody>
      </p:sp>
      <p:sp>
        <p:nvSpPr>
          <p:cNvPr id="27" name="TextBox 26"/>
          <p:cNvSpPr txBox="1"/>
          <p:nvPr/>
        </p:nvSpPr>
        <p:spPr>
          <a:xfrm>
            <a:off x="9418320" y="1554480"/>
            <a:ext cx="2221992" cy="173736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로그인 · 프로필</a:t>
            </a:r>
          </a:p>
          <a:p>
            <a:pPr algn="l">
              <a:spcAft>
                <a:spcPts val="0"/>
              </a:spcAft>
            </a:pPr>
            <a:r>
              <a:rPr sz="1300" b="0">
                <a:solidFill>
                  <a:srgbClr val="6B7280"/>
                </a:solidFill>
                <a:latin typeface="맑은 고딕"/>
                <a:ea typeface="맑은 고딕"/>
                <a:cs typeface="맑은 고딕"/>
              </a:rPr>
              <a:t>인벤토리 · 상점</a:t>
            </a:r>
          </a:p>
          <a:p>
            <a:pPr algn="l">
              <a:spcAft>
                <a:spcPts val="0"/>
              </a:spcAft>
            </a:pPr>
            <a:r>
              <a:rPr sz="1300" b="0">
                <a:solidFill>
                  <a:srgbClr val="6B7280"/>
                </a:solidFill>
                <a:latin typeface="맑은 고딕"/>
                <a:ea typeface="맑은 고딕"/>
                <a:cs typeface="맑은 고딕"/>
              </a:rPr>
              <a:t>전적 · 보상</a:t>
            </a:r>
          </a:p>
          <a:p>
            <a:pPr algn="l">
              <a:spcAft>
                <a:spcPts val="0"/>
              </a:spcAft>
            </a:pPr>
            <a:r>
              <a:rPr sz="1300" b="0">
                <a:solidFill>
                  <a:srgbClr val="6B7280"/>
                </a:solidFill>
                <a:latin typeface="맑은 고딕"/>
                <a:ea typeface="맑은 고딕"/>
                <a:cs typeface="맑은 고딕"/>
              </a:rPr>
              <a:t/>
            </a:r>
          </a:p>
          <a:p>
            <a:pPr algn="l">
              <a:spcAft>
                <a:spcPts val="0"/>
              </a:spcAft>
            </a:pPr>
            <a:r>
              <a:rPr sz="1300" b="0">
                <a:solidFill>
                  <a:srgbClr val="6B7280"/>
                </a:solidFill>
                <a:latin typeface="맑은 고딕"/>
                <a:ea typeface="맑은 고딕"/>
                <a:cs typeface="맑은 고딕"/>
              </a:rPr>
              <a:t>즉시 답을 받는 업무에 적합</a:t>
            </a:r>
          </a:p>
        </p:txBody>
      </p:sp>
      <p:sp>
        <p:nvSpPr>
          <p:cNvPr id="28" name="Rounded Rectangle 27"/>
          <p:cNvSpPr/>
          <p:nvPr/>
        </p:nvSpPr>
        <p:spPr>
          <a:xfrm>
            <a:off x="548640" y="3611880"/>
            <a:ext cx="5440680" cy="2514600"/>
          </a:xfrm>
          <a:prstGeom prst="roundRect">
            <a:avLst>
              <a:gd name="adj" fmla="val 5000"/>
            </a:avLst>
          </a:prstGeom>
          <a:solidFill>
            <a:srgbClr val="FFF7ED"/>
          </a:solidFill>
          <a:ln w="12700">
            <a:solidFill>
              <a:srgbClr val="FED7AA"/>
            </a:solidFill>
          </a:ln>
        </p:spPr>
        <p:txBody>
          <a:bodyPr rtlCol="0" anchor="ctr" wrap="square" tIns="36576" bIns="36576"/>
          <a:lstStyle/>
          <a:p>
            <a:pPr algn="ctr"/>
          </a:p>
        </p:txBody>
      </p:sp>
      <p:sp>
        <p:nvSpPr>
          <p:cNvPr id="29" name="Oval 28"/>
          <p:cNvSpPr/>
          <p:nvPr/>
        </p:nvSpPr>
        <p:spPr>
          <a:xfrm>
            <a:off x="777240" y="3794760"/>
            <a:ext cx="384048" cy="384048"/>
          </a:xfrm>
          <a:prstGeom prst="ellipse">
            <a:avLst/>
          </a:prstGeom>
          <a:solidFill>
            <a:srgbClr val="C2410C"/>
          </a:solidFill>
          <a:ln>
            <a:noFill/>
          </a:ln>
        </p:spPr>
        <p:txBody>
          <a:bodyPr rtlCol="0" anchor="ctr" wrap="square" lIns="0" rIns="0" tIns="36576" bIns="36576"/>
          <a:lstStyle/>
          <a:p>
            <a:pPr algn="ctr">
              <a:spcAft>
                <a:spcPts val="0"/>
              </a:spcAft>
            </a:pPr>
            <a:r>
              <a:rPr sz="1600" b="1">
                <a:solidFill>
                  <a:srgbClr val="FFFFFF"/>
                </a:solidFill>
                <a:latin typeface="맑은 고딕"/>
                <a:ea typeface="맑은 고딕"/>
                <a:cs typeface="맑은 고딕"/>
              </a:rPr>
              <a:t>!</a:t>
            </a:r>
          </a:p>
        </p:txBody>
      </p:sp>
      <p:sp>
        <p:nvSpPr>
          <p:cNvPr id="30" name="TextBox 29"/>
          <p:cNvSpPr txBox="1"/>
          <p:nvPr/>
        </p:nvSpPr>
        <p:spPr>
          <a:xfrm>
            <a:off x="1280160" y="3767328"/>
            <a:ext cx="4572000" cy="457200"/>
          </a:xfrm>
          <a:prstGeom prst="rect">
            <a:avLst/>
          </a:prstGeom>
          <a:noFill/>
        </p:spPr>
        <p:txBody>
          <a:bodyPr wrap="square" lIns="36576" rIns="36576" tIns="18288" bIns="18288" anchor="t">
            <a:spAutoFit/>
          </a:bodyPr>
          <a:lstStyle/>
          <a:p>
            <a:pPr algn="l">
              <a:spcAft>
                <a:spcPts val="0"/>
              </a:spcAft>
            </a:pPr>
            <a:r>
              <a:rPr sz="1900" b="1">
                <a:solidFill>
                  <a:srgbClr val="C2410C"/>
                </a:solidFill>
                <a:latin typeface="맑은 고딕"/>
                <a:ea typeface="맑은 고딕"/>
                <a:cs typeface="맑은 고딕"/>
              </a:rPr>
              <a:t>두 번 눌러도 한 번만 처리</a:t>
            </a:r>
          </a:p>
        </p:txBody>
      </p:sp>
      <p:sp>
        <p:nvSpPr>
          <p:cNvPr id="31" name="TextBox 30"/>
          <p:cNvSpPr txBox="1"/>
          <p:nvPr/>
        </p:nvSpPr>
        <p:spPr>
          <a:xfrm>
            <a:off x="777240" y="4343400"/>
            <a:ext cx="5029200" cy="1737360"/>
          </a:xfrm>
          <a:prstGeom prst="rect">
            <a:avLst/>
          </a:prstGeom>
          <a:noFill/>
        </p:spPr>
        <p:txBody>
          <a:bodyPr wrap="square" lIns="36576" rIns="36576" tIns="18288" bIns="18288" anchor="t">
            <a:spAutoFit/>
          </a:bodyPr>
          <a:lstStyle/>
          <a:p>
            <a:pPr algn="l">
              <a:spcAft>
                <a:spcPts val="600"/>
              </a:spcAft>
            </a:pPr>
            <a:r>
              <a:rPr sz="1400" b="1">
                <a:solidFill>
                  <a:srgbClr val="1F2937"/>
                </a:solidFill>
                <a:latin typeface="맑은 고딕"/>
                <a:ea typeface="맑은 고딕"/>
                <a:cs typeface="맑은 고딕"/>
              </a:rPr>
              <a:t>상황  </a:t>
            </a:r>
            <a:r>
              <a:rPr sz="1400" b="0">
                <a:solidFill>
                  <a:srgbClr val="1F2937"/>
                </a:solidFill>
                <a:latin typeface="맑은 고딕"/>
                <a:ea typeface="맑은 고딕"/>
                <a:cs typeface="맑은 고딕"/>
              </a:rPr>
              <a:t>응답을 못 받은 클라이언트가 보상 요청을 다시 보냄</a:t>
            </a:r>
          </a:p>
          <a:p>
            <a:pPr algn="l">
              <a:spcAft>
                <a:spcPts val="600"/>
              </a:spcAft>
            </a:pPr>
            <a:r>
              <a:rPr sz="1400" b="1">
                <a:solidFill>
                  <a:srgbClr val="1F2937"/>
                </a:solidFill>
                <a:latin typeface="맑은 고딕"/>
                <a:ea typeface="맑은 고딕"/>
                <a:cs typeface="맑은 고딕"/>
              </a:rPr>
              <a:t>위험  </a:t>
            </a:r>
            <a:r>
              <a:rPr sz="1400" b="0">
                <a:solidFill>
                  <a:srgbClr val="1F2937"/>
                </a:solidFill>
                <a:latin typeface="맑은 고딕"/>
                <a:ea typeface="맑은 고딕"/>
                <a:cs typeface="맑은 고딕"/>
              </a:rPr>
              <a:t>첫 요청은 이미 처리됨 → 보상 2번 지급</a:t>
            </a:r>
          </a:p>
          <a:p>
            <a:pPr algn="l">
              <a:spcAft>
                <a:spcPts val="600"/>
              </a:spcAft>
            </a:pPr>
            <a:r>
              <a:rPr sz="1400" b="1">
                <a:solidFill>
                  <a:srgbClr val="1F2937"/>
                </a:solidFill>
                <a:latin typeface="맑은 고딕"/>
                <a:ea typeface="맑은 고딕"/>
                <a:cs typeface="맑은 고딕"/>
              </a:rPr>
              <a:t>해결  </a:t>
            </a:r>
            <a:r>
              <a:rPr sz="1400" b="0">
                <a:solidFill>
                  <a:srgbClr val="1F2937"/>
                </a:solidFill>
                <a:latin typeface="맑은 고딕"/>
                <a:ea typeface="맑은 고딕"/>
                <a:cs typeface="맑은 고딕"/>
              </a:rPr>
              <a:t>요청 ID로 처리 기록을 남기고 첫 결과를 다시 반환 (멱등성)</a:t>
            </a:r>
          </a:p>
        </p:txBody>
      </p:sp>
      <p:sp>
        <p:nvSpPr>
          <p:cNvPr id="32" name="TextBox 31"/>
          <p:cNvSpPr txBox="1"/>
          <p:nvPr/>
        </p:nvSpPr>
        <p:spPr>
          <a:xfrm>
            <a:off x="6263640" y="3611880"/>
            <a:ext cx="539496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API 문서에 함께 적을 4가지</a:t>
            </a:r>
          </a:p>
        </p:txBody>
      </p:sp>
      <p:sp>
        <p:nvSpPr>
          <p:cNvPr id="33" name="Rounded Rectangle 32"/>
          <p:cNvSpPr/>
          <p:nvPr/>
        </p:nvSpPr>
        <p:spPr>
          <a:xfrm>
            <a:off x="6263640" y="4069080"/>
            <a:ext cx="2633472" cy="960120"/>
          </a:xfrm>
          <a:prstGeom prst="roundRect">
            <a:avLst>
              <a:gd name="adj" fmla="val 8000"/>
            </a:avLst>
          </a:prstGeom>
          <a:solidFill>
            <a:srgbClr val="F8FAFC"/>
          </a:solidFill>
          <a:ln w="12700">
            <a:solidFill>
              <a:srgbClr val="E5E7EB"/>
            </a:solidFill>
          </a:ln>
        </p:spPr>
        <p:txBody>
          <a:bodyPr rtlCol="0" anchor="ctr" wrap="square" tIns="36576" bIns="36576"/>
          <a:lstStyle/>
          <a:p>
            <a:pPr algn="ctr"/>
          </a:p>
        </p:txBody>
      </p:sp>
      <p:sp>
        <p:nvSpPr>
          <p:cNvPr id="34" name="TextBox 33"/>
          <p:cNvSpPr txBox="1"/>
          <p:nvPr/>
        </p:nvSpPr>
        <p:spPr>
          <a:xfrm>
            <a:off x="6400800" y="4160520"/>
            <a:ext cx="2377440" cy="320040"/>
          </a:xfrm>
          <a:prstGeom prst="rect">
            <a:avLst/>
          </a:prstGeom>
          <a:noFill/>
        </p:spPr>
        <p:txBody>
          <a:bodyPr wrap="square" lIns="36576" rIns="36576" tIns="18288" bIns="18288" anchor="t">
            <a:spAutoFit/>
          </a:bodyPr>
          <a:lstStyle/>
          <a:p>
            <a:pPr algn="l">
              <a:spcAft>
                <a:spcPts val="0"/>
              </a:spcAft>
            </a:pPr>
            <a:r>
              <a:rPr sz="1500" b="1">
                <a:solidFill>
                  <a:srgbClr val="0F766E"/>
                </a:solidFill>
                <a:latin typeface="맑은 고딕"/>
                <a:ea typeface="맑은 고딕"/>
                <a:cs typeface="맑은 고딕"/>
              </a:rPr>
              <a:t>요청 데이터</a:t>
            </a:r>
          </a:p>
        </p:txBody>
      </p:sp>
      <p:sp>
        <p:nvSpPr>
          <p:cNvPr id="35" name="TextBox 34"/>
          <p:cNvSpPr txBox="1"/>
          <p:nvPr/>
        </p:nvSpPr>
        <p:spPr>
          <a:xfrm>
            <a:off x="6400800" y="4498848"/>
            <a:ext cx="2377440" cy="502920"/>
          </a:xfrm>
          <a:prstGeom prst="rect">
            <a:avLst/>
          </a:prstGeom>
          <a:noFill/>
        </p:spPr>
        <p:txBody>
          <a:bodyPr wrap="square" lIns="36576" rIns="36576" tIns="18288" bIns="18288" anchor="t">
            <a:spAutoFit/>
          </a:bodyPr>
          <a:lstStyle/>
          <a:p>
            <a:pPr algn="l">
              <a:spcAft>
                <a:spcPts val="0"/>
              </a:spcAft>
            </a:pPr>
            <a:r>
              <a:rPr sz="1200" b="0">
                <a:solidFill>
                  <a:srgbClr val="374151"/>
                </a:solidFill>
                <a:latin typeface="맑은 고딕"/>
                <a:ea typeface="맑은 고딕"/>
                <a:cs typeface="맑은 고딕"/>
              </a:rPr>
              <a:t>matchId, score, 사용자 토큰</a:t>
            </a:r>
          </a:p>
        </p:txBody>
      </p:sp>
      <p:sp>
        <p:nvSpPr>
          <p:cNvPr id="36" name="Rounded Rectangle 35"/>
          <p:cNvSpPr/>
          <p:nvPr/>
        </p:nvSpPr>
        <p:spPr>
          <a:xfrm>
            <a:off x="8988552" y="4069080"/>
            <a:ext cx="2633472" cy="960120"/>
          </a:xfrm>
          <a:prstGeom prst="roundRect">
            <a:avLst>
              <a:gd name="adj" fmla="val 8000"/>
            </a:avLst>
          </a:prstGeom>
          <a:solidFill>
            <a:srgbClr val="F8FAFC"/>
          </a:solidFill>
          <a:ln w="12700">
            <a:solidFill>
              <a:srgbClr val="E5E7EB"/>
            </a:solidFill>
          </a:ln>
        </p:spPr>
        <p:txBody>
          <a:bodyPr rtlCol="0" anchor="ctr" wrap="square" tIns="36576" bIns="36576"/>
          <a:lstStyle/>
          <a:p>
            <a:pPr algn="ctr"/>
          </a:p>
        </p:txBody>
      </p:sp>
      <p:sp>
        <p:nvSpPr>
          <p:cNvPr id="37" name="TextBox 36"/>
          <p:cNvSpPr txBox="1"/>
          <p:nvPr/>
        </p:nvSpPr>
        <p:spPr>
          <a:xfrm>
            <a:off x="9125712" y="4160520"/>
            <a:ext cx="2377440" cy="320040"/>
          </a:xfrm>
          <a:prstGeom prst="rect">
            <a:avLst/>
          </a:prstGeom>
          <a:noFill/>
        </p:spPr>
        <p:txBody>
          <a:bodyPr wrap="square" lIns="36576" rIns="36576" tIns="18288" bIns="18288" anchor="t">
            <a:spAutoFit/>
          </a:bodyPr>
          <a:lstStyle/>
          <a:p>
            <a:pPr algn="l">
              <a:spcAft>
                <a:spcPts val="0"/>
              </a:spcAft>
            </a:pPr>
            <a:r>
              <a:rPr sz="1500" b="1">
                <a:solidFill>
                  <a:srgbClr val="0F766E"/>
                </a:solidFill>
                <a:latin typeface="맑은 고딕"/>
                <a:ea typeface="맑은 고딕"/>
                <a:cs typeface="맑은 고딕"/>
              </a:rPr>
              <a:t>성공 응답</a:t>
            </a:r>
          </a:p>
        </p:txBody>
      </p:sp>
      <p:sp>
        <p:nvSpPr>
          <p:cNvPr id="38" name="TextBox 37"/>
          <p:cNvSpPr txBox="1"/>
          <p:nvPr/>
        </p:nvSpPr>
        <p:spPr>
          <a:xfrm>
            <a:off x="9125712" y="4498848"/>
            <a:ext cx="2377440" cy="502920"/>
          </a:xfrm>
          <a:prstGeom prst="rect">
            <a:avLst/>
          </a:prstGeom>
          <a:noFill/>
        </p:spPr>
        <p:txBody>
          <a:bodyPr wrap="square" lIns="36576" rIns="36576" tIns="18288" bIns="18288" anchor="t">
            <a:spAutoFit/>
          </a:bodyPr>
          <a:lstStyle/>
          <a:p>
            <a:pPr algn="l">
              <a:spcAft>
                <a:spcPts val="0"/>
              </a:spcAft>
            </a:pPr>
            <a:r>
              <a:rPr sz="1200" b="0">
                <a:solidFill>
                  <a:srgbClr val="374151"/>
                </a:solidFill>
                <a:latin typeface="맑은 고딕"/>
                <a:ea typeface="맑은 고딕"/>
                <a:cs typeface="맑은 고딕"/>
              </a:rPr>
              <a:t>200 + 지급 내역</a:t>
            </a:r>
          </a:p>
        </p:txBody>
      </p:sp>
      <p:sp>
        <p:nvSpPr>
          <p:cNvPr id="39" name="Rounded Rectangle 38"/>
          <p:cNvSpPr/>
          <p:nvPr/>
        </p:nvSpPr>
        <p:spPr>
          <a:xfrm>
            <a:off x="6263640" y="5120640"/>
            <a:ext cx="2633472" cy="960120"/>
          </a:xfrm>
          <a:prstGeom prst="roundRect">
            <a:avLst>
              <a:gd name="adj" fmla="val 8000"/>
            </a:avLst>
          </a:prstGeom>
          <a:solidFill>
            <a:srgbClr val="F8FAFC"/>
          </a:solidFill>
          <a:ln w="12700">
            <a:solidFill>
              <a:srgbClr val="E5E7EB"/>
            </a:solidFill>
          </a:ln>
        </p:spPr>
        <p:txBody>
          <a:bodyPr rtlCol="0" anchor="ctr" wrap="square" tIns="36576" bIns="36576"/>
          <a:lstStyle/>
          <a:p>
            <a:pPr algn="ctr"/>
          </a:p>
        </p:txBody>
      </p:sp>
      <p:sp>
        <p:nvSpPr>
          <p:cNvPr id="40" name="TextBox 39"/>
          <p:cNvSpPr txBox="1"/>
          <p:nvPr/>
        </p:nvSpPr>
        <p:spPr>
          <a:xfrm>
            <a:off x="6400800" y="5212079"/>
            <a:ext cx="2377440" cy="320040"/>
          </a:xfrm>
          <a:prstGeom prst="rect">
            <a:avLst/>
          </a:prstGeom>
          <a:noFill/>
        </p:spPr>
        <p:txBody>
          <a:bodyPr wrap="square" lIns="36576" rIns="36576" tIns="18288" bIns="18288" anchor="t">
            <a:spAutoFit/>
          </a:bodyPr>
          <a:lstStyle/>
          <a:p>
            <a:pPr algn="l">
              <a:spcAft>
                <a:spcPts val="0"/>
              </a:spcAft>
            </a:pPr>
            <a:r>
              <a:rPr sz="1500" b="1">
                <a:solidFill>
                  <a:srgbClr val="0F766E"/>
                </a:solidFill>
                <a:latin typeface="맑은 고딕"/>
                <a:ea typeface="맑은 고딕"/>
                <a:cs typeface="맑은 고딕"/>
              </a:rPr>
              <a:t>실패 응답</a:t>
            </a:r>
          </a:p>
        </p:txBody>
      </p:sp>
      <p:sp>
        <p:nvSpPr>
          <p:cNvPr id="41" name="TextBox 40"/>
          <p:cNvSpPr txBox="1"/>
          <p:nvPr/>
        </p:nvSpPr>
        <p:spPr>
          <a:xfrm>
            <a:off x="6400800" y="5550407"/>
            <a:ext cx="2377440" cy="502920"/>
          </a:xfrm>
          <a:prstGeom prst="rect">
            <a:avLst/>
          </a:prstGeom>
          <a:noFill/>
        </p:spPr>
        <p:txBody>
          <a:bodyPr wrap="square" lIns="36576" rIns="36576" tIns="18288" bIns="18288" anchor="t">
            <a:spAutoFit/>
          </a:bodyPr>
          <a:lstStyle/>
          <a:p>
            <a:pPr algn="l">
              <a:spcAft>
                <a:spcPts val="0"/>
              </a:spcAft>
            </a:pPr>
            <a:r>
              <a:rPr sz="1200" b="0">
                <a:solidFill>
                  <a:srgbClr val="374151"/>
                </a:solidFill>
                <a:latin typeface="맑은 고딕"/>
                <a:ea typeface="맑은 고딕"/>
                <a:cs typeface="맑은 고딕"/>
              </a:rPr>
              <a:t>이미 처리됨 · 참가자 아님 · 없는 경기</a:t>
            </a:r>
          </a:p>
        </p:txBody>
      </p:sp>
      <p:sp>
        <p:nvSpPr>
          <p:cNvPr id="42" name="Rounded Rectangle 41"/>
          <p:cNvSpPr/>
          <p:nvPr/>
        </p:nvSpPr>
        <p:spPr>
          <a:xfrm>
            <a:off x="8988552" y="5120640"/>
            <a:ext cx="2633472" cy="960120"/>
          </a:xfrm>
          <a:prstGeom prst="roundRect">
            <a:avLst>
              <a:gd name="adj" fmla="val 8000"/>
            </a:avLst>
          </a:prstGeom>
          <a:solidFill>
            <a:srgbClr val="F8FAFC"/>
          </a:solidFill>
          <a:ln w="12700">
            <a:solidFill>
              <a:srgbClr val="E5E7EB"/>
            </a:solidFill>
          </a:ln>
        </p:spPr>
        <p:txBody>
          <a:bodyPr rtlCol="0" anchor="ctr" wrap="square" tIns="36576" bIns="36576"/>
          <a:lstStyle/>
          <a:p>
            <a:pPr algn="ctr"/>
          </a:p>
        </p:txBody>
      </p:sp>
      <p:sp>
        <p:nvSpPr>
          <p:cNvPr id="43" name="TextBox 42"/>
          <p:cNvSpPr txBox="1"/>
          <p:nvPr/>
        </p:nvSpPr>
        <p:spPr>
          <a:xfrm>
            <a:off x="9125712" y="5212079"/>
            <a:ext cx="2377440" cy="320040"/>
          </a:xfrm>
          <a:prstGeom prst="rect">
            <a:avLst/>
          </a:prstGeom>
          <a:noFill/>
        </p:spPr>
        <p:txBody>
          <a:bodyPr wrap="square" lIns="36576" rIns="36576" tIns="18288" bIns="18288" anchor="t">
            <a:spAutoFit/>
          </a:bodyPr>
          <a:lstStyle/>
          <a:p>
            <a:pPr algn="l">
              <a:spcAft>
                <a:spcPts val="0"/>
              </a:spcAft>
            </a:pPr>
            <a:r>
              <a:rPr sz="1500" b="1">
                <a:solidFill>
                  <a:srgbClr val="0F766E"/>
                </a:solidFill>
                <a:latin typeface="맑은 고딕"/>
                <a:ea typeface="맑은 고딕"/>
                <a:cs typeface="맑은 고딕"/>
              </a:rPr>
              <a:t>권한 조건</a:t>
            </a:r>
          </a:p>
        </p:txBody>
      </p:sp>
      <p:sp>
        <p:nvSpPr>
          <p:cNvPr id="44" name="TextBox 43"/>
          <p:cNvSpPr txBox="1"/>
          <p:nvPr/>
        </p:nvSpPr>
        <p:spPr>
          <a:xfrm>
            <a:off x="9125712" y="5550407"/>
            <a:ext cx="2377440" cy="502920"/>
          </a:xfrm>
          <a:prstGeom prst="rect">
            <a:avLst/>
          </a:prstGeom>
          <a:noFill/>
        </p:spPr>
        <p:txBody>
          <a:bodyPr wrap="square" lIns="36576" rIns="36576" tIns="18288" bIns="18288" anchor="t">
            <a:spAutoFit/>
          </a:bodyPr>
          <a:lstStyle/>
          <a:p>
            <a:pPr algn="l">
              <a:spcAft>
                <a:spcPts val="0"/>
              </a:spcAft>
            </a:pPr>
            <a:r>
              <a:rPr sz="1200" b="0">
                <a:solidFill>
                  <a:srgbClr val="374151"/>
                </a:solidFill>
                <a:latin typeface="맑은 고딕"/>
                <a:ea typeface="맑은 고딕"/>
                <a:cs typeface="맑은 고딕"/>
              </a:rPr>
              <a:t>로그인한 경기 참가자만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매칭 서버와 게임 룸은 다르다</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7 / 22</a:t>
            </a:r>
          </a:p>
        </p:txBody>
      </p:sp>
      <p:sp>
        <p:nvSpPr>
          <p:cNvPr id="6" name="Rounded Rectangle 5"/>
          <p:cNvSpPr/>
          <p:nvPr/>
        </p:nvSpPr>
        <p:spPr>
          <a:xfrm>
            <a:off x="548640" y="1554480"/>
            <a:ext cx="2377440" cy="1417320"/>
          </a:xfrm>
          <a:prstGeom prst="roundRect">
            <a:avLst>
              <a:gd name="adj" fmla="val 8000"/>
            </a:avLst>
          </a:prstGeom>
          <a:solidFill>
            <a:srgbClr val="6D28D9"/>
          </a:solidFill>
          <a:ln>
            <a:noFill/>
          </a:ln>
        </p:spPr>
        <p:txBody>
          <a:bodyPr rtlCol="0" anchor="ctr" wrap="square" tIns="36576" bIns="36576"/>
          <a:lstStyle/>
          <a:p>
            <a:pPr algn="ctr">
              <a:spcAft>
                <a:spcPts val="0"/>
              </a:spcAft>
            </a:pPr>
            <a:r>
              <a:rPr sz="2000" b="1">
                <a:solidFill>
                  <a:srgbClr val="FFFFFF"/>
                </a:solidFill>
                <a:latin typeface="맑은 고딕"/>
                <a:ea typeface="맑은 고딕"/>
                <a:cs typeface="맑은 고딕"/>
              </a:rPr>
              <a:t>매칭 서버</a:t>
            </a:r>
          </a:p>
          <a:p>
            <a:pPr algn="ctr">
              <a:spcAft>
                <a:spcPts val="0"/>
              </a:spcAft>
            </a:pPr>
            <a:r>
              <a:rPr sz="1200" b="0">
                <a:solidFill>
                  <a:srgbClr val="FFFFFF"/>
                </a:solidFill>
                <a:latin typeface="맑은 고딕"/>
                <a:ea typeface="맑은 고딕"/>
                <a:cs typeface="맑은 고딕"/>
              </a:rPr>
              <a:t>자리를 안내하는 직원</a:t>
            </a:r>
          </a:p>
        </p:txBody>
      </p:sp>
      <p:sp>
        <p:nvSpPr>
          <p:cNvPr id="7" name="Rounded Rectangle 6"/>
          <p:cNvSpPr/>
          <p:nvPr/>
        </p:nvSpPr>
        <p:spPr>
          <a:xfrm>
            <a:off x="3246120" y="1664207"/>
            <a:ext cx="2377440" cy="685800"/>
          </a:xfrm>
          <a:prstGeom prst="roundRect">
            <a:avLst>
              <a:gd name="adj" fmla="val 12000"/>
            </a:avLst>
          </a:prstGeom>
          <a:solidFill>
            <a:srgbClr val="EDE9FE"/>
          </a:solidFill>
          <a:ln w="15875">
            <a:solidFill>
              <a:srgbClr val="6D28D9"/>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대기열 등록</a:t>
            </a:r>
          </a:p>
        </p:txBody>
      </p:sp>
      <p:cxnSp>
        <p:nvCxnSpPr>
          <p:cNvPr id="8" name="Connector 7"/>
          <p:cNvCxnSpPr/>
          <p:nvPr/>
        </p:nvCxnSpPr>
        <p:spPr>
          <a:xfrm>
            <a:off x="5669279" y="2007107"/>
            <a:ext cx="365761" cy="0"/>
          </a:xfrm>
          <a:prstGeom prst="line">
            <a:avLst/>
          </a:prstGeom>
          <a:ln w="22225">
            <a:solidFill>
              <a:srgbClr val="6D28D9"/>
            </a:solidFill>
            <a:round/>
            <a:tailEnd type="triangle" w="med" len="med"/>
          </a:ln>
        </p:spPr>
      </p:cxnSp>
      <p:sp>
        <p:nvSpPr>
          <p:cNvPr id="9" name="Rounded Rectangle 8"/>
          <p:cNvSpPr/>
          <p:nvPr/>
        </p:nvSpPr>
        <p:spPr>
          <a:xfrm>
            <a:off x="6080760" y="1664207"/>
            <a:ext cx="2377440" cy="685800"/>
          </a:xfrm>
          <a:prstGeom prst="roundRect">
            <a:avLst>
              <a:gd name="adj" fmla="val 12000"/>
            </a:avLst>
          </a:prstGeom>
          <a:solidFill>
            <a:srgbClr val="EDE9FE"/>
          </a:solidFill>
          <a:ln w="15875">
            <a:solidFill>
              <a:srgbClr val="6D28D9"/>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조건 비교</a:t>
            </a:r>
          </a:p>
        </p:txBody>
      </p:sp>
      <p:cxnSp>
        <p:nvCxnSpPr>
          <p:cNvPr id="10" name="Connector 9"/>
          <p:cNvCxnSpPr/>
          <p:nvPr/>
        </p:nvCxnSpPr>
        <p:spPr>
          <a:xfrm>
            <a:off x="8503920" y="2007107"/>
            <a:ext cx="365760" cy="0"/>
          </a:xfrm>
          <a:prstGeom prst="line">
            <a:avLst/>
          </a:prstGeom>
          <a:ln w="22225">
            <a:solidFill>
              <a:srgbClr val="6D28D9"/>
            </a:solidFill>
            <a:round/>
            <a:tailEnd type="triangle" w="med" len="med"/>
          </a:ln>
        </p:spPr>
      </p:cxnSp>
      <p:sp>
        <p:nvSpPr>
          <p:cNvPr id="11" name="Rounded Rectangle 10"/>
          <p:cNvSpPr/>
          <p:nvPr/>
        </p:nvSpPr>
        <p:spPr>
          <a:xfrm>
            <a:off x="8915400" y="1664207"/>
            <a:ext cx="2377440" cy="685800"/>
          </a:xfrm>
          <a:prstGeom prst="roundRect">
            <a:avLst>
              <a:gd name="adj" fmla="val 12000"/>
            </a:avLst>
          </a:prstGeom>
          <a:solidFill>
            <a:srgbClr val="EDE9FE"/>
          </a:solidFill>
          <a:ln w="15875">
            <a:solidFill>
              <a:srgbClr val="6D28D9"/>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방 ID 배정</a:t>
            </a:r>
          </a:p>
        </p:txBody>
      </p:sp>
      <p:sp>
        <p:nvSpPr>
          <p:cNvPr id="12" name="TextBox 11"/>
          <p:cNvSpPr txBox="1"/>
          <p:nvPr/>
        </p:nvSpPr>
        <p:spPr>
          <a:xfrm>
            <a:off x="3246120" y="2468880"/>
            <a:ext cx="8138160" cy="365760"/>
          </a:xfrm>
          <a:prstGeom prst="rect">
            <a:avLst/>
          </a:prstGeom>
          <a:noFill/>
        </p:spPr>
        <p:txBody>
          <a:bodyPr wrap="square" lIns="36576" rIns="36576" tIns="18288" bIns="18288" anchor="t">
            <a:spAutoFit/>
          </a:bodyPr>
          <a:lstStyle/>
          <a:p>
            <a:pPr algn="l">
              <a:spcAft>
                <a:spcPts val="0"/>
              </a:spcAft>
            </a:pPr>
            <a:r>
              <a:rPr sz="1400" b="0">
                <a:solidFill>
                  <a:srgbClr val="374151"/>
                </a:solidFill>
                <a:latin typeface="맑은 고딕"/>
                <a:ea typeface="맑은 고딕"/>
                <a:cs typeface="맑은 고딕"/>
              </a:rPr>
              <a:t>목표: 같은 조건의 사용자를 빠르게 묶어 방에 넣는다</a:t>
            </a:r>
          </a:p>
        </p:txBody>
      </p:sp>
      <p:sp>
        <p:nvSpPr>
          <p:cNvPr id="13" name="Rounded Rectangle 12"/>
          <p:cNvSpPr/>
          <p:nvPr/>
        </p:nvSpPr>
        <p:spPr>
          <a:xfrm>
            <a:off x="548640" y="3200400"/>
            <a:ext cx="2377440" cy="1417320"/>
          </a:xfrm>
          <a:prstGeom prst="roundRect">
            <a:avLst>
              <a:gd name="adj" fmla="val 8000"/>
            </a:avLst>
          </a:prstGeom>
          <a:solidFill>
            <a:srgbClr val="C2410C"/>
          </a:solidFill>
          <a:ln>
            <a:noFill/>
          </a:ln>
        </p:spPr>
        <p:txBody>
          <a:bodyPr rtlCol="0" anchor="ctr" wrap="square" tIns="36576" bIns="36576"/>
          <a:lstStyle/>
          <a:p>
            <a:pPr algn="ctr">
              <a:spcAft>
                <a:spcPts val="0"/>
              </a:spcAft>
            </a:pPr>
            <a:r>
              <a:rPr sz="2000" b="1">
                <a:solidFill>
                  <a:srgbClr val="FFFFFF"/>
                </a:solidFill>
                <a:latin typeface="맑은 고딕"/>
                <a:ea typeface="맑은 고딕"/>
                <a:cs typeface="맑은 고딕"/>
              </a:rPr>
              <a:t>게임 룸</a:t>
            </a:r>
          </a:p>
          <a:p>
            <a:pPr algn="ctr">
              <a:spcAft>
                <a:spcPts val="0"/>
              </a:spcAft>
            </a:pPr>
            <a:r>
              <a:rPr sz="1200" b="0">
                <a:solidFill>
                  <a:srgbClr val="FFFFFF"/>
                </a:solidFill>
                <a:latin typeface="맑은 고딕"/>
                <a:ea typeface="맑은 고딕"/>
                <a:cs typeface="맑은 고딕"/>
              </a:rPr>
              <a:t>손님이 앉는 테이블</a:t>
            </a:r>
          </a:p>
        </p:txBody>
      </p:sp>
      <p:sp>
        <p:nvSpPr>
          <p:cNvPr id="14" name="Rounded Rectangle 13"/>
          <p:cNvSpPr/>
          <p:nvPr/>
        </p:nvSpPr>
        <p:spPr>
          <a:xfrm>
            <a:off x="3246120" y="3310128"/>
            <a:ext cx="2377440" cy="685800"/>
          </a:xfrm>
          <a:prstGeom prst="roundRect">
            <a:avLst>
              <a:gd name="adj" fmla="val 12000"/>
            </a:avLst>
          </a:prstGeom>
          <a:solidFill>
            <a:srgbClr val="FFEDD5"/>
          </a:solidFill>
          <a:ln w="15875">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방 입장</a:t>
            </a:r>
          </a:p>
        </p:txBody>
      </p:sp>
      <p:cxnSp>
        <p:nvCxnSpPr>
          <p:cNvPr id="15" name="Connector 14"/>
          <p:cNvCxnSpPr/>
          <p:nvPr/>
        </p:nvCxnSpPr>
        <p:spPr>
          <a:xfrm>
            <a:off x="5669279" y="3653028"/>
            <a:ext cx="365761" cy="0"/>
          </a:xfrm>
          <a:prstGeom prst="line">
            <a:avLst/>
          </a:prstGeom>
          <a:ln w="22225">
            <a:solidFill>
              <a:srgbClr val="C2410C"/>
            </a:solidFill>
            <a:round/>
            <a:tailEnd type="triangle" w="med" len="med"/>
          </a:ln>
        </p:spPr>
      </p:cxnSp>
      <p:sp>
        <p:nvSpPr>
          <p:cNvPr id="16" name="Rounded Rectangle 15"/>
          <p:cNvSpPr/>
          <p:nvPr/>
        </p:nvSpPr>
        <p:spPr>
          <a:xfrm>
            <a:off x="6080760" y="3310128"/>
            <a:ext cx="2377440" cy="685800"/>
          </a:xfrm>
          <a:prstGeom prst="roundRect">
            <a:avLst>
              <a:gd name="adj" fmla="val 12000"/>
            </a:avLst>
          </a:prstGeom>
          <a:solidFill>
            <a:srgbClr val="FFEDD5"/>
          </a:solidFill>
          <a:ln w="15875">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준비</a:t>
            </a:r>
          </a:p>
        </p:txBody>
      </p:sp>
      <p:cxnSp>
        <p:nvCxnSpPr>
          <p:cNvPr id="17" name="Connector 16"/>
          <p:cNvCxnSpPr/>
          <p:nvPr/>
        </p:nvCxnSpPr>
        <p:spPr>
          <a:xfrm>
            <a:off x="8503920" y="3653028"/>
            <a:ext cx="365760" cy="0"/>
          </a:xfrm>
          <a:prstGeom prst="line">
            <a:avLst/>
          </a:prstGeom>
          <a:ln w="22225">
            <a:solidFill>
              <a:srgbClr val="C2410C"/>
            </a:solidFill>
            <a:round/>
            <a:tailEnd type="triangle" w="med" len="med"/>
          </a:ln>
        </p:spPr>
      </p:cxnSp>
      <p:sp>
        <p:nvSpPr>
          <p:cNvPr id="18" name="Rounded Rectangle 17"/>
          <p:cNvSpPr/>
          <p:nvPr/>
        </p:nvSpPr>
        <p:spPr>
          <a:xfrm>
            <a:off x="8915400" y="3310128"/>
            <a:ext cx="2377440" cy="685800"/>
          </a:xfrm>
          <a:prstGeom prst="roundRect">
            <a:avLst>
              <a:gd name="adj" fmla="val 12000"/>
            </a:avLst>
          </a:prstGeom>
          <a:solidFill>
            <a:srgbClr val="FFEDD5"/>
          </a:solidFill>
          <a:ln w="15875">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실제 게임 데이터 교환</a:t>
            </a:r>
          </a:p>
        </p:txBody>
      </p:sp>
      <p:sp>
        <p:nvSpPr>
          <p:cNvPr id="19" name="TextBox 18"/>
          <p:cNvSpPr txBox="1"/>
          <p:nvPr/>
        </p:nvSpPr>
        <p:spPr>
          <a:xfrm>
            <a:off x="3246120" y="4114800"/>
            <a:ext cx="8138160" cy="365760"/>
          </a:xfrm>
          <a:prstGeom prst="rect">
            <a:avLst/>
          </a:prstGeom>
          <a:noFill/>
        </p:spPr>
        <p:txBody>
          <a:bodyPr wrap="square" lIns="36576" rIns="36576" tIns="18288" bIns="18288" anchor="t">
            <a:spAutoFit/>
          </a:bodyPr>
          <a:lstStyle/>
          <a:p>
            <a:pPr algn="l">
              <a:spcAft>
                <a:spcPts val="0"/>
              </a:spcAft>
            </a:pPr>
            <a:r>
              <a:rPr sz="1400" b="0">
                <a:solidFill>
                  <a:srgbClr val="374151"/>
                </a:solidFill>
                <a:latin typeface="맑은 고딕"/>
                <a:ea typeface="맑은 고딕"/>
                <a:cs typeface="맑은 고딕"/>
              </a:rPr>
              <a:t>목표: 매칭된 사용자들이 끝까지 플레이하도록 연결을 유지한다</a:t>
            </a:r>
          </a:p>
        </p:txBody>
      </p:sp>
      <p:sp>
        <p:nvSpPr>
          <p:cNvPr id="20" name="TextBox 19"/>
          <p:cNvSpPr txBox="1"/>
          <p:nvPr/>
        </p:nvSpPr>
        <p:spPr>
          <a:xfrm>
            <a:off x="9418320" y="2578608"/>
            <a:ext cx="2194560" cy="274320"/>
          </a:xfrm>
          <a:prstGeom prst="rect">
            <a:avLst/>
          </a:prstGeom>
          <a:noFill/>
        </p:spPr>
        <p:txBody>
          <a:bodyPr wrap="square" lIns="36576" rIns="36576" tIns="18288" bIns="18288" anchor="t">
            <a:spAutoFit/>
          </a:bodyPr>
          <a:lstStyle/>
          <a:p>
            <a:pPr algn="ctr">
              <a:spcAft>
                <a:spcPts val="0"/>
              </a:spcAft>
            </a:pPr>
            <a:r>
              <a:rPr sz="1200" b="1">
                <a:solidFill>
                  <a:srgbClr val="6D28D9"/>
                </a:solidFill>
                <a:latin typeface="맑은 고딕"/>
                <a:ea typeface="맑은 고딕"/>
                <a:cs typeface="맑은 고딕"/>
              </a:rPr>
              <a:t>방 ID 전달 ↓</a:t>
            </a:r>
          </a:p>
        </p:txBody>
      </p:sp>
      <p:sp>
        <p:nvSpPr>
          <p:cNvPr id="21" name="Rounded Rectangle 20"/>
          <p:cNvSpPr/>
          <p:nvPr/>
        </p:nvSpPr>
        <p:spPr>
          <a:xfrm>
            <a:off x="548640" y="4983480"/>
            <a:ext cx="11091672" cy="1188720"/>
          </a:xfrm>
          <a:prstGeom prst="roundRect">
            <a:avLst>
              <a:gd name="adj" fmla="val 6000"/>
            </a:avLst>
          </a:prstGeom>
          <a:solidFill>
            <a:srgbClr val="FFF7ED"/>
          </a:solidFill>
          <a:ln w="12700">
            <a:solidFill>
              <a:srgbClr val="FED7AA"/>
            </a:solidFill>
          </a:ln>
        </p:spPr>
        <p:txBody>
          <a:bodyPr rtlCol="0" anchor="ctr" wrap="square" tIns="36576" bIns="36576"/>
          <a:lstStyle/>
          <a:p>
            <a:pPr algn="ctr"/>
          </a:p>
        </p:txBody>
      </p:sp>
      <p:sp>
        <p:nvSpPr>
          <p:cNvPr id="22" name="Oval 21"/>
          <p:cNvSpPr/>
          <p:nvPr/>
        </p:nvSpPr>
        <p:spPr>
          <a:xfrm>
            <a:off x="777240" y="5166360"/>
            <a:ext cx="384048" cy="384048"/>
          </a:xfrm>
          <a:prstGeom prst="ellipse">
            <a:avLst/>
          </a:prstGeom>
          <a:solidFill>
            <a:srgbClr val="C2410C"/>
          </a:solidFill>
          <a:ln>
            <a:noFill/>
          </a:ln>
        </p:spPr>
        <p:txBody>
          <a:bodyPr rtlCol="0" anchor="ctr" wrap="square" lIns="0" rIns="0" tIns="36576" bIns="36576"/>
          <a:lstStyle/>
          <a:p>
            <a:pPr algn="ctr">
              <a:spcAft>
                <a:spcPts val="0"/>
              </a:spcAft>
            </a:pPr>
            <a:r>
              <a:rPr sz="1600" b="1">
                <a:solidFill>
                  <a:srgbClr val="FFFFFF"/>
                </a:solidFill>
                <a:latin typeface="맑은 고딕"/>
                <a:ea typeface="맑은 고딕"/>
                <a:cs typeface="맑은 고딕"/>
              </a:rPr>
              <a:t>!</a:t>
            </a:r>
          </a:p>
        </p:txBody>
      </p:sp>
      <p:sp>
        <p:nvSpPr>
          <p:cNvPr id="23" name="TextBox 22"/>
          <p:cNvSpPr txBox="1"/>
          <p:nvPr/>
        </p:nvSpPr>
        <p:spPr>
          <a:xfrm>
            <a:off x="1280160" y="5120640"/>
            <a:ext cx="10149840" cy="411480"/>
          </a:xfrm>
          <a:prstGeom prst="rect">
            <a:avLst/>
          </a:prstGeom>
          <a:noFill/>
        </p:spPr>
        <p:txBody>
          <a:bodyPr wrap="square" lIns="36576" rIns="36576" tIns="18288" bIns="18288" anchor="t">
            <a:spAutoFit/>
          </a:bodyPr>
          <a:lstStyle/>
          <a:p>
            <a:pPr algn="l">
              <a:spcAft>
                <a:spcPts val="0"/>
              </a:spcAft>
            </a:pPr>
            <a:r>
              <a:rPr sz="1800" b="1">
                <a:solidFill>
                  <a:srgbClr val="C2410C"/>
                </a:solidFill>
                <a:latin typeface="맑은 고딕"/>
                <a:ea typeface="맑은 고딕"/>
                <a:cs typeface="맑은 고딕"/>
              </a:rPr>
              <a:t>취소와 매칭 확정이 동시에 일어나면?</a:t>
            </a:r>
          </a:p>
        </p:txBody>
      </p:sp>
      <p:sp>
        <p:nvSpPr>
          <p:cNvPr id="24" name="TextBox 23"/>
          <p:cNvSpPr txBox="1"/>
          <p:nvPr/>
        </p:nvSpPr>
        <p:spPr>
          <a:xfrm>
            <a:off x="1280160" y="5559552"/>
            <a:ext cx="10149840" cy="54864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한쪽은 ‘취소됨’, 상대는 ‘매칭 완료’ → 최종 상태를 미리 정하고, 서버는 상태 변경을 하나씩 처리한다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실시간 릴레이와 전용 게임 서버</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8 / 22</a:t>
            </a:r>
          </a:p>
        </p:txBody>
      </p:sp>
      <p:sp>
        <p:nvSpPr>
          <p:cNvPr id="6" name="Rounded Rectangle 5"/>
          <p:cNvSpPr/>
          <p:nvPr/>
        </p:nvSpPr>
        <p:spPr>
          <a:xfrm>
            <a:off x="548640" y="1554480"/>
            <a:ext cx="5440680" cy="3108960"/>
          </a:xfrm>
          <a:prstGeom prst="roundRect">
            <a:avLst>
              <a:gd name="adj" fmla="val 4000"/>
            </a:avLst>
          </a:prstGeom>
          <a:solidFill>
            <a:srgbClr val="F8FAFC"/>
          </a:solidFill>
          <a:ln w="12700">
            <a:solidFill>
              <a:srgbClr val="E5E7EB"/>
            </a:solidFill>
          </a:ln>
        </p:spPr>
        <p:txBody>
          <a:bodyPr rtlCol="0" anchor="ctr" wrap="square" tIns="36576" bIns="36576"/>
          <a:lstStyle/>
          <a:p>
            <a:pPr algn="ctr"/>
          </a:p>
        </p:txBody>
      </p:sp>
      <p:sp>
        <p:nvSpPr>
          <p:cNvPr id="7" name="Rectangle 6"/>
          <p:cNvSpPr/>
          <p:nvPr/>
        </p:nvSpPr>
        <p:spPr>
          <a:xfrm>
            <a:off x="548640" y="1554480"/>
            <a:ext cx="5440680" cy="868680"/>
          </a:xfrm>
          <a:prstGeom prst="rect">
            <a:avLst/>
          </a:prstGeom>
          <a:solidFill>
            <a:srgbClr val="64748B"/>
          </a:solidFill>
          <a:ln>
            <a:noFill/>
          </a:ln>
        </p:spPr>
        <p:txBody>
          <a:bodyPr rtlCol="0" anchor="ctr" wrap="square" lIns="274320" rIns="274320" tIns="36576" bIns="36576"/>
          <a:lstStyle/>
          <a:p>
            <a:pPr algn="l">
              <a:spcAft>
                <a:spcPts val="0"/>
              </a:spcAft>
            </a:pPr>
            <a:r>
              <a:rPr sz="2100" b="1">
                <a:solidFill>
                  <a:srgbClr val="FFFFFF"/>
                </a:solidFill>
                <a:latin typeface="맑은 고딕"/>
                <a:ea typeface="맑은 고딕"/>
                <a:cs typeface="맑은 고딕"/>
              </a:rPr>
              <a:t>실시간 릴레이 룸</a:t>
            </a:r>
          </a:p>
          <a:p>
            <a:pPr algn="l">
              <a:spcAft>
                <a:spcPts val="0"/>
              </a:spcAft>
            </a:pPr>
            <a:r>
              <a:rPr sz="1300" b="0">
                <a:solidFill>
                  <a:srgbClr val="E2E8F0"/>
                </a:solidFill>
                <a:latin typeface="맑은 고딕"/>
                <a:ea typeface="맑은 고딕"/>
                <a:cs typeface="맑은 고딕"/>
              </a:rPr>
              <a:t>우체국: 메시지를 전달만 한다</a:t>
            </a:r>
          </a:p>
        </p:txBody>
      </p:sp>
      <p:sp>
        <p:nvSpPr>
          <p:cNvPr id="8" name="TextBox 7"/>
          <p:cNvSpPr txBox="1"/>
          <p:nvPr/>
        </p:nvSpPr>
        <p:spPr>
          <a:xfrm>
            <a:off x="822959" y="2606040"/>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주체</a:t>
            </a:r>
          </a:p>
        </p:txBody>
      </p:sp>
      <p:sp>
        <p:nvSpPr>
          <p:cNvPr id="9" name="TextBox 8"/>
          <p:cNvSpPr txBox="1"/>
          <p:nvPr/>
        </p:nvSpPr>
        <p:spPr>
          <a:xfrm>
            <a:off x="822959" y="2852928"/>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클라이언트 또는 호스트</a:t>
            </a:r>
          </a:p>
        </p:txBody>
      </p:sp>
      <p:sp>
        <p:nvSpPr>
          <p:cNvPr id="10" name="TextBox 9"/>
          <p:cNvSpPr txBox="1"/>
          <p:nvPr/>
        </p:nvSpPr>
        <p:spPr>
          <a:xfrm>
            <a:off x="822959" y="3282696"/>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적합한 상황</a:t>
            </a:r>
          </a:p>
        </p:txBody>
      </p:sp>
      <p:sp>
        <p:nvSpPr>
          <p:cNvPr id="11" name="TextBox 10"/>
          <p:cNvSpPr txBox="1"/>
          <p:nvPr/>
        </p:nvSpPr>
        <p:spPr>
          <a:xfrm>
            <a:off x="822959" y="3529584"/>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캐주얼 협동, 빠른 프로토타입</a:t>
            </a:r>
          </a:p>
        </p:txBody>
      </p:sp>
      <p:sp>
        <p:nvSpPr>
          <p:cNvPr id="12" name="TextBox 11"/>
          <p:cNvSpPr txBox="1"/>
          <p:nvPr/>
        </p:nvSpPr>
        <p:spPr>
          <a:xfrm>
            <a:off x="822959" y="3959352"/>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클라이언트가 보내는 것</a:t>
            </a:r>
          </a:p>
        </p:txBody>
      </p:sp>
      <p:sp>
        <p:nvSpPr>
          <p:cNvPr id="13" name="TextBox 12"/>
          <p:cNvSpPr txBox="1"/>
          <p:nvPr/>
        </p:nvSpPr>
        <p:spPr>
          <a:xfrm>
            <a:off x="822959" y="4206240"/>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상태와 결과</a:t>
            </a:r>
          </a:p>
        </p:txBody>
      </p:sp>
      <p:sp>
        <p:nvSpPr>
          <p:cNvPr id="14" name="Rounded Rectangle 13"/>
          <p:cNvSpPr/>
          <p:nvPr/>
        </p:nvSpPr>
        <p:spPr>
          <a:xfrm>
            <a:off x="6199631" y="1554480"/>
            <a:ext cx="5440680" cy="3108960"/>
          </a:xfrm>
          <a:prstGeom prst="roundRect">
            <a:avLst>
              <a:gd name="adj" fmla="val 4000"/>
            </a:avLst>
          </a:prstGeom>
          <a:solidFill>
            <a:srgbClr val="F8FAFC"/>
          </a:solidFill>
          <a:ln w="12700">
            <a:solidFill>
              <a:srgbClr val="E5E7EB"/>
            </a:solidFill>
          </a:ln>
        </p:spPr>
        <p:txBody>
          <a:bodyPr rtlCol="0" anchor="ctr" wrap="square" tIns="36576" bIns="36576"/>
          <a:lstStyle/>
          <a:p>
            <a:pPr algn="ctr"/>
          </a:p>
        </p:txBody>
      </p:sp>
      <p:sp>
        <p:nvSpPr>
          <p:cNvPr id="15" name="Rectangle 14"/>
          <p:cNvSpPr/>
          <p:nvPr/>
        </p:nvSpPr>
        <p:spPr>
          <a:xfrm>
            <a:off x="6199631" y="1554480"/>
            <a:ext cx="5440680" cy="868680"/>
          </a:xfrm>
          <a:prstGeom prst="rect">
            <a:avLst/>
          </a:prstGeom>
          <a:solidFill>
            <a:srgbClr val="1E3A8A"/>
          </a:solidFill>
          <a:ln>
            <a:noFill/>
          </a:ln>
        </p:spPr>
        <p:txBody>
          <a:bodyPr rtlCol="0" anchor="ctr" wrap="square" lIns="274320" rIns="274320" tIns="36576" bIns="36576"/>
          <a:lstStyle/>
          <a:p>
            <a:pPr algn="l">
              <a:spcAft>
                <a:spcPts val="0"/>
              </a:spcAft>
            </a:pPr>
            <a:r>
              <a:rPr sz="2100" b="1">
                <a:solidFill>
                  <a:srgbClr val="FFFFFF"/>
                </a:solidFill>
                <a:latin typeface="맑은 고딕"/>
                <a:ea typeface="맑은 고딕"/>
                <a:cs typeface="맑은 고딕"/>
              </a:rPr>
              <a:t>전용 게임 서버</a:t>
            </a:r>
          </a:p>
          <a:p>
            <a:pPr algn="l">
              <a:spcAft>
                <a:spcPts val="0"/>
              </a:spcAft>
            </a:pPr>
            <a:r>
              <a:rPr sz="1300" b="0">
                <a:solidFill>
                  <a:srgbClr val="E2E8F0"/>
                </a:solidFill>
                <a:latin typeface="맑은 고딕"/>
                <a:ea typeface="맑은 고딕"/>
                <a:cs typeface="맑은 고딕"/>
              </a:rPr>
              <a:t>심판: 게임 루프를 돌리고 확정한다</a:t>
            </a:r>
          </a:p>
        </p:txBody>
      </p:sp>
      <p:sp>
        <p:nvSpPr>
          <p:cNvPr id="16" name="TextBox 15"/>
          <p:cNvSpPr txBox="1"/>
          <p:nvPr/>
        </p:nvSpPr>
        <p:spPr>
          <a:xfrm>
            <a:off x="6473951" y="2606040"/>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주체</a:t>
            </a:r>
          </a:p>
        </p:txBody>
      </p:sp>
      <p:sp>
        <p:nvSpPr>
          <p:cNvPr id="17" name="TextBox 16"/>
          <p:cNvSpPr txBox="1"/>
          <p:nvPr/>
        </p:nvSpPr>
        <p:spPr>
          <a:xfrm>
            <a:off x="6473951" y="2852928"/>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서버</a:t>
            </a:r>
          </a:p>
        </p:txBody>
      </p:sp>
      <p:sp>
        <p:nvSpPr>
          <p:cNvPr id="18" name="TextBox 17"/>
          <p:cNvSpPr txBox="1"/>
          <p:nvPr/>
        </p:nvSpPr>
        <p:spPr>
          <a:xfrm>
            <a:off x="6473951" y="3282696"/>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적합한 상황</a:t>
            </a:r>
          </a:p>
        </p:txBody>
      </p:sp>
      <p:sp>
        <p:nvSpPr>
          <p:cNvPr id="19" name="TextBox 18"/>
          <p:cNvSpPr txBox="1"/>
          <p:nvPr/>
        </p:nvSpPr>
        <p:spPr>
          <a:xfrm>
            <a:off x="6473951" y="3529584"/>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경쟁 PvP, 랭킹, 치팅 방지</a:t>
            </a:r>
          </a:p>
        </p:txBody>
      </p:sp>
      <p:sp>
        <p:nvSpPr>
          <p:cNvPr id="20" name="TextBox 19"/>
          <p:cNvSpPr txBox="1"/>
          <p:nvPr/>
        </p:nvSpPr>
        <p:spPr>
          <a:xfrm>
            <a:off x="6473951" y="3959352"/>
            <a:ext cx="4937760" cy="2743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클라이언트가 보내는 것</a:t>
            </a:r>
          </a:p>
        </p:txBody>
      </p:sp>
      <p:sp>
        <p:nvSpPr>
          <p:cNvPr id="21" name="TextBox 20"/>
          <p:cNvSpPr txBox="1"/>
          <p:nvPr/>
        </p:nvSpPr>
        <p:spPr>
          <a:xfrm>
            <a:off x="6473951" y="4206240"/>
            <a:ext cx="4937760" cy="384048"/>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입력만 (“공격 버튼 눌렀음”)</a:t>
            </a:r>
          </a:p>
        </p:txBody>
      </p:sp>
      <p:cxnSp>
        <p:nvCxnSpPr>
          <p:cNvPr id="22" name="Connector 21"/>
          <p:cNvCxnSpPr/>
          <p:nvPr/>
        </p:nvCxnSpPr>
        <p:spPr>
          <a:xfrm>
            <a:off x="822960" y="5074920"/>
            <a:ext cx="10515600" cy="0"/>
          </a:xfrm>
          <a:prstGeom prst="line">
            <a:avLst/>
          </a:prstGeom>
          <a:ln w="31750">
            <a:solidFill>
              <a:srgbClr val="94A3B8"/>
            </a:solidFill>
            <a:round/>
            <a:tailEnd type="triangle" w="med" len="med"/>
          </a:ln>
        </p:spPr>
      </p:cxnSp>
      <p:sp>
        <p:nvSpPr>
          <p:cNvPr id="23" name="TextBox 22"/>
          <p:cNvSpPr txBox="1"/>
          <p:nvPr/>
        </p:nvSpPr>
        <p:spPr>
          <a:xfrm>
            <a:off x="822960" y="4709160"/>
            <a:ext cx="3657600" cy="320040"/>
          </a:xfrm>
          <a:prstGeom prst="rect">
            <a:avLst/>
          </a:prstGeom>
          <a:noFill/>
        </p:spPr>
        <p:txBody>
          <a:bodyPr wrap="square" lIns="36576" rIns="36576" tIns="18288" bIns="18288" anchor="t">
            <a:spAutoFit/>
          </a:bodyPr>
          <a:lstStyle/>
          <a:p>
            <a:pPr algn="l">
              <a:spcAft>
                <a:spcPts val="0"/>
              </a:spcAft>
            </a:pPr>
            <a:r>
              <a:rPr sz="1200" b="1">
                <a:solidFill>
                  <a:srgbClr val="6B7280"/>
                </a:solidFill>
                <a:latin typeface="맑은 고딕"/>
                <a:ea typeface="맑은 고딕"/>
                <a:cs typeface="맑은 고딕"/>
              </a:rPr>
              <a:t>릴레이</a:t>
            </a:r>
          </a:p>
        </p:txBody>
      </p:sp>
      <p:sp>
        <p:nvSpPr>
          <p:cNvPr id="24" name="TextBox 23"/>
          <p:cNvSpPr txBox="1"/>
          <p:nvPr/>
        </p:nvSpPr>
        <p:spPr>
          <a:xfrm>
            <a:off x="7680960" y="4709160"/>
            <a:ext cx="3657600" cy="320040"/>
          </a:xfrm>
          <a:prstGeom prst="rect">
            <a:avLst/>
          </a:prstGeom>
          <a:noFill/>
        </p:spPr>
        <p:txBody>
          <a:bodyPr wrap="square" lIns="36576" rIns="36576" tIns="18288" bIns="18288" anchor="t">
            <a:spAutoFit/>
          </a:bodyPr>
          <a:lstStyle/>
          <a:p>
            <a:pPr algn="r">
              <a:spcAft>
                <a:spcPts val="0"/>
              </a:spcAft>
            </a:pPr>
            <a:r>
              <a:rPr sz="1200" b="1">
                <a:solidFill>
                  <a:srgbClr val="6B7280"/>
                </a:solidFill>
                <a:latin typeface="맑은 고딕"/>
                <a:ea typeface="맑은 고딕"/>
                <a:cs typeface="맑은 고딕"/>
              </a:rPr>
              <a:t>전용 서버</a:t>
            </a:r>
          </a:p>
        </p:txBody>
      </p:sp>
      <p:sp>
        <p:nvSpPr>
          <p:cNvPr id="25" name="Rounded Rectangle 24"/>
          <p:cNvSpPr/>
          <p:nvPr/>
        </p:nvSpPr>
        <p:spPr>
          <a:xfrm>
            <a:off x="2377440" y="5257800"/>
            <a:ext cx="3291840" cy="457200"/>
          </a:xfrm>
          <a:prstGeom prst="roundRect">
            <a:avLst>
              <a:gd name="adj" fmla="val 50000"/>
            </a:avLst>
          </a:prstGeom>
          <a:solidFill>
            <a:srgbClr val="F1F5F9"/>
          </a:solidFill>
          <a:ln>
            <a:noFill/>
          </a:ln>
        </p:spPr>
        <p:txBody>
          <a:bodyPr rtlCol="0" anchor="ctr" wrap="square" tIns="36576" bIns="36576"/>
          <a:lstStyle/>
          <a:p>
            <a:pPr algn="ctr">
              <a:spcAft>
                <a:spcPts val="0"/>
              </a:spcAft>
            </a:pPr>
            <a:r>
              <a:rPr sz="1400" b="1">
                <a:solidFill>
                  <a:srgbClr val="475569"/>
                </a:solidFill>
                <a:latin typeface="맑은 고딕"/>
                <a:ea typeface="맑은 고딕"/>
                <a:cs typeface="맑은 고딕"/>
              </a:rPr>
              <a:t>서버 비용 · 구현 난도  ↑</a:t>
            </a:r>
          </a:p>
        </p:txBody>
      </p:sp>
      <p:sp>
        <p:nvSpPr>
          <p:cNvPr id="26" name="Rounded Rectangle 25"/>
          <p:cNvSpPr/>
          <p:nvPr/>
        </p:nvSpPr>
        <p:spPr>
          <a:xfrm>
            <a:off x="6492240" y="5257800"/>
            <a:ext cx="3291840" cy="457200"/>
          </a:xfrm>
          <a:prstGeom prst="roundRect">
            <a:avLst>
              <a:gd name="adj" fmla="val 50000"/>
            </a:avLst>
          </a:prstGeom>
          <a:solidFill>
            <a:srgbClr val="DBEAFE"/>
          </a:solidFill>
          <a:ln>
            <a:noFill/>
          </a:ln>
        </p:spPr>
        <p:txBody>
          <a:bodyPr rtlCol="0" anchor="ctr" wrap="square" tIns="36576" bIns="36576"/>
          <a:lstStyle/>
          <a:p>
            <a:pPr algn="ctr">
              <a:spcAft>
                <a:spcPts val="0"/>
              </a:spcAft>
            </a:pPr>
            <a:r>
              <a:rPr sz="1400" b="1">
                <a:solidFill>
                  <a:srgbClr val="1E3A8A"/>
                </a:solidFill>
                <a:latin typeface="맑은 고딕"/>
                <a:ea typeface="맑은 고딕"/>
                <a:cs typeface="맑은 고딕"/>
              </a:rPr>
              <a:t>공정성 · 검증 능력  ↑</a:t>
            </a:r>
          </a:p>
        </p:txBody>
      </p:sp>
      <p:sp>
        <p:nvSpPr>
          <p:cNvPr id="27" name="TextBox 26"/>
          <p:cNvSpPr txBox="1"/>
          <p:nvPr/>
        </p:nvSpPr>
        <p:spPr>
          <a:xfrm>
            <a:off x="548640" y="5870448"/>
            <a:ext cx="11091672" cy="411480"/>
          </a:xfrm>
          <a:prstGeom prst="rect">
            <a:avLst/>
          </a:prstGeom>
          <a:noFill/>
        </p:spPr>
        <p:txBody>
          <a:bodyPr wrap="square" lIns="36576" rIns="36576" tIns="18288" bIns="18288" anchor="t">
            <a:spAutoFit/>
          </a:bodyPr>
          <a:lstStyle/>
          <a:p>
            <a:pPr algn="ctr">
              <a:spcAft>
                <a:spcPts val="0"/>
              </a:spcAft>
            </a:pPr>
            <a:r>
              <a:rPr sz="1600" b="1">
                <a:solidFill>
                  <a:srgbClr val="C2410C"/>
                </a:solidFill>
                <a:latin typeface="맑은 고딕"/>
                <a:ea typeface="맑은 고딕"/>
                <a:cs typeface="맑은 고딕"/>
              </a:rPr>
              <a:t>메시지가 서버를 지나가도, 서버가 게임 규칙을 판정하는 것은 아니다.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누가 게임 결과를 확정하는가: 네 가지 구조</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9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§5</a:t>
            </a:r>
          </a:p>
        </p:txBody>
      </p:sp>
      <p:cxnSp>
        <p:nvCxnSpPr>
          <p:cNvPr id="7" name="Connector 6"/>
          <p:cNvCxnSpPr/>
          <p:nvPr/>
        </p:nvCxnSpPr>
        <p:spPr>
          <a:xfrm>
            <a:off x="914400" y="1664208"/>
            <a:ext cx="10332720" cy="0"/>
          </a:xfrm>
          <a:prstGeom prst="line">
            <a:avLst/>
          </a:prstGeom>
          <a:ln w="28575">
            <a:solidFill>
              <a:srgbClr val="94A3B8"/>
            </a:solidFill>
            <a:round/>
            <a:tailEnd type="triangle" w="med" len="med"/>
          </a:ln>
        </p:spPr>
      </p:cxnSp>
      <p:sp>
        <p:nvSpPr>
          <p:cNvPr id="8" name="TextBox 7"/>
          <p:cNvSpPr txBox="1"/>
          <p:nvPr/>
        </p:nvSpPr>
        <p:spPr>
          <a:xfrm>
            <a:off x="548640" y="1371600"/>
            <a:ext cx="2743200" cy="274320"/>
          </a:xfrm>
          <a:prstGeom prst="rect">
            <a:avLst/>
          </a:prstGeom>
          <a:noFill/>
        </p:spPr>
        <p:txBody>
          <a:bodyPr wrap="square" lIns="36576" rIns="36576" tIns="18288" bIns="18288" anchor="t">
            <a:spAutoFit/>
          </a:bodyPr>
          <a:lstStyle/>
          <a:p>
            <a:pPr algn="l">
              <a:spcAft>
                <a:spcPts val="0"/>
              </a:spcAft>
            </a:pPr>
            <a:r>
              <a:rPr sz="1200" b="1">
                <a:solidFill>
                  <a:srgbClr val="6B7280"/>
                </a:solidFill>
                <a:latin typeface="맑은 고딕"/>
                <a:ea typeface="맑은 고딕"/>
                <a:cs typeface="맑은 고딕"/>
              </a:rPr>
              <a:t>빠르게 만들기 쉬움</a:t>
            </a:r>
          </a:p>
        </p:txBody>
      </p:sp>
      <p:sp>
        <p:nvSpPr>
          <p:cNvPr id="9" name="TextBox 8"/>
          <p:cNvSpPr txBox="1"/>
          <p:nvPr/>
        </p:nvSpPr>
        <p:spPr>
          <a:xfrm>
            <a:off x="8869680" y="1371600"/>
            <a:ext cx="2743200" cy="274320"/>
          </a:xfrm>
          <a:prstGeom prst="rect">
            <a:avLst/>
          </a:prstGeom>
          <a:noFill/>
        </p:spPr>
        <p:txBody>
          <a:bodyPr wrap="square" lIns="36576" rIns="36576" tIns="18288" bIns="18288" anchor="t">
            <a:spAutoFit/>
          </a:bodyPr>
          <a:lstStyle/>
          <a:p>
            <a:pPr algn="r">
              <a:spcAft>
                <a:spcPts val="0"/>
              </a:spcAft>
            </a:pPr>
            <a:r>
              <a:rPr sz="1200" b="1">
                <a:solidFill>
                  <a:srgbClr val="6B7280"/>
                </a:solidFill>
                <a:latin typeface="맑은 고딕"/>
                <a:ea typeface="맑은 고딕"/>
                <a:cs typeface="맑은 고딕"/>
              </a:rPr>
              <a:t>공정한 판정에 유리</a:t>
            </a:r>
          </a:p>
        </p:txBody>
      </p:sp>
      <p:sp>
        <p:nvSpPr>
          <p:cNvPr id="10" name="Rounded Rectangle 9"/>
          <p:cNvSpPr/>
          <p:nvPr/>
        </p:nvSpPr>
        <p:spPr>
          <a:xfrm>
            <a:off x="548640" y="1920240"/>
            <a:ext cx="2651760" cy="28803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1" name="TextBox 10"/>
          <p:cNvSpPr txBox="1"/>
          <p:nvPr/>
        </p:nvSpPr>
        <p:spPr>
          <a:xfrm>
            <a:off x="731520" y="2029968"/>
            <a:ext cx="2286000" cy="27432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01</a:t>
            </a:r>
          </a:p>
        </p:txBody>
      </p:sp>
      <p:sp>
        <p:nvSpPr>
          <p:cNvPr id="12" name="TextBox 11"/>
          <p:cNvSpPr txBox="1"/>
          <p:nvPr/>
        </p:nvSpPr>
        <p:spPr>
          <a:xfrm>
            <a:off x="731520" y="2286000"/>
            <a:ext cx="2377440" cy="411480"/>
          </a:xfrm>
          <a:prstGeom prst="rect">
            <a:avLst/>
          </a:prstGeom>
          <a:noFill/>
        </p:spPr>
        <p:txBody>
          <a:bodyPr wrap="square" lIns="36576" rIns="36576" tIns="18288" bIns="18288" anchor="t">
            <a:spAutoFit/>
          </a:bodyPr>
          <a:lstStyle/>
          <a:p>
            <a:pPr algn="l">
              <a:spcAft>
                <a:spcPts val="0"/>
              </a:spcAft>
            </a:pPr>
            <a:r>
              <a:rPr sz="1800" b="1">
                <a:solidFill>
                  <a:srgbClr val="1F2937"/>
                </a:solidFill>
                <a:latin typeface="맑은 고딕"/>
                <a:ea typeface="맑은 고딕"/>
                <a:cs typeface="맑은 고딕"/>
              </a:rPr>
              <a:t>클라이언트 주도</a:t>
            </a:r>
          </a:p>
        </p:txBody>
      </p:sp>
      <p:sp>
        <p:nvSpPr>
          <p:cNvPr id="13" name="TextBox 12"/>
          <p:cNvSpPr txBox="1"/>
          <p:nvPr/>
        </p:nvSpPr>
        <p:spPr>
          <a:xfrm>
            <a:off x="731520" y="2697480"/>
            <a:ext cx="2377440" cy="5029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a:t>
            </a:r>
            <a:r>
              <a:rPr sz="1200" b="1">
                <a:solidFill>
                  <a:srgbClr val="1F2937"/>
                </a:solidFill>
                <a:latin typeface="맑은 고딕"/>
                <a:ea typeface="맑은 고딕"/>
                <a:cs typeface="맑은 고딕"/>
              </a:rPr>
              <a:t>각 플레이어 클라이언트</a:t>
            </a:r>
          </a:p>
        </p:txBody>
      </p:sp>
      <p:sp>
        <p:nvSpPr>
          <p:cNvPr id="14" name="TextBox 13"/>
          <p:cNvSpPr txBox="1"/>
          <p:nvPr/>
        </p:nvSpPr>
        <p:spPr>
          <a:xfrm>
            <a:off x="731520" y="3246120"/>
            <a:ext cx="2377440" cy="274320"/>
          </a:xfrm>
          <a:prstGeom prst="rect">
            <a:avLst/>
          </a:prstGeom>
          <a:noFill/>
        </p:spPr>
        <p:txBody>
          <a:bodyPr wrap="square" lIns="36576" rIns="36576" tIns="18288" bIns="18288" anchor="t">
            <a:spAutoFit/>
          </a:bodyPr>
          <a:lstStyle/>
          <a:p>
            <a:pPr algn="l">
              <a:spcAft>
                <a:spcPts val="0"/>
              </a:spcAft>
            </a:pPr>
            <a:r>
              <a:rPr sz="1200" b="1">
                <a:solidFill>
                  <a:srgbClr val="047857"/>
                </a:solidFill>
                <a:latin typeface="맑은 고딕"/>
                <a:ea typeface="맑은 고딕"/>
                <a:cs typeface="맑은 고딕"/>
              </a:rPr>
              <a:t>장점</a:t>
            </a:r>
          </a:p>
        </p:txBody>
      </p:sp>
      <p:sp>
        <p:nvSpPr>
          <p:cNvPr id="15" name="TextBox 14"/>
          <p:cNvSpPr txBox="1"/>
          <p:nvPr/>
        </p:nvSpPr>
        <p:spPr>
          <a:xfrm>
            <a:off x="731520" y="349300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빠르게 만들기 쉽다</a:t>
            </a:r>
          </a:p>
        </p:txBody>
      </p:sp>
      <p:sp>
        <p:nvSpPr>
          <p:cNvPr id="16" name="TextBox 15"/>
          <p:cNvSpPr txBox="1"/>
          <p:nvPr/>
        </p:nvSpPr>
        <p:spPr>
          <a:xfrm>
            <a:off x="731520" y="4023360"/>
            <a:ext cx="2377440" cy="274320"/>
          </a:xfrm>
          <a:prstGeom prst="rect">
            <a:avLst/>
          </a:prstGeom>
          <a:noFill/>
        </p:spPr>
        <p:txBody>
          <a:bodyPr wrap="square" lIns="36576" rIns="36576" tIns="18288" bIns="18288" anchor="t">
            <a:spAutoFit/>
          </a:bodyPr>
          <a:lstStyle/>
          <a:p>
            <a:pPr algn="l">
              <a:spcAft>
                <a:spcPts val="0"/>
              </a:spcAft>
            </a:pPr>
            <a:r>
              <a:rPr sz="1200" b="1">
                <a:solidFill>
                  <a:srgbClr val="C2410C"/>
                </a:solidFill>
                <a:latin typeface="맑은 고딕"/>
                <a:ea typeface="맑은 고딕"/>
                <a:cs typeface="맑은 고딕"/>
              </a:rPr>
              <a:t>위험 · 비용</a:t>
            </a:r>
          </a:p>
        </p:txBody>
      </p:sp>
      <p:sp>
        <p:nvSpPr>
          <p:cNvPr id="17" name="TextBox 16"/>
          <p:cNvSpPr txBox="1"/>
          <p:nvPr/>
        </p:nvSpPr>
        <p:spPr>
          <a:xfrm>
            <a:off x="731520" y="427024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조작과 불일치에 약하다</a:t>
            </a:r>
          </a:p>
        </p:txBody>
      </p:sp>
      <p:sp>
        <p:nvSpPr>
          <p:cNvPr id="18" name="Rounded Rectangle 17"/>
          <p:cNvSpPr/>
          <p:nvPr/>
        </p:nvSpPr>
        <p:spPr>
          <a:xfrm>
            <a:off x="3364992" y="1920240"/>
            <a:ext cx="2651760" cy="28803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9" name="TextBox 18"/>
          <p:cNvSpPr txBox="1"/>
          <p:nvPr/>
        </p:nvSpPr>
        <p:spPr>
          <a:xfrm>
            <a:off x="3547872" y="2029968"/>
            <a:ext cx="2286000" cy="27432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02</a:t>
            </a:r>
          </a:p>
        </p:txBody>
      </p:sp>
      <p:sp>
        <p:nvSpPr>
          <p:cNvPr id="20" name="TextBox 19"/>
          <p:cNvSpPr txBox="1"/>
          <p:nvPr/>
        </p:nvSpPr>
        <p:spPr>
          <a:xfrm>
            <a:off x="3547872" y="2286000"/>
            <a:ext cx="2377440" cy="411480"/>
          </a:xfrm>
          <a:prstGeom prst="rect">
            <a:avLst/>
          </a:prstGeom>
          <a:noFill/>
        </p:spPr>
        <p:txBody>
          <a:bodyPr wrap="square" lIns="36576" rIns="36576" tIns="18288" bIns="18288" anchor="t">
            <a:spAutoFit/>
          </a:bodyPr>
          <a:lstStyle/>
          <a:p>
            <a:pPr algn="l">
              <a:spcAft>
                <a:spcPts val="0"/>
              </a:spcAft>
            </a:pPr>
            <a:r>
              <a:rPr sz="1800" b="1">
                <a:solidFill>
                  <a:srgbClr val="1F2937"/>
                </a:solidFill>
                <a:latin typeface="맑은 고딕"/>
                <a:ea typeface="맑은 고딕"/>
                <a:cs typeface="맑은 고딕"/>
              </a:rPr>
              <a:t>호스트 클라이언트</a:t>
            </a:r>
          </a:p>
        </p:txBody>
      </p:sp>
      <p:sp>
        <p:nvSpPr>
          <p:cNvPr id="21" name="TextBox 20"/>
          <p:cNvSpPr txBox="1"/>
          <p:nvPr/>
        </p:nvSpPr>
        <p:spPr>
          <a:xfrm>
            <a:off x="3547872" y="2697480"/>
            <a:ext cx="2377440" cy="5029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a:t>
            </a:r>
            <a:r>
              <a:rPr sz="1200" b="1">
                <a:solidFill>
                  <a:srgbClr val="1F2937"/>
                </a:solidFill>
                <a:latin typeface="맑은 고딕"/>
                <a:ea typeface="맑은 고딕"/>
                <a:cs typeface="맑은 고딕"/>
              </a:rPr>
              <a:t>방장 역할의 클라이언트</a:t>
            </a:r>
          </a:p>
        </p:txBody>
      </p:sp>
      <p:sp>
        <p:nvSpPr>
          <p:cNvPr id="22" name="TextBox 21"/>
          <p:cNvSpPr txBox="1"/>
          <p:nvPr/>
        </p:nvSpPr>
        <p:spPr>
          <a:xfrm>
            <a:off x="3547872" y="3246120"/>
            <a:ext cx="2377440" cy="274320"/>
          </a:xfrm>
          <a:prstGeom prst="rect">
            <a:avLst/>
          </a:prstGeom>
          <a:noFill/>
        </p:spPr>
        <p:txBody>
          <a:bodyPr wrap="square" lIns="36576" rIns="36576" tIns="18288" bIns="18288" anchor="t">
            <a:spAutoFit/>
          </a:bodyPr>
          <a:lstStyle/>
          <a:p>
            <a:pPr algn="l">
              <a:spcAft>
                <a:spcPts val="0"/>
              </a:spcAft>
            </a:pPr>
            <a:r>
              <a:rPr sz="1200" b="1">
                <a:solidFill>
                  <a:srgbClr val="047857"/>
                </a:solidFill>
                <a:latin typeface="맑은 고딕"/>
                <a:ea typeface="맑은 고딕"/>
                <a:cs typeface="맑은 고딕"/>
              </a:rPr>
              <a:t>장점</a:t>
            </a:r>
          </a:p>
        </p:txBody>
      </p:sp>
      <p:sp>
        <p:nvSpPr>
          <p:cNvPr id="23" name="TextBox 22"/>
          <p:cNvSpPr txBox="1"/>
          <p:nvPr/>
        </p:nvSpPr>
        <p:spPr>
          <a:xfrm>
            <a:off x="3547872" y="349300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별도 서버 비용이 적다</a:t>
            </a:r>
          </a:p>
        </p:txBody>
      </p:sp>
      <p:sp>
        <p:nvSpPr>
          <p:cNvPr id="24" name="TextBox 23"/>
          <p:cNvSpPr txBox="1"/>
          <p:nvPr/>
        </p:nvSpPr>
        <p:spPr>
          <a:xfrm>
            <a:off x="3547872" y="4023360"/>
            <a:ext cx="2377440" cy="274320"/>
          </a:xfrm>
          <a:prstGeom prst="rect">
            <a:avLst/>
          </a:prstGeom>
          <a:noFill/>
        </p:spPr>
        <p:txBody>
          <a:bodyPr wrap="square" lIns="36576" rIns="36576" tIns="18288" bIns="18288" anchor="t">
            <a:spAutoFit/>
          </a:bodyPr>
          <a:lstStyle/>
          <a:p>
            <a:pPr algn="l">
              <a:spcAft>
                <a:spcPts val="0"/>
              </a:spcAft>
            </a:pPr>
            <a:r>
              <a:rPr sz="1200" b="1">
                <a:solidFill>
                  <a:srgbClr val="C2410C"/>
                </a:solidFill>
                <a:latin typeface="맑은 고딕"/>
                <a:ea typeface="맑은 고딕"/>
                <a:cs typeface="맑은 고딕"/>
              </a:rPr>
              <a:t>위험 · 비용</a:t>
            </a:r>
          </a:p>
        </p:txBody>
      </p:sp>
      <p:sp>
        <p:nvSpPr>
          <p:cNvPr id="25" name="TextBox 24"/>
          <p:cNvSpPr txBox="1"/>
          <p:nvPr/>
        </p:nvSpPr>
        <p:spPr>
          <a:xfrm>
            <a:off x="3547872" y="427024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호스트 이탈 · 호스트 조작</a:t>
            </a:r>
          </a:p>
        </p:txBody>
      </p:sp>
      <p:sp>
        <p:nvSpPr>
          <p:cNvPr id="26" name="Rounded Rectangle 25"/>
          <p:cNvSpPr/>
          <p:nvPr/>
        </p:nvSpPr>
        <p:spPr>
          <a:xfrm>
            <a:off x="6181344" y="1920240"/>
            <a:ext cx="2651760" cy="288036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27" name="TextBox 26"/>
          <p:cNvSpPr txBox="1"/>
          <p:nvPr/>
        </p:nvSpPr>
        <p:spPr>
          <a:xfrm>
            <a:off x="6364224" y="2029968"/>
            <a:ext cx="2286000" cy="27432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03</a:t>
            </a:r>
          </a:p>
        </p:txBody>
      </p:sp>
      <p:sp>
        <p:nvSpPr>
          <p:cNvPr id="28" name="TextBox 27"/>
          <p:cNvSpPr txBox="1"/>
          <p:nvPr/>
        </p:nvSpPr>
        <p:spPr>
          <a:xfrm>
            <a:off x="6364224" y="2286000"/>
            <a:ext cx="2377440" cy="411480"/>
          </a:xfrm>
          <a:prstGeom prst="rect">
            <a:avLst/>
          </a:prstGeom>
          <a:noFill/>
        </p:spPr>
        <p:txBody>
          <a:bodyPr wrap="square" lIns="36576" rIns="36576" tIns="18288" bIns="18288" anchor="t">
            <a:spAutoFit/>
          </a:bodyPr>
          <a:lstStyle/>
          <a:p>
            <a:pPr algn="l">
              <a:spcAft>
                <a:spcPts val="0"/>
              </a:spcAft>
            </a:pPr>
            <a:r>
              <a:rPr sz="1800" b="1">
                <a:solidFill>
                  <a:srgbClr val="1F2937"/>
                </a:solidFill>
                <a:latin typeface="맑은 고딕"/>
                <a:ea typeface="맑은 고딕"/>
                <a:cs typeface="맑은 고딕"/>
              </a:rPr>
              <a:t>릴레이 룸</a:t>
            </a:r>
          </a:p>
        </p:txBody>
      </p:sp>
      <p:sp>
        <p:nvSpPr>
          <p:cNvPr id="29" name="TextBox 28"/>
          <p:cNvSpPr txBox="1"/>
          <p:nvPr/>
        </p:nvSpPr>
        <p:spPr>
          <a:xfrm>
            <a:off x="6364224" y="2697480"/>
            <a:ext cx="2377440" cy="5029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a:t>
            </a:r>
            <a:r>
              <a:rPr sz="1200" b="1">
                <a:solidFill>
                  <a:srgbClr val="1F2937"/>
                </a:solidFill>
                <a:latin typeface="맑은 고딕"/>
                <a:ea typeface="맑은 고딕"/>
                <a:cs typeface="맑은 고딕"/>
              </a:rPr>
              <a:t>클라이언트들 (공유 상태)</a:t>
            </a:r>
          </a:p>
        </p:txBody>
      </p:sp>
      <p:sp>
        <p:nvSpPr>
          <p:cNvPr id="30" name="TextBox 29"/>
          <p:cNvSpPr txBox="1"/>
          <p:nvPr/>
        </p:nvSpPr>
        <p:spPr>
          <a:xfrm>
            <a:off x="6364224" y="3246120"/>
            <a:ext cx="2377440" cy="274320"/>
          </a:xfrm>
          <a:prstGeom prst="rect">
            <a:avLst/>
          </a:prstGeom>
          <a:noFill/>
        </p:spPr>
        <p:txBody>
          <a:bodyPr wrap="square" lIns="36576" rIns="36576" tIns="18288" bIns="18288" anchor="t">
            <a:spAutoFit/>
          </a:bodyPr>
          <a:lstStyle/>
          <a:p>
            <a:pPr algn="l">
              <a:spcAft>
                <a:spcPts val="0"/>
              </a:spcAft>
            </a:pPr>
            <a:r>
              <a:rPr sz="1200" b="1">
                <a:solidFill>
                  <a:srgbClr val="047857"/>
                </a:solidFill>
                <a:latin typeface="맑은 고딕"/>
                <a:ea typeface="맑은 고딕"/>
                <a:cs typeface="맑은 고딕"/>
              </a:rPr>
              <a:t>장점</a:t>
            </a:r>
          </a:p>
        </p:txBody>
      </p:sp>
      <p:sp>
        <p:nvSpPr>
          <p:cNvPr id="31" name="TextBox 30"/>
          <p:cNvSpPr txBox="1"/>
          <p:nvPr/>
        </p:nvSpPr>
        <p:spPr>
          <a:xfrm>
            <a:off x="6364224" y="349300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소규모 협동에 단순하다</a:t>
            </a:r>
          </a:p>
        </p:txBody>
      </p:sp>
      <p:sp>
        <p:nvSpPr>
          <p:cNvPr id="32" name="TextBox 31"/>
          <p:cNvSpPr txBox="1"/>
          <p:nvPr/>
        </p:nvSpPr>
        <p:spPr>
          <a:xfrm>
            <a:off x="6364224" y="4023360"/>
            <a:ext cx="2377440" cy="274320"/>
          </a:xfrm>
          <a:prstGeom prst="rect">
            <a:avLst/>
          </a:prstGeom>
          <a:noFill/>
        </p:spPr>
        <p:txBody>
          <a:bodyPr wrap="square" lIns="36576" rIns="36576" tIns="18288" bIns="18288" anchor="t">
            <a:spAutoFit/>
          </a:bodyPr>
          <a:lstStyle/>
          <a:p>
            <a:pPr algn="l">
              <a:spcAft>
                <a:spcPts val="0"/>
              </a:spcAft>
            </a:pPr>
            <a:r>
              <a:rPr sz="1200" b="1">
                <a:solidFill>
                  <a:srgbClr val="C2410C"/>
                </a:solidFill>
                <a:latin typeface="맑은 고딕"/>
                <a:ea typeface="맑은 고딕"/>
                <a:cs typeface="맑은 고딕"/>
              </a:rPr>
              <a:t>위험 · 비용</a:t>
            </a:r>
          </a:p>
        </p:txBody>
      </p:sp>
      <p:sp>
        <p:nvSpPr>
          <p:cNvPr id="33" name="TextBox 32"/>
          <p:cNvSpPr txBox="1"/>
          <p:nvPr/>
        </p:nvSpPr>
        <p:spPr>
          <a:xfrm>
            <a:off x="6364224" y="427024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권한 있는 판정 서버 아님</a:t>
            </a:r>
          </a:p>
        </p:txBody>
      </p:sp>
      <p:sp>
        <p:nvSpPr>
          <p:cNvPr id="34" name="Rounded Rectangle 33"/>
          <p:cNvSpPr/>
          <p:nvPr/>
        </p:nvSpPr>
        <p:spPr>
          <a:xfrm>
            <a:off x="8997696" y="1920240"/>
            <a:ext cx="2651760" cy="2880360"/>
          </a:xfrm>
          <a:prstGeom prst="roundRect">
            <a:avLst>
              <a:gd name="adj" fmla="val 5000"/>
            </a:avLst>
          </a:prstGeom>
          <a:solidFill>
            <a:srgbClr val="EFF6FF"/>
          </a:solidFill>
          <a:ln w="19050">
            <a:solidFill>
              <a:srgbClr val="2563EB"/>
            </a:solidFill>
          </a:ln>
        </p:spPr>
        <p:txBody>
          <a:bodyPr rtlCol="0" anchor="ctr" wrap="square" tIns="36576" bIns="36576"/>
          <a:lstStyle/>
          <a:p>
            <a:pPr algn="ctr"/>
          </a:p>
        </p:txBody>
      </p:sp>
      <p:sp>
        <p:nvSpPr>
          <p:cNvPr id="35" name="TextBox 34"/>
          <p:cNvSpPr txBox="1"/>
          <p:nvPr/>
        </p:nvSpPr>
        <p:spPr>
          <a:xfrm>
            <a:off x="9180576" y="2029968"/>
            <a:ext cx="2286000" cy="274320"/>
          </a:xfrm>
          <a:prstGeom prst="rect">
            <a:avLst/>
          </a:prstGeom>
          <a:noFill/>
        </p:spPr>
        <p:txBody>
          <a:bodyPr wrap="square" lIns="36576" rIns="36576" tIns="18288" bIns="18288" anchor="t">
            <a:spAutoFit/>
          </a:bodyPr>
          <a:lstStyle/>
          <a:p>
            <a:pPr algn="l">
              <a:spcAft>
                <a:spcPts val="0"/>
              </a:spcAft>
            </a:pPr>
            <a:r>
              <a:rPr sz="1300" b="1">
                <a:solidFill>
                  <a:srgbClr val="2563EB"/>
                </a:solidFill>
                <a:latin typeface="맑은 고딕"/>
                <a:ea typeface="맑은 고딕"/>
                <a:cs typeface="맑은 고딕"/>
              </a:rPr>
              <a:t>04</a:t>
            </a:r>
          </a:p>
        </p:txBody>
      </p:sp>
      <p:sp>
        <p:nvSpPr>
          <p:cNvPr id="36" name="TextBox 35"/>
          <p:cNvSpPr txBox="1"/>
          <p:nvPr/>
        </p:nvSpPr>
        <p:spPr>
          <a:xfrm>
            <a:off x="9180576" y="2286000"/>
            <a:ext cx="2377440" cy="411480"/>
          </a:xfrm>
          <a:prstGeom prst="rect">
            <a:avLst/>
          </a:prstGeom>
          <a:noFill/>
        </p:spPr>
        <p:txBody>
          <a:bodyPr wrap="square" lIns="36576" rIns="36576" tIns="18288" bIns="18288" anchor="t">
            <a:spAutoFit/>
          </a:bodyPr>
          <a:lstStyle/>
          <a:p>
            <a:pPr algn="l">
              <a:spcAft>
                <a:spcPts val="0"/>
              </a:spcAft>
            </a:pPr>
            <a:r>
              <a:rPr sz="1800" b="1">
                <a:solidFill>
                  <a:srgbClr val="1F2937"/>
                </a:solidFill>
                <a:latin typeface="맑은 고딕"/>
                <a:ea typeface="맑은 고딕"/>
                <a:cs typeface="맑은 고딕"/>
              </a:rPr>
              <a:t>전용 게임 서버</a:t>
            </a:r>
          </a:p>
        </p:txBody>
      </p:sp>
      <p:sp>
        <p:nvSpPr>
          <p:cNvPr id="37" name="TextBox 36"/>
          <p:cNvSpPr txBox="1"/>
          <p:nvPr/>
        </p:nvSpPr>
        <p:spPr>
          <a:xfrm>
            <a:off x="9180576" y="2697480"/>
            <a:ext cx="2377440" cy="50292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판정  </a:t>
            </a:r>
            <a:r>
              <a:rPr sz="1200" b="1">
                <a:solidFill>
                  <a:srgbClr val="1F2937"/>
                </a:solidFill>
                <a:latin typeface="맑은 고딕"/>
                <a:ea typeface="맑은 고딕"/>
                <a:cs typeface="맑은 고딕"/>
              </a:rPr>
              <a:t>서버</a:t>
            </a:r>
          </a:p>
        </p:txBody>
      </p:sp>
      <p:sp>
        <p:nvSpPr>
          <p:cNvPr id="38" name="TextBox 37"/>
          <p:cNvSpPr txBox="1"/>
          <p:nvPr/>
        </p:nvSpPr>
        <p:spPr>
          <a:xfrm>
            <a:off x="9180576" y="3246120"/>
            <a:ext cx="2377440" cy="274320"/>
          </a:xfrm>
          <a:prstGeom prst="rect">
            <a:avLst/>
          </a:prstGeom>
          <a:noFill/>
        </p:spPr>
        <p:txBody>
          <a:bodyPr wrap="square" lIns="36576" rIns="36576" tIns="18288" bIns="18288" anchor="t">
            <a:spAutoFit/>
          </a:bodyPr>
          <a:lstStyle/>
          <a:p>
            <a:pPr algn="l">
              <a:spcAft>
                <a:spcPts val="0"/>
              </a:spcAft>
            </a:pPr>
            <a:r>
              <a:rPr sz="1200" b="1">
                <a:solidFill>
                  <a:srgbClr val="047857"/>
                </a:solidFill>
                <a:latin typeface="맑은 고딕"/>
                <a:ea typeface="맑은 고딕"/>
                <a:cs typeface="맑은 고딕"/>
              </a:rPr>
              <a:t>장점</a:t>
            </a:r>
          </a:p>
        </p:txBody>
      </p:sp>
      <p:sp>
        <p:nvSpPr>
          <p:cNvPr id="39" name="TextBox 38"/>
          <p:cNvSpPr txBox="1"/>
          <p:nvPr/>
        </p:nvSpPr>
        <p:spPr>
          <a:xfrm>
            <a:off x="9180576" y="349300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공정한 판정과 검증</a:t>
            </a:r>
          </a:p>
        </p:txBody>
      </p:sp>
      <p:sp>
        <p:nvSpPr>
          <p:cNvPr id="40" name="TextBox 39"/>
          <p:cNvSpPr txBox="1"/>
          <p:nvPr/>
        </p:nvSpPr>
        <p:spPr>
          <a:xfrm>
            <a:off x="9180576" y="4023360"/>
            <a:ext cx="2377440" cy="274320"/>
          </a:xfrm>
          <a:prstGeom prst="rect">
            <a:avLst/>
          </a:prstGeom>
          <a:noFill/>
        </p:spPr>
        <p:txBody>
          <a:bodyPr wrap="square" lIns="36576" rIns="36576" tIns="18288" bIns="18288" anchor="t">
            <a:spAutoFit/>
          </a:bodyPr>
          <a:lstStyle/>
          <a:p>
            <a:pPr algn="l">
              <a:spcAft>
                <a:spcPts val="0"/>
              </a:spcAft>
            </a:pPr>
            <a:r>
              <a:rPr sz="1200" b="1">
                <a:solidFill>
                  <a:srgbClr val="C2410C"/>
                </a:solidFill>
                <a:latin typeface="맑은 고딕"/>
                <a:ea typeface="맑은 고딕"/>
                <a:cs typeface="맑은 고딕"/>
              </a:rPr>
              <a:t>위험 · 비용</a:t>
            </a:r>
          </a:p>
        </p:txBody>
      </p:sp>
      <p:sp>
        <p:nvSpPr>
          <p:cNvPr id="41" name="TextBox 40"/>
          <p:cNvSpPr txBox="1"/>
          <p:nvPr/>
        </p:nvSpPr>
        <p:spPr>
          <a:xfrm>
            <a:off x="9180576" y="4270248"/>
            <a:ext cx="2377440" cy="5029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서버 호스팅과 운영 필요</a:t>
            </a:r>
          </a:p>
        </p:txBody>
      </p:sp>
      <p:sp>
        <p:nvSpPr>
          <p:cNvPr id="42" name="Rounded Rectangle 41"/>
          <p:cNvSpPr/>
          <p:nvPr/>
        </p:nvSpPr>
        <p:spPr>
          <a:xfrm>
            <a:off x="548640" y="4983480"/>
            <a:ext cx="11091672" cy="1188720"/>
          </a:xfrm>
          <a:prstGeom prst="roundRect">
            <a:avLst>
              <a:gd name="adj" fmla="val 6000"/>
            </a:avLst>
          </a:prstGeom>
          <a:solidFill>
            <a:srgbClr val="0F172A"/>
          </a:solidFill>
          <a:ln>
            <a:noFill/>
          </a:ln>
        </p:spPr>
        <p:txBody>
          <a:bodyPr rtlCol="0" anchor="ctr" wrap="square" tIns="36576" bIns="36576"/>
          <a:lstStyle/>
          <a:p>
            <a:pPr algn="ctr"/>
          </a:p>
        </p:txBody>
      </p:sp>
      <p:sp>
        <p:nvSpPr>
          <p:cNvPr id="43" name="TextBox 42"/>
          <p:cNvSpPr txBox="1"/>
          <p:nvPr/>
        </p:nvSpPr>
        <p:spPr>
          <a:xfrm>
            <a:off x="868680" y="5102352"/>
            <a:ext cx="10515600" cy="457200"/>
          </a:xfrm>
          <a:prstGeom prst="rect">
            <a:avLst/>
          </a:prstGeom>
          <a:noFill/>
        </p:spPr>
        <p:txBody>
          <a:bodyPr wrap="square" lIns="36576" rIns="36576" tIns="18288" bIns="18288" anchor="t">
            <a:spAutoFit/>
          </a:bodyPr>
          <a:lstStyle/>
          <a:p>
            <a:pPr algn="l">
              <a:spcAft>
                <a:spcPts val="0"/>
              </a:spcAft>
            </a:pPr>
            <a:r>
              <a:rPr sz="2000" b="1">
                <a:solidFill>
                  <a:srgbClr val="FFFFFF"/>
                </a:solidFill>
                <a:latin typeface="맑은 고딕"/>
                <a:ea typeface="맑은 고딕"/>
                <a:cs typeface="맑은 고딕"/>
              </a:rPr>
              <a:t>전적 · 보상 · 랭킹은 신뢰할 수 있는 서버 검증을 거친 뒤 저장한다</a:t>
            </a:r>
          </a:p>
        </p:txBody>
      </p:sp>
      <p:sp>
        <p:nvSpPr>
          <p:cNvPr id="44" name="TextBox 43"/>
          <p:cNvSpPr txBox="1"/>
          <p:nvPr/>
        </p:nvSpPr>
        <p:spPr>
          <a:xfrm>
            <a:off x="868680" y="5596128"/>
            <a:ext cx="10515600" cy="457200"/>
          </a:xfrm>
          <a:prstGeom prst="rect">
            <a:avLst/>
          </a:prstGeom>
          <a:noFill/>
        </p:spPr>
        <p:txBody>
          <a:bodyPr wrap="square" lIns="36576" rIns="36576" tIns="18288" bIns="18288" anchor="t">
            <a:spAutoFit/>
          </a:bodyPr>
          <a:lstStyle/>
          <a:p>
            <a:pPr algn="l">
              <a:spcAft>
                <a:spcPts val="0"/>
              </a:spcAft>
            </a:pPr>
            <a:r>
              <a:rPr sz="1400" b="0">
                <a:solidFill>
                  <a:srgbClr val="CBD5E1"/>
                </a:solidFill>
                <a:latin typeface="맑은 고딕"/>
                <a:ea typeface="맑은 고딕"/>
                <a:cs typeface="맑은 고딕"/>
              </a:rPr>
              <a:t>플레이는 릴레이로 가볍게, 저장하는 순간에는 서버가 검증  (예: 5분 경기를 10초 만에 이겼다는 결과는 거부)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2 · 서버 구성 요소</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DB, 캐시, Firebase의 역할</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10 / 22</a:t>
            </a:r>
          </a:p>
        </p:txBody>
      </p:sp>
      <p:sp>
        <p:nvSpPr>
          <p:cNvPr id="6" name="Rounded Rectangle 5"/>
          <p:cNvSpPr/>
          <p:nvPr/>
        </p:nvSpPr>
        <p:spPr>
          <a:xfrm>
            <a:off x="548640" y="1554480"/>
            <a:ext cx="3520440" cy="301752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7" name="Rectangle 6"/>
          <p:cNvSpPr/>
          <p:nvPr/>
        </p:nvSpPr>
        <p:spPr>
          <a:xfrm>
            <a:off x="548640" y="1554480"/>
            <a:ext cx="3520440" cy="91440"/>
          </a:xfrm>
          <a:prstGeom prst="rect">
            <a:avLst/>
          </a:prstGeom>
          <a:solidFill>
            <a:srgbClr val="475569"/>
          </a:solidFill>
          <a:ln>
            <a:noFill/>
          </a:ln>
        </p:spPr>
        <p:txBody>
          <a:bodyPr rtlCol="0" anchor="ctr" wrap="square" tIns="36576" bIns="36576"/>
          <a:lstStyle/>
          <a:p>
            <a:pPr algn="ctr"/>
          </a:p>
        </p:txBody>
      </p:sp>
      <p:sp>
        <p:nvSpPr>
          <p:cNvPr id="8" name="TextBox 7"/>
          <p:cNvSpPr txBox="1"/>
          <p:nvPr/>
        </p:nvSpPr>
        <p:spPr>
          <a:xfrm>
            <a:off x="822959" y="1783080"/>
            <a:ext cx="3017520" cy="274320"/>
          </a:xfrm>
          <a:prstGeom prst="rect">
            <a:avLst/>
          </a:prstGeom>
          <a:noFill/>
        </p:spPr>
        <p:txBody>
          <a:bodyPr wrap="square" lIns="36576" rIns="36576" tIns="18288" bIns="18288" anchor="t">
            <a:spAutoFit/>
          </a:bodyPr>
          <a:lstStyle/>
          <a:p>
            <a:pPr algn="l">
              <a:spcAft>
                <a:spcPts val="0"/>
              </a:spcAft>
            </a:pPr>
            <a:r>
              <a:rPr sz="1200" b="1">
                <a:solidFill>
                  <a:srgbClr val="475569"/>
                </a:solidFill>
                <a:latin typeface="맑은 고딕"/>
                <a:ea typeface="맑은 고딕"/>
                <a:cs typeface="맑은 고딕"/>
              </a:rPr>
              <a:t>수명: 몇 달 이상</a:t>
            </a:r>
          </a:p>
        </p:txBody>
      </p:sp>
      <p:sp>
        <p:nvSpPr>
          <p:cNvPr id="9" name="TextBox 8"/>
          <p:cNvSpPr txBox="1"/>
          <p:nvPr/>
        </p:nvSpPr>
        <p:spPr>
          <a:xfrm>
            <a:off x="822959" y="2057400"/>
            <a:ext cx="3017520" cy="457200"/>
          </a:xfrm>
          <a:prstGeom prst="rect">
            <a:avLst/>
          </a:prstGeom>
          <a:noFill/>
        </p:spPr>
        <p:txBody>
          <a:bodyPr wrap="square" lIns="36576" rIns="36576" tIns="18288" bIns="18288" anchor="t">
            <a:spAutoFit/>
          </a:bodyPr>
          <a:lstStyle/>
          <a:p>
            <a:pPr algn="l">
              <a:spcAft>
                <a:spcPts val="0"/>
              </a:spcAft>
            </a:pPr>
            <a:r>
              <a:rPr sz="2200" b="1">
                <a:solidFill>
                  <a:srgbClr val="1F2937"/>
                </a:solidFill>
                <a:latin typeface="맑은 고딕"/>
                <a:ea typeface="맑은 고딕"/>
                <a:cs typeface="맑은 고딕"/>
              </a:rPr>
              <a:t>DB · Firebase</a:t>
            </a:r>
          </a:p>
        </p:txBody>
      </p:sp>
      <p:sp>
        <p:nvSpPr>
          <p:cNvPr id="10" name="TextBox 9"/>
          <p:cNvSpPr txBox="1"/>
          <p:nvPr/>
        </p:nvSpPr>
        <p:spPr>
          <a:xfrm>
            <a:off x="822959" y="2542032"/>
            <a:ext cx="301752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영구 · 정확해야 한다</a:t>
            </a:r>
          </a:p>
        </p:txBody>
      </p:sp>
      <p:sp>
        <p:nvSpPr>
          <p:cNvPr id="11" name="TextBox 10"/>
          <p:cNvSpPr txBox="1"/>
          <p:nvPr/>
        </p:nvSpPr>
        <p:spPr>
          <a:xfrm>
            <a:off x="822959" y="3017520"/>
            <a:ext cx="3017520" cy="1463040"/>
          </a:xfrm>
          <a:prstGeom prst="rect">
            <a:avLst/>
          </a:prstGeom>
          <a:noFill/>
        </p:spPr>
        <p:txBody>
          <a:bodyPr wrap="square" lIns="36576" rIns="36576" tIns="18288" bIns="18288" anchor="t">
            <a:spAutoFit/>
          </a:bodyPr>
          <a:lstStyle/>
          <a:p>
            <a:pPr algn="l">
              <a:spcAft>
                <a:spcPts val="400"/>
              </a:spcAft>
            </a:pPr>
            <a:r>
              <a:rPr sz="1600" b="0">
                <a:solidFill>
                  <a:srgbClr val="1F2937"/>
                </a:solidFill>
                <a:latin typeface="맑은 고딕"/>
                <a:ea typeface="맑은 고딕"/>
                <a:cs typeface="맑은 고딕"/>
              </a:rPr>
              <a:t>•  계정 · 프로필</a:t>
            </a:r>
          </a:p>
          <a:p>
            <a:pPr algn="l">
              <a:spcAft>
                <a:spcPts val="400"/>
              </a:spcAft>
            </a:pPr>
            <a:r>
              <a:rPr sz="1600" b="0">
                <a:solidFill>
                  <a:srgbClr val="1F2937"/>
                </a:solidFill>
                <a:latin typeface="맑은 고딕"/>
                <a:ea typeface="맑은 고딕"/>
                <a:cs typeface="맑은 고딕"/>
              </a:rPr>
              <a:t>•  전적 · 보상</a:t>
            </a:r>
          </a:p>
          <a:p>
            <a:pPr algn="l">
              <a:spcAft>
                <a:spcPts val="400"/>
              </a:spcAft>
            </a:pPr>
            <a:r>
              <a:rPr sz="1600" b="0">
                <a:solidFill>
                  <a:srgbClr val="1F2937"/>
                </a:solidFill>
                <a:latin typeface="맑은 고딕"/>
                <a:ea typeface="맑은 고딕"/>
                <a:cs typeface="맑은 고딕"/>
              </a:rPr>
              <a:t>•  구매 기록</a:t>
            </a:r>
          </a:p>
        </p:txBody>
      </p:sp>
      <p:sp>
        <p:nvSpPr>
          <p:cNvPr id="12" name="Rounded Rectangle 11"/>
          <p:cNvSpPr/>
          <p:nvPr/>
        </p:nvSpPr>
        <p:spPr>
          <a:xfrm>
            <a:off x="4334255" y="1554480"/>
            <a:ext cx="3520440" cy="301752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3" name="Rectangle 12"/>
          <p:cNvSpPr/>
          <p:nvPr/>
        </p:nvSpPr>
        <p:spPr>
          <a:xfrm>
            <a:off x="4334255" y="1554480"/>
            <a:ext cx="3520440" cy="91440"/>
          </a:xfrm>
          <a:prstGeom prst="rect">
            <a:avLst/>
          </a:prstGeom>
          <a:solidFill>
            <a:srgbClr val="0E7490"/>
          </a:solidFill>
          <a:ln>
            <a:noFill/>
          </a:ln>
        </p:spPr>
        <p:txBody>
          <a:bodyPr rtlCol="0" anchor="ctr" wrap="square" tIns="36576" bIns="36576"/>
          <a:lstStyle/>
          <a:p>
            <a:pPr algn="ctr"/>
          </a:p>
        </p:txBody>
      </p:sp>
      <p:sp>
        <p:nvSpPr>
          <p:cNvPr id="14" name="TextBox 13"/>
          <p:cNvSpPr txBox="1"/>
          <p:nvPr/>
        </p:nvSpPr>
        <p:spPr>
          <a:xfrm>
            <a:off x="4608575" y="1783080"/>
            <a:ext cx="3017520" cy="274320"/>
          </a:xfrm>
          <a:prstGeom prst="rect">
            <a:avLst/>
          </a:prstGeom>
          <a:noFill/>
        </p:spPr>
        <p:txBody>
          <a:bodyPr wrap="square" lIns="36576" rIns="36576" tIns="18288" bIns="18288" anchor="t">
            <a:spAutoFit/>
          </a:bodyPr>
          <a:lstStyle/>
          <a:p>
            <a:pPr algn="l">
              <a:spcAft>
                <a:spcPts val="0"/>
              </a:spcAft>
            </a:pPr>
            <a:r>
              <a:rPr sz="1200" b="1">
                <a:solidFill>
                  <a:srgbClr val="0E7490"/>
                </a:solidFill>
                <a:latin typeface="맑은 고딕"/>
                <a:ea typeface="맑은 고딕"/>
                <a:cs typeface="맑은 고딕"/>
              </a:rPr>
              <a:t>수명: 몇 분 ~ 몇 시간</a:t>
            </a:r>
          </a:p>
        </p:txBody>
      </p:sp>
      <p:sp>
        <p:nvSpPr>
          <p:cNvPr id="15" name="TextBox 14"/>
          <p:cNvSpPr txBox="1"/>
          <p:nvPr/>
        </p:nvSpPr>
        <p:spPr>
          <a:xfrm>
            <a:off x="4608575" y="2057400"/>
            <a:ext cx="3017520" cy="457200"/>
          </a:xfrm>
          <a:prstGeom prst="rect">
            <a:avLst/>
          </a:prstGeom>
          <a:noFill/>
        </p:spPr>
        <p:txBody>
          <a:bodyPr wrap="square" lIns="36576" rIns="36576" tIns="18288" bIns="18288" anchor="t">
            <a:spAutoFit/>
          </a:bodyPr>
          <a:lstStyle/>
          <a:p>
            <a:pPr algn="l">
              <a:spcAft>
                <a:spcPts val="0"/>
              </a:spcAft>
            </a:pPr>
            <a:r>
              <a:rPr sz="2200" b="1">
                <a:solidFill>
                  <a:srgbClr val="1F2937"/>
                </a:solidFill>
                <a:latin typeface="맑은 고딕"/>
                <a:ea typeface="맑은 고딕"/>
                <a:cs typeface="맑은 고딕"/>
              </a:rPr>
              <a:t>캐시</a:t>
            </a:r>
          </a:p>
        </p:txBody>
      </p:sp>
      <p:sp>
        <p:nvSpPr>
          <p:cNvPr id="16" name="TextBox 15"/>
          <p:cNvSpPr txBox="1"/>
          <p:nvPr/>
        </p:nvSpPr>
        <p:spPr>
          <a:xfrm>
            <a:off x="4608575" y="2542032"/>
            <a:ext cx="301752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빠르지만 사라질 수 있다</a:t>
            </a:r>
          </a:p>
        </p:txBody>
      </p:sp>
      <p:sp>
        <p:nvSpPr>
          <p:cNvPr id="17" name="TextBox 16"/>
          <p:cNvSpPr txBox="1"/>
          <p:nvPr/>
        </p:nvSpPr>
        <p:spPr>
          <a:xfrm>
            <a:off x="4608575" y="3017520"/>
            <a:ext cx="3017520" cy="1463040"/>
          </a:xfrm>
          <a:prstGeom prst="rect">
            <a:avLst/>
          </a:prstGeom>
          <a:noFill/>
        </p:spPr>
        <p:txBody>
          <a:bodyPr wrap="square" lIns="36576" rIns="36576" tIns="18288" bIns="18288" anchor="t">
            <a:spAutoFit/>
          </a:bodyPr>
          <a:lstStyle/>
          <a:p>
            <a:pPr algn="l">
              <a:spcAft>
                <a:spcPts val="400"/>
              </a:spcAft>
            </a:pPr>
            <a:r>
              <a:rPr sz="1600" b="0">
                <a:solidFill>
                  <a:srgbClr val="1F2937"/>
                </a:solidFill>
                <a:latin typeface="맑은 고딕"/>
                <a:ea typeface="맑은 고딕"/>
                <a:cs typeface="맑은 고딕"/>
              </a:rPr>
              <a:t>•  세션</a:t>
            </a:r>
          </a:p>
          <a:p>
            <a:pPr algn="l">
              <a:spcAft>
                <a:spcPts val="400"/>
              </a:spcAft>
            </a:pPr>
            <a:r>
              <a:rPr sz="1600" b="0">
                <a:solidFill>
                  <a:srgbClr val="1F2937"/>
                </a:solidFill>
                <a:latin typeface="맑은 고딕"/>
                <a:ea typeface="맑은 고딕"/>
                <a:cs typeface="맑은 고딕"/>
              </a:rPr>
              <a:t>•  대기열</a:t>
            </a:r>
          </a:p>
          <a:p>
            <a:pPr algn="l">
              <a:spcAft>
                <a:spcPts val="400"/>
              </a:spcAft>
            </a:pPr>
            <a:r>
              <a:rPr sz="1600" b="0">
                <a:solidFill>
                  <a:srgbClr val="1F2937"/>
                </a:solidFill>
                <a:latin typeface="맑은 고딕"/>
                <a:ea typeface="맑은 고딕"/>
                <a:cs typeface="맑은 고딕"/>
              </a:rPr>
              <a:t>•  짧게 유지할 룸 상태</a:t>
            </a:r>
          </a:p>
        </p:txBody>
      </p:sp>
      <p:sp>
        <p:nvSpPr>
          <p:cNvPr id="18" name="Rounded Rectangle 17"/>
          <p:cNvSpPr/>
          <p:nvPr/>
        </p:nvSpPr>
        <p:spPr>
          <a:xfrm>
            <a:off x="8119871" y="1554480"/>
            <a:ext cx="3520440" cy="301752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9" name="Rectangle 18"/>
          <p:cNvSpPr/>
          <p:nvPr/>
        </p:nvSpPr>
        <p:spPr>
          <a:xfrm>
            <a:off x="8119871" y="1554480"/>
            <a:ext cx="3520440" cy="91440"/>
          </a:xfrm>
          <a:prstGeom prst="rect">
            <a:avLst/>
          </a:prstGeom>
          <a:solidFill>
            <a:srgbClr val="C2410C"/>
          </a:solidFill>
          <a:ln>
            <a:noFill/>
          </a:ln>
        </p:spPr>
        <p:txBody>
          <a:bodyPr rtlCol="0" anchor="ctr" wrap="square" tIns="36576" bIns="36576"/>
          <a:lstStyle/>
          <a:p>
            <a:pPr algn="ctr"/>
          </a:p>
        </p:txBody>
      </p:sp>
      <p:sp>
        <p:nvSpPr>
          <p:cNvPr id="20" name="TextBox 19"/>
          <p:cNvSpPr txBox="1"/>
          <p:nvPr/>
        </p:nvSpPr>
        <p:spPr>
          <a:xfrm>
            <a:off x="8394192" y="1783080"/>
            <a:ext cx="3017520" cy="274320"/>
          </a:xfrm>
          <a:prstGeom prst="rect">
            <a:avLst/>
          </a:prstGeom>
          <a:noFill/>
        </p:spPr>
        <p:txBody>
          <a:bodyPr wrap="square" lIns="36576" rIns="36576" tIns="18288" bIns="18288" anchor="t">
            <a:spAutoFit/>
          </a:bodyPr>
          <a:lstStyle/>
          <a:p>
            <a:pPr algn="l">
              <a:spcAft>
                <a:spcPts val="0"/>
              </a:spcAft>
            </a:pPr>
            <a:r>
              <a:rPr sz="1200" b="1">
                <a:solidFill>
                  <a:srgbClr val="C2410C"/>
                </a:solidFill>
                <a:latin typeface="맑은 고딕"/>
                <a:ea typeface="맑은 고딕"/>
                <a:cs typeface="맑은 고딕"/>
              </a:rPr>
              <a:t>수명: 몇 초</a:t>
            </a:r>
          </a:p>
        </p:txBody>
      </p:sp>
      <p:sp>
        <p:nvSpPr>
          <p:cNvPr id="21" name="TextBox 20"/>
          <p:cNvSpPr txBox="1"/>
          <p:nvPr/>
        </p:nvSpPr>
        <p:spPr>
          <a:xfrm>
            <a:off x="8394192" y="2057400"/>
            <a:ext cx="3017520" cy="457200"/>
          </a:xfrm>
          <a:prstGeom prst="rect">
            <a:avLst/>
          </a:prstGeom>
          <a:noFill/>
        </p:spPr>
        <p:txBody>
          <a:bodyPr wrap="square" lIns="36576" rIns="36576" tIns="18288" bIns="18288" anchor="t">
            <a:spAutoFit/>
          </a:bodyPr>
          <a:lstStyle/>
          <a:p>
            <a:pPr algn="l">
              <a:spcAft>
                <a:spcPts val="0"/>
              </a:spcAft>
            </a:pPr>
            <a:r>
              <a:rPr sz="2200" b="1">
                <a:solidFill>
                  <a:srgbClr val="1F2937"/>
                </a:solidFill>
                <a:latin typeface="맑은 고딕"/>
                <a:ea typeface="맑은 고딕"/>
                <a:cs typeface="맑은 고딕"/>
              </a:rPr>
              <a:t>실시간 룸</a:t>
            </a:r>
          </a:p>
        </p:txBody>
      </p:sp>
      <p:sp>
        <p:nvSpPr>
          <p:cNvPr id="22" name="TextBox 21"/>
          <p:cNvSpPr txBox="1"/>
          <p:nvPr/>
        </p:nvSpPr>
        <p:spPr>
          <a:xfrm>
            <a:off x="8394192" y="2542032"/>
            <a:ext cx="301752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곧 의미가 없어진다</a:t>
            </a:r>
          </a:p>
        </p:txBody>
      </p:sp>
      <p:sp>
        <p:nvSpPr>
          <p:cNvPr id="23" name="TextBox 22"/>
          <p:cNvSpPr txBox="1"/>
          <p:nvPr/>
        </p:nvSpPr>
        <p:spPr>
          <a:xfrm>
            <a:off x="8394192" y="3017520"/>
            <a:ext cx="3017520" cy="1463040"/>
          </a:xfrm>
          <a:prstGeom prst="rect">
            <a:avLst/>
          </a:prstGeom>
          <a:noFill/>
        </p:spPr>
        <p:txBody>
          <a:bodyPr wrap="square" lIns="36576" rIns="36576" tIns="18288" bIns="18288" anchor="t">
            <a:spAutoFit/>
          </a:bodyPr>
          <a:lstStyle/>
          <a:p>
            <a:pPr algn="l">
              <a:spcAft>
                <a:spcPts val="400"/>
              </a:spcAft>
            </a:pPr>
            <a:r>
              <a:rPr sz="1600" b="0">
                <a:solidFill>
                  <a:srgbClr val="1F2937"/>
                </a:solidFill>
                <a:latin typeface="맑은 고딕"/>
                <a:ea typeface="맑은 고딕"/>
                <a:cs typeface="맑은 고딕"/>
              </a:rPr>
              <a:t>•  입력 · 위치</a:t>
            </a:r>
          </a:p>
          <a:p>
            <a:pPr algn="l">
              <a:spcAft>
                <a:spcPts val="400"/>
              </a:spcAft>
            </a:pPr>
            <a:r>
              <a:rPr sz="1600" b="0">
                <a:solidFill>
                  <a:srgbClr val="1F2937"/>
                </a:solidFill>
                <a:latin typeface="맑은 고딕"/>
                <a:ea typeface="맑은 고딕"/>
                <a:cs typeface="맑은 고딕"/>
              </a:rPr>
              <a:t>•  준비 상태</a:t>
            </a:r>
          </a:p>
          <a:p>
            <a:pPr algn="l">
              <a:spcAft>
                <a:spcPts val="400"/>
              </a:spcAft>
            </a:pPr>
            <a:r>
              <a:rPr sz="1600" b="0">
                <a:solidFill>
                  <a:srgbClr val="1F2937"/>
                </a:solidFill>
                <a:latin typeface="맑은 고딕"/>
                <a:ea typeface="맑은 고딕"/>
                <a:cs typeface="맑은 고딕"/>
              </a:rPr>
              <a:t>•  순간 이벤트</a:t>
            </a:r>
          </a:p>
        </p:txBody>
      </p:sp>
      <p:sp>
        <p:nvSpPr>
          <p:cNvPr id="24" name="Rounded Rectangle 23"/>
          <p:cNvSpPr/>
          <p:nvPr/>
        </p:nvSpPr>
        <p:spPr>
          <a:xfrm>
            <a:off x="548640" y="4800600"/>
            <a:ext cx="5440680" cy="1371600"/>
          </a:xfrm>
          <a:prstGeom prst="roundRect">
            <a:avLst>
              <a:gd name="adj" fmla="val 6000"/>
            </a:avLst>
          </a:prstGeom>
          <a:solidFill>
            <a:srgbClr val="FFF7ED"/>
          </a:solidFill>
          <a:ln w="12700">
            <a:solidFill>
              <a:srgbClr val="FED7AA"/>
            </a:solidFill>
          </a:ln>
        </p:spPr>
        <p:txBody>
          <a:bodyPr rtlCol="0" anchor="ctr" wrap="square" tIns="36576" bIns="36576"/>
          <a:lstStyle/>
          <a:p>
            <a:pPr algn="ctr"/>
          </a:p>
        </p:txBody>
      </p:sp>
      <p:sp>
        <p:nvSpPr>
          <p:cNvPr id="25" name="Oval 24"/>
          <p:cNvSpPr/>
          <p:nvPr/>
        </p:nvSpPr>
        <p:spPr>
          <a:xfrm>
            <a:off x="777240" y="4983480"/>
            <a:ext cx="384048" cy="384048"/>
          </a:xfrm>
          <a:prstGeom prst="ellipse">
            <a:avLst/>
          </a:prstGeom>
          <a:solidFill>
            <a:srgbClr val="C2410C"/>
          </a:solidFill>
          <a:ln>
            <a:noFill/>
          </a:ln>
        </p:spPr>
        <p:txBody>
          <a:bodyPr rtlCol="0" anchor="ctr" wrap="square" lIns="0" rIns="0" tIns="36576" bIns="36576"/>
          <a:lstStyle/>
          <a:p>
            <a:pPr algn="ctr">
              <a:spcAft>
                <a:spcPts val="0"/>
              </a:spcAft>
            </a:pPr>
            <a:r>
              <a:rPr sz="1600" b="1">
                <a:solidFill>
                  <a:srgbClr val="FFFFFF"/>
                </a:solidFill>
                <a:latin typeface="맑은 고딕"/>
                <a:ea typeface="맑은 고딕"/>
                <a:cs typeface="맑은 고딕"/>
              </a:rPr>
              <a:t>!</a:t>
            </a:r>
          </a:p>
        </p:txBody>
      </p:sp>
      <p:sp>
        <p:nvSpPr>
          <p:cNvPr id="26" name="TextBox 25"/>
          <p:cNvSpPr txBox="1"/>
          <p:nvPr/>
        </p:nvSpPr>
        <p:spPr>
          <a:xfrm>
            <a:off x="1280160" y="4937760"/>
            <a:ext cx="4572000" cy="411480"/>
          </a:xfrm>
          <a:prstGeom prst="rect">
            <a:avLst/>
          </a:prstGeom>
          <a:noFill/>
        </p:spPr>
        <p:txBody>
          <a:bodyPr wrap="square" lIns="36576" rIns="36576" tIns="18288" bIns="18288" anchor="t">
            <a:spAutoFit/>
          </a:bodyPr>
          <a:lstStyle/>
          <a:p>
            <a:pPr algn="l">
              <a:spcAft>
                <a:spcPts val="0"/>
              </a:spcAft>
            </a:pPr>
            <a:r>
              <a:rPr sz="1600" b="1">
                <a:solidFill>
                  <a:srgbClr val="C2410C"/>
                </a:solidFill>
                <a:latin typeface="맑은 고딕"/>
                <a:ea typeface="맑은 고딕"/>
                <a:cs typeface="맑은 고딕"/>
              </a:rPr>
              <a:t>실시간 위치를 모두 영구 DB에 쓰면</a:t>
            </a:r>
          </a:p>
        </p:txBody>
      </p:sp>
      <p:sp>
        <p:nvSpPr>
          <p:cNvPr id="27" name="TextBox 26"/>
          <p:cNvSpPr txBox="1"/>
          <p:nvPr/>
        </p:nvSpPr>
        <p:spPr>
          <a:xfrm>
            <a:off x="1280160" y="5349240"/>
            <a:ext cx="4572000" cy="7315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5명 × 초당 20회 × 10분 = 60,000번 쓰기</a:t>
            </a:r>
          </a:p>
          <a:p>
            <a:pPr algn="l">
              <a:spcAft>
                <a:spcPts val="0"/>
              </a:spcAft>
            </a:pPr>
            <a:r>
              <a:rPr sz="1400" b="0">
                <a:solidFill>
                  <a:srgbClr val="1F2937"/>
                </a:solidFill>
                <a:latin typeface="맑은 고딕"/>
                <a:ea typeface="맑은 고딕"/>
                <a:cs typeface="맑은 고딕"/>
              </a:rPr>
              <a:t>→ 비용과 지연이 커진다</a:t>
            </a:r>
          </a:p>
        </p:txBody>
      </p:sp>
      <p:sp>
        <p:nvSpPr>
          <p:cNvPr id="28" name="Rounded Rectangle 27"/>
          <p:cNvSpPr/>
          <p:nvPr/>
        </p:nvSpPr>
        <p:spPr>
          <a:xfrm>
            <a:off x="6199631" y="4800600"/>
            <a:ext cx="5440680" cy="1371600"/>
          </a:xfrm>
          <a:prstGeom prst="roundRect">
            <a:avLst>
              <a:gd name="adj" fmla="val 6000"/>
            </a:avLst>
          </a:prstGeom>
          <a:solidFill>
            <a:srgbClr val="FFF7ED"/>
          </a:solidFill>
          <a:ln w="12700">
            <a:solidFill>
              <a:srgbClr val="FED7AA"/>
            </a:solidFill>
          </a:ln>
        </p:spPr>
        <p:txBody>
          <a:bodyPr rtlCol="0" anchor="ctr" wrap="square" tIns="36576" bIns="36576"/>
          <a:lstStyle/>
          <a:p>
            <a:pPr algn="ctr"/>
          </a:p>
        </p:txBody>
      </p:sp>
      <p:sp>
        <p:nvSpPr>
          <p:cNvPr id="29" name="Oval 28"/>
          <p:cNvSpPr/>
          <p:nvPr/>
        </p:nvSpPr>
        <p:spPr>
          <a:xfrm>
            <a:off x="6428231" y="4983480"/>
            <a:ext cx="384048" cy="384048"/>
          </a:xfrm>
          <a:prstGeom prst="ellipse">
            <a:avLst/>
          </a:prstGeom>
          <a:solidFill>
            <a:srgbClr val="C2410C"/>
          </a:solidFill>
          <a:ln>
            <a:noFill/>
          </a:ln>
        </p:spPr>
        <p:txBody>
          <a:bodyPr rtlCol="0" anchor="ctr" wrap="square" lIns="0" rIns="0" tIns="36576" bIns="36576"/>
          <a:lstStyle/>
          <a:p>
            <a:pPr algn="ctr">
              <a:spcAft>
                <a:spcPts val="0"/>
              </a:spcAft>
            </a:pPr>
            <a:r>
              <a:rPr sz="1600" b="1">
                <a:solidFill>
                  <a:srgbClr val="FFFFFF"/>
                </a:solidFill>
                <a:latin typeface="맑은 고딕"/>
                <a:ea typeface="맑은 고딕"/>
                <a:cs typeface="맑은 고딕"/>
              </a:rPr>
              <a:t>!</a:t>
            </a:r>
          </a:p>
        </p:txBody>
      </p:sp>
      <p:sp>
        <p:nvSpPr>
          <p:cNvPr id="30" name="TextBox 29"/>
          <p:cNvSpPr txBox="1"/>
          <p:nvPr/>
        </p:nvSpPr>
        <p:spPr>
          <a:xfrm>
            <a:off x="6931151" y="4937760"/>
            <a:ext cx="4572000" cy="411480"/>
          </a:xfrm>
          <a:prstGeom prst="rect">
            <a:avLst/>
          </a:prstGeom>
          <a:noFill/>
        </p:spPr>
        <p:txBody>
          <a:bodyPr wrap="square" lIns="36576" rIns="36576" tIns="18288" bIns="18288" anchor="t">
            <a:spAutoFit/>
          </a:bodyPr>
          <a:lstStyle/>
          <a:p>
            <a:pPr algn="l">
              <a:spcAft>
                <a:spcPts val="0"/>
              </a:spcAft>
            </a:pPr>
            <a:r>
              <a:rPr sz="1600" b="1">
                <a:solidFill>
                  <a:srgbClr val="C2410C"/>
                </a:solidFill>
                <a:latin typeface="맑은 고딕"/>
                <a:ea typeface="맑은 고딕"/>
                <a:cs typeface="맑은 고딕"/>
              </a:rPr>
              <a:t>보상 지급 기록을 캐시에만 두면</a:t>
            </a:r>
          </a:p>
        </p:txBody>
      </p:sp>
      <p:sp>
        <p:nvSpPr>
          <p:cNvPr id="31" name="TextBox 30"/>
          <p:cNvSpPr txBox="1"/>
          <p:nvPr/>
        </p:nvSpPr>
        <p:spPr>
          <a:xfrm>
            <a:off x="6931151" y="5349240"/>
            <a:ext cx="4572000" cy="7315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캐시가 사라지면 기록도 사라진다</a:t>
            </a:r>
          </a:p>
          <a:p>
            <a:pPr algn="l">
              <a:spcAft>
                <a:spcPts val="0"/>
              </a:spcAft>
            </a:pPr>
            <a:r>
              <a:rPr sz="1400" b="0">
                <a:solidFill>
                  <a:srgbClr val="1F2937"/>
                </a:solidFill>
                <a:latin typeface="맑은 고딕"/>
                <a:ea typeface="맑은 고딕"/>
                <a:cs typeface="맑은 고딕"/>
              </a:rPr>
              <a:t>→ 중복 지급 또는 누락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3 · 통신 방식</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연결지향 통신: TCP</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11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§3</a:t>
            </a:r>
          </a:p>
        </p:txBody>
      </p:sp>
      <p:sp>
        <p:nvSpPr>
          <p:cNvPr id="7" name="TextBox 6"/>
          <p:cNvSpPr txBox="1"/>
          <p:nvPr/>
        </p:nvSpPr>
        <p:spPr>
          <a:xfrm>
            <a:off x="548640" y="1554480"/>
            <a:ext cx="4937760" cy="1005840"/>
          </a:xfrm>
          <a:prstGeom prst="rect">
            <a:avLst/>
          </a:prstGeom>
          <a:noFill/>
        </p:spPr>
        <p:txBody>
          <a:bodyPr wrap="square" lIns="36576" rIns="36576" tIns="18288" bIns="18288" anchor="t">
            <a:spAutoFit/>
          </a:bodyPr>
          <a:lstStyle/>
          <a:p>
            <a:pPr algn="l">
              <a:lnSpc>
                <a:spcPct val="110000"/>
              </a:lnSpc>
              <a:spcAft>
                <a:spcPts val="0"/>
              </a:spcAft>
            </a:pPr>
            <a:r>
              <a:rPr sz="2400" b="1">
                <a:solidFill>
                  <a:srgbClr val="1F2937"/>
                </a:solidFill>
                <a:latin typeface="맑은 고딕"/>
                <a:ea typeface="맑은 고딕"/>
                <a:cs typeface="맑은 고딕"/>
              </a:rPr>
              <a:t>연결을 만들고 유지하며,</a:t>
            </a:r>
          </a:p>
          <a:p>
            <a:pPr algn="l">
              <a:lnSpc>
                <a:spcPct val="110000"/>
              </a:lnSpc>
              <a:spcAft>
                <a:spcPts val="0"/>
              </a:spcAft>
            </a:pPr>
            <a:r>
              <a:rPr sz="2400" b="1">
                <a:solidFill>
                  <a:srgbClr val="1F2937"/>
                </a:solidFill>
                <a:latin typeface="맑은 고딕"/>
                <a:ea typeface="맑은 고딕"/>
                <a:cs typeface="맑은 고딕"/>
              </a:rPr>
              <a:t>순서와 전달을 보장한다.</a:t>
            </a:r>
          </a:p>
        </p:txBody>
      </p:sp>
      <p:sp>
        <p:nvSpPr>
          <p:cNvPr id="8" name="TextBox 7"/>
          <p:cNvSpPr txBox="1"/>
          <p:nvPr/>
        </p:nvSpPr>
        <p:spPr>
          <a:xfrm>
            <a:off x="548640" y="2697480"/>
            <a:ext cx="49377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비유: 전화 통화 · 연결부터 맺고 이야기한다</a:t>
            </a:r>
          </a:p>
        </p:txBody>
      </p:sp>
      <p:sp>
        <p:nvSpPr>
          <p:cNvPr id="9" name="TextBox 8"/>
          <p:cNvSpPr txBox="1"/>
          <p:nvPr/>
        </p:nvSpPr>
        <p:spPr>
          <a:xfrm>
            <a:off x="548640" y="3200400"/>
            <a:ext cx="4937760" cy="320040"/>
          </a:xfrm>
          <a:prstGeom prst="rect">
            <a:avLst/>
          </a:prstGeom>
          <a:noFill/>
        </p:spPr>
        <p:txBody>
          <a:bodyPr wrap="square" lIns="36576" rIns="36576" tIns="18288" bIns="18288" anchor="t">
            <a:spAutoFit/>
          </a:bodyPr>
          <a:lstStyle/>
          <a:p>
            <a:pPr algn="l">
              <a:spcAft>
                <a:spcPts val="0"/>
              </a:spcAft>
            </a:pPr>
            <a:r>
              <a:rPr sz="1400" b="1">
                <a:solidFill>
                  <a:srgbClr val="2563EB"/>
                </a:solidFill>
                <a:latin typeface="맑은 고딕"/>
                <a:ea typeface="맑은 고딕"/>
                <a:cs typeface="맑은 고딕"/>
              </a:rPr>
              <a:t>적합한 데이터</a:t>
            </a:r>
          </a:p>
        </p:txBody>
      </p:sp>
      <p:sp>
        <p:nvSpPr>
          <p:cNvPr id="10" name="Rounded Rectangle 9"/>
          <p:cNvSpPr/>
          <p:nvPr/>
        </p:nvSpPr>
        <p:spPr>
          <a:xfrm>
            <a:off x="548640" y="3566160"/>
            <a:ext cx="2331720" cy="502920"/>
          </a:xfrm>
          <a:prstGeom prst="roundRect">
            <a:avLst>
              <a:gd name="adj" fmla="val 12000"/>
            </a:avLst>
          </a:prstGeom>
          <a:solidFill>
            <a:srgbClr val="EFF6FF"/>
          </a:solidFill>
          <a:ln>
            <a:noFill/>
          </a:ln>
        </p:spPr>
        <p:txBody>
          <a:bodyPr rtlCol="0" anchor="ctr" wrap="square" tIns="36576" bIns="36576"/>
          <a:lstStyle/>
          <a:p>
            <a:pPr algn="ctr">
              <a:spcAft>
                <a:spcPts val="0"/>
              </a:spcAft>
            </a:pPr>
            <a:r>
              <a:rPr sz="1500" b="1">
                <a:solidFill>
                  <a:srgbClr val="1E3A8A"/>
                </a:solidFill>
                <a:latin typeface="맑은 고딕"/>
                <a:ea typeface="맑은 고딕"/>
                <a:cs typeface="맑은 고딕"/>
              </a:rPr>
              <a:t>로그인</a:t>
            </a:r>
          </a:p>
        </p:txBody>
      </p:sp>
      <p:sp>
        <p:nvSpPr>
          <p:cNvPr id="11" name="Rounded Rectangle 10"/>
          <p:cNvSpPr/>
          <p:nvPr/>
        </p:nvSpPr>
        <p:spPr>
          <a:xfrm>
            <a:off x="3017520" y="3566160"/>
            <a:ext cx="2331720" cy="502920"/>
          </a:xfrm>
          <a:prstGeom prst="roundRect">
            <a:avLst>
              <a:gd name="adj" fmla="val 12000"/>
            </a:avLst>
          </a:prstGeom>
          <a:solidFill>
            <a:srgbClr val="EFF6FF"/>
          </a:solidFill>
          <a:ln>
            <a:noFill/>
          </a:ln>
        </p:spPr>
        <p:txBody>
          <a:bodyPr rtlCol="0" anchor="ctr" wrap="square" tIns="36576" bIns="36576"/>
          <a:lstStyle/>
          <a:p>
            <a:pPr algn="ctr">
              <a:spcAft>
                <a:spcPts val="0"/>
              </a:spcAft>
            </a:pPr>
            <a:r>
              <a:rPr sz="1500" b="1">
                <a:solidFill>
                  <a:srgbClr val="1E3A8A"/>
                </a:solidFill>
                <a:latin typeface="맑은 고딕"/>
                <a:ea typeface="맑은 고딕"/>
                <a:cs typeface="맑은 고딕"/>
              </a:rPr>
              <a:t>프로필 · 인벤토리</a:t>
            </a:r>
          </a:p>
        </p:txBody>
      </p:sp>
      <p:sp>
        <p:nvSpPr>
          <p:cNvPr id="12" name="Rounded Rectangle 11"/>
          <p:cNvSpPr/>
          <p:nvPr/>
        </p:nvSpPr>
        <p:spPr>
          <a:xfrm>
            <a:off x="548640" y="4187952"/>
            <a:ext cx="2331720" cy="502920"/>
          </a:xfrm>
          <a:prstGeom prst="roundRect">
            <a:avLst>
              <a:gd name="adj" fmla="val 12000"/>
            </a:avLst>
          </a:prstGeom>
          <a:solidFill>
            <a:srgbClr val="EFF6FF"/>
          </a:solidFill>
          <a:ln>
            <a:noFill/>
          </a:ln>
        </p:spPr>
        <p:txBody>
          <a:bodyPr rtlCol="0" anchor="ctr" wrap="square" tIns="36576" bIns="36576"/>
          <a:lstStyle/>
          <a:p>
            <a:pPr algn="ctr">
              <a:spcAft>
                <a:spcPts val="0"/>
              </a:spcAft>
            </a:pPr>
            <a:r>
              <a:rPr sz="1500" b="1">
                <a:solidFill>
                  <a:srgbClr val="1E3A8A"/>
                </a:solidFill>
                <a:latin typeface="맑은 고딕"/>
                <a:ea typeface="맑은 고딕"/>
                <a:cs typeface="맑은 고딕"/>
              </a:rPr>
              <a:t>구매 · 보상</a:t>
            </a:r>
          </a:p>
        </p:txBody>
      </p:sp>
      <p:sp>
        <p:nvSpPr>
          <p:cNvPr id="13" name="Rounded Rectangle 12"/>
          <p:cNvSpPr/>
          <p:nvPr/>
        </p:nvSpPr>
        <p:spPr>
          <a:xfrm>
            <a:off x="3017520" y="4187952"/>
            <a:ext cx="2331720" cy="502920"/>
          </a:xfrm>
          <a:prstGeom prst="roundRect">
            <a:avLst>
              <a:gd name="adj" fmla="val 12000"/>
            </a:avLst>
          </a:prstGeom>
          <a:solidFill>
            <a:srgbClr val="EFF6FF"/>
          </a:solidFill>
          <a:ln>
            <a:noFill/>
          </a:ln>
        </p:spPr>
        <p:txBody>
          <a:bodyPr rtlCol="0" anchor="ctr" wrap="square" tIns="36576" bIns="36576"/>
          <a:lstStyle/>
          <a:p>
            <a:pPr algn="ctr">
              <a:spcAft>
                <a:spcPts val="0"/>
              </a:spcAft>
            </a:pPr>
            <a:r>
              <a:rPr sz="1500" b="1">
                <a:solidFill>
                  <a:srgbClr val="1E3A8A"/>
                </a:solidFill>
                <a:latin typeface="맑은 고딕"/>
                <a:ea typeface="맑은 고딕"/>
                <a:cs typeface="맑은 고딕"/>
              </a:rPr>
              <a:t>경기 결과 저장</a:t>
            </a:r>
          </a:p>
        </p:txBody>
      </p:sp>
      <p:sp>
        <p:nvSpPr>
          <p:cNvPr id="14" name="Rounded Rectangle 13"/>
          <p:cNvSpPr/>
          <p:nvPr/>
        </p:nvSpPr>
        <p:spPr>
          <a:xfrm>
            <a:off x="5669280" y="1554480"/>
            <a:ext cx="5971032" cy="3611880"/>
          </a:xfrm>
          <a:prstGeom prst="roundRect">
            <a:avLst>
              <a:gd name="adj" fmla="val 4000"/>
            </a:avLst>
          </a:prstGeom>
          <a:solidFill>
            <a:srgbClr val="F8FAFC"/>
          </a:solidFill>
          <a:ln w="12700">
            <a:solidFill>
              <a:srgbClr val="E5E7EB"/>
            </a:solidFill>
          </a:ln>
        </p:spPr>
        <p:txBody>
          <a:bodyPr rtlCol="0" anchor="ctr" wrap="square" tIns="36576" bIns="36576"/>
          <a:lstStyle/>
          <a:p>
            <a:pPr algn="ctr"/>
          </a:p>
        </p:txBody>
      </p:sp>
      <p:sp>
        <p:nvSpPr>
          <p:cNvPr id="15" name="TextBox 14"/>
          <p:cNvSpPr txBox="1"/>
          <p:nvPr/>
        </p:nvSpPr>
        <p:spPr>
          <a:xfrm>
            <a:off x="5852160" y="1645920"/>
            <a:ext cx="5669280" cy="320040"/>
          </a:xfrm>
          <a:prstGeom prst="rect">
            <a:avLst/>
          </a:prstGeom>
          <a:noFill/>
        </p:spPr>
        <p:txBody>
          <a:bodyPr wrap="square" lIns="36576" rIns="36576" tIns="18288" bIns="18288" anchor="t">
            <a:spAutoFit/>
          </a:bodyPr>
          <a:lstStyle/>
          <a:p>
            <a:pPr algn="l">
              <a:spcAft>
                <a:spcPts val="0"/>
              </a:spcAft>
            </a:pPr>
            <a:r>
              <a:rPr sz="1400" b="1">
                <a:solidFill>
                  <a:srgbClr val="1F2937"/>
                </a:solidFill>
                <a:latin typeface="맑은 고딕"/>
                <a:ea typeface="맑은 고딕"/>
                <a:cs typeface="맑은 고딕"/>
              </a:rPr>
              <a:t>패킷 2가 사라지면</a:t>
            </a:r>
          </a:p>
        </p:txBody>
      </p:sp>
      <p:sp>
        <p:nvSpPr>
          <p:cNvPr id="16" name="TextBox 15"/>
          <p:cNvSpPr txBox="1"/>
          <p:nvPr/>
        </p:nvSpPr>
        <p:spPr>
          <a:xfrm>
            <a:off x="5852160" y="2148840"/>
            <a:ext cx="1280160" cy="50292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보냄</a:t>
            </a:r>
          </a:p>
        </p:txBody>
      </p:sp>
      <p:sp>
        <p:nvSpPr>
          <p:cNvPr id="17" name="TextBox 16"/>
          <p:cNvSpPr txBox="1"/>
          <p:nvPr/>
        </p:nvSpPr>
        <p:spPr>
          <a:xfrm>
            <a:off x="5852160" y="2971800"/>
            <a:ext cx="1280160" cy="50292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도착</a:t>
            </a:r>
          </a:p>
        </p:txBody>
      </p:sp>
      <p:sp>
        <p:nvSpPr>
          <p:cNvPr id="18" name="TextBox 17"/>
          <p:cNvSpPr txBox="1"/>
          <p:nvPr/>
        </p:nvSpPr>
        <p:spPr>
          <a:xfrm>
            <a:off x="5852160" y="4069080"/>
            <a:ext cx="1280160" cy="50292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앱에 전달</a:t>
            </a:r>
          </a:p>
        </p:txBody>
      </p:sp>
      <p:sp>
        <p:nvSpPr>
          <p:cNvPr id="19" name="Rounded Rectangle 18"/>
          <p:cNvSpPr/>
          <p:nvPr/>
        </p:nvSpPr>
        <p:spPr>
          <a:xfrm>
            <a:off x="7315200" y="214884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1</a:t>
            </a:r>
          </a:p>
        </p:txBody>
      </p:sp>
      <p:sp>
        <p:nvSpPr>
          <p:cNvPr id="20" name="Rounded Rectangle 19"/>
          <p:cNvSpPr/>
          <p:nvPr/>
        </p:nvSpPr>
        <p:spPr>
          <a:xfrm>
            <a:off x="7955279" y="214884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2</a:t>
            </a:r>
          </a:p>
        </p:txBody>
      </p:sp>
      <p:sp>
        <p:nvSpPr>
          <p:cNvPr id="21" name="Rounded Rectangle 20"/>
          <p:cNvSpPr/>
          <p:nvPr/>
        </p:nvSpPr>
        <p:spPr>
          <a:xfrm>
            <a:off x="8595360" y="214884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3</a:t>
            </a:r>
          </a:p>
        </p:txBody>
      </p:sp>
      <p:sp>
        <p:nvSpPr>
          <p:cNvPr id="22" name="Rounded Rectangle 21"/>
          <p:cNvSpPr/>
          <p:nvPr/>
        </p:nvSpPr>
        <p:spPr>
          <a:xfrm>
            <a:off x="9235440" y="214884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4</a:t>
            </a:r>
          </a:p>
        </p:txBody>
      </p:sp>
      <p:sp>
        <p:nvSpPr>
          <p:cNvPr id="23" name="Rounded Rectangle 22"/>
          <p:cNvSpPr/>
          <p:nvPr/>
        </p:nvSpPr>
        <p:spPr>
          <a:xfrm>
            <a:off x="7315200" y="297180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1</a:t>
            </a:r>
          </a:p>
        </p:txBody>
      </p:sp>
      <p:sp>
        <p:nvSpPr>
          <p:cNvPr id="24" name="Rounded Rectangle 23"/>
          <p:cNvSpPr/>
          <p:nvPr/>
        </p:nvSpPr>
        <p:spPr>
          <a:xfrm>
            <a:off x="7955279" y="2971800"/>
            <a:ext cx="502920" cy="502920"/>
          </a:xfrm>
          <a:prstGeom prst="roundRect">
            <a:avLst>
              <a:gd name="adj" fmla="val 15000"/>
            </a:avLst>
          </a:prstGeom>
          <a:noFill/>
          <a:ln w="12700">
            <a:solidFill>
              <a:srgbClr val="DC2626"/>
            </a:solidFill>
            <a:prstDash val="dash"/>
          </a:ln>
        </p:spPr>
        <p:txBody>
          <a:bodyPr rtlCol="0" anchor="ctr" wrap="square" tIns="36576" bIns="36576"/>
          <a:lstStyle/>
          <a:p>
            <a:pPr algn="ctr">
              <a:spcAft>
                <a:spcPts val="0"/>
              </a:spcAft>
            </a:pPr>
            <a:r>
              <a:rPr sz="1600" b="1">
                <a:solidFill>
                  <a:srgbClr val="DC2626"/>
                </a:solidFill>
                <a:latin typeface="맑은 고딕"/>
                <a:ea typeface="맑은 고딕"/>
                <a:cs typeface="맑은 고딕"/>
              </a:rPr>
              <a:t>✕</a:t>
            </a:r>
          </a:p>
        </p:txBody>
      </p:sp>
      <p:sp>
        <p:nvSpPr>
          <p:cNvPr id="25" name="Rounded Rectangle 24"/>
          <p:cNvSpPr/>
          <p:nvPr/>
        </p:nvSpPr>
        <p:spPr>
          <a:xfrm>
            <a:off x="8595360" y="297180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3</a:t>
            </a:r>
          </a:p>
        </p:txBody>
      </p:sp>
      <p:sp>
        <p:nvSpPr>
          <p:cNvPr id="26" name="Rounded Rectangle 25"/>
          <p:cNvSpPr/>
          <p:nvPr/>
        </p:nvSpPr>
        <p:spPr>
          <a:xfrm>
            <a:off x="9235440" y="297180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4</a:t>
            </a:r>
          </a:p>
        </p:txBody>
      </p:sp>
      <p:sp>
        <p:nvSpPr>
          <p:cNvPr id="27" name="Rounded Rectangle 26"/>
          <p:cNvSpPr/>
          <p:nvPr/>
        </p:nvSpPr>
        <p:spPr>
          <a:xfrm>
            <a:off x="10332720" y="2971800"/>
            <a:ext cx="502920" cy="502920"/>
          </a:xfrm>
          <a:prstGeom prst="roundRect">
            <a:avLst>
              <a:gd name="adj" fmla="val 15000"/>
            </a:avLst>
          </a:prstGeom>
          <a:solidFill>
            <a:srgbClr val="FFEDD5"/>
          </a:solidFill>
          <a:ln w="12700">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2</a:t>
            </a:r>
          </a:p>
        </p:txBody>
      </p:sp>
      <p:sp>
        <p:nvSpPr>
          <p:cNvPr id="28" name="TextBox 27"/>
          <p:cNvSpPr txBox="1"/>
          <p:nvPr/>
        </p:nvSpPr>
        <p:spPr>
          <a:xfrm>
            <a:off x="9921240" y="3493008"/>
            <a:ext cx="1463040" cy="274320"/>
          </a:xfrm>
          <a:prstGeom prst="rect">
            <a:avLst/>
          </a:prstGeom>
          <a:noFill/>
        </p:spPr>
        <p:txBody>
          <a:bodyPr wrap="square" lIns="36576" rIns="36576" tIns="18288" bIns="18288" anchor="t">
            <a:spAutoFit/>
          </a:bodyPr>
          <a:lstStyle/>
          <a:p>
            <a:pPr algn="ctr">
              <a:spcAft>
                <a:spcPts val="0"/>
              </a:spcAft>
            </a:pPr>
            <a:r>
              <a:rPr sz="1100" b="1">
                <a:solidFill>
                  <a:srgbClr val="C2410C"/>
                </a:solidFill>
                <a:latin typeface="맑은 고딕"/>
                <a:ea typeface="맑은 고딕"/>
                <a:cs typeface="맑은 고딕"/>
              </a:rPr>
              <a:t>재전송</a:t>
            </a:r>
          </a:p>
        </p:txBody>
      </p:sp>
      <p:sp>
        <p:nvSpPr>
          <p:cNvPr id="29" name="Rounded Rectangle 28"/>
          <p:cNvSpPr/>
          <p:nvPr/>
        </p:nvSpPr>
        <p:spPr>
          <a:xfrm>
            <a:off x="7315200" y="4069080"/>
            <a:ext cx="50292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1</a:t>
            </a:r>
          </a:p>
        </p:txBody>
      </p:sp>
      <p:sp>
        <p:nvSpPr>
          <p:cNvPr id="30" name="Rounded Rectangle 29"/>
          <p:cNvSpPr/>
          <p:nvPr/>
        </p:nvSpPr>
        <p:spPr>
          <a:xfrm>
            <a:off x="7955279" y="4069080"/>
            <a:ext cx="1965960" cy="502920"/>
          </a:xfrm>
          <a:prstGeom prst="roundRect">
            <a:avLst>
              <a:gd name="adj" fmla="val 15000"/>
            </a:avLst>
          </a:prstGeom>
          <a:noFill/>
          <a:ln w="12700">
            <a:solidFill>
              <a:srgbClr val="94A3B8"/>
            </a:solidFill>
            <a:prstDash val="dash"/>
          </a:ln>
        </p:spPr>
        <p:txBody>
          <a:bodyPr rtlCol="0" anchor="ctr" wrap="square" tIns="36576" bIns="36576"/>
          <a:lstStyle/>
          <a:p>
            <a:pPr algn="ctr">
              <a:spcAft>
                <a:spcPts val="0"/>
              </a:spcAft>
            </a:pPr>
            <a:r>
              <a:rPr sz="1100" b="0">
                <a:solidFill>
                  <a:srgbClr val="6B7280"/>
                </a:solidFill>
                <a:latin typeface="맑은 고딕"/>
                <a:ea typeface="맑은 고딕"/>
                <a:cs typeface="맑은 고딕"/>
              </a:rPr>
              <a:t>3 · 4는 도착했지만 대기</a:t>
            </a:r>
          </a:p>
        </p:txBody>
      </p:sp>
      <p:sp>
        <p:nvSpPr>
          <p:cNvPr id="31" name="Rounded Rectangle 30"/>
          <p:cNvSpPr/>
          <p:nvPr/>
        </p:nvSpPr>
        <p:spPr>
          <a:xfrm>
            <a:off x="10012680" y="4069080"/>
            <a:ext cx="45720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2</a:t>
            </a:r>
          </a:p>
        </p:txBody>
      </p:sp>
      <p:sp>
        <p:nvSpPr>
          <p:cNvPr id="32" name="Rounded Rectangle 31"/>
          <p:cNvSpPr/>
          <p:nvPr/>
        </p:nvSpPr>
        <p:spPr>
          <a:xfrm>
            <a:off x="10515600" y="4069080"/>
            <a:ext cx="45720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3</a:t>
            </a:r>
          </a:p>
        </p:txBody>
      </p:sp>
      <p:sp>
        <p:nvSpPr>
          <p:cNvPr id="33" name="Rounded Rectangle 32"/>
          <p:cNvSpPr/>
          <p:nvPr/>
        </p:nvSpPr>
        <p:spPr>
          <a:xfrm>
            <a:off x="11018520" y="4069080"/>
            <a:ext cx="457200" cy="50292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4</a:t>
            </a:r>
          </a:p>
        </p:txBody>
      </p:sp>
      <p:sp>
        <p:nvSpPr>
          <p:cNvPr id="34" name="TextBox 33"/>
          <p:cNvSpPr txBox="1"/>
          <p:nvPr/>
        </p:nvSpPr>
        <p:spPr>
          <a:xfrm>
            <a:off x="5852160" y="4681728"/>
            <a:ext cx="5669280" cy="365760"/>
          </a:xfrm>
          <a:prstGeom prst="rect">
            <a:avLst/>
          </a:prstGeom>
          <a:noFill/>
        </p:spPr>
        <p:txBody>
          <a:bodyPr wrap="square" lIns="36576" rIns="36576" tIns="18288" bIns="18288" anchor="t">
            <a:spAutoFit/>
          </a:bodyPr>
          <a:lstStyle/>
          <a:p>
            <a:pPr algn="l">
              <a:spcAft>
                <a:spcPts val="0"/>
              </a:spcAft>
            </a:pPr>
            <a:r>
              <a:rPr sz="1200" b="0">
                <a:solidFill>
                  <a:srgbClr val="6B7280"/>
                </a:solidFill>
                <a:latin typeface="맑은 고딕"/>
                <a:ea typeface="맑은 고딕"/>
                <a:cs typeface="맑은 고딕"/>
              </a:rPr>
              <a:t>손실은 재전송하고, 앱에는 항상 1 → 2 → 3 → 4 순서로 넘긴다</a:t>
            </a:r>
          </a:p>
        </p:txBody>
      </p:sp>
      <p:sp>
        <p:nvSpPr>
          <p:cNvPr id="35" name="Rounded Rectangle 34"/>
          <p:cNvSpPr/>
          <p:nvPr/>
        </p:nvSpPr>
        <p:spPr>
          <a:xfrm>
            <a:off x="548640" y="5440680"/>
            <a:ext cx="11091672" cy="731520"/>
          </a:xfrm>
          <a:prstGeom prst="roundRect">
            <a:avLst>
              <a:gd name="adj" fmla="val 12000"/>
            </a:avLst>
          </a:prstGeom>
          <a:solidFill>
            <a:srgbClr val="FFF7ED"/>
          </a:solidFill>
          <a:ln>
            <a:noFill/>
          </a:ln>
        </p:spPr>
        <p:txBody>
          <a:bodyPr rtlCol="0" anchor="ctr" wrap="square" lIns="274320" rIns="274320" tIns="36576" bIns="36576"/>
          <a:lstStyle/>
          <a:p>
            <a:pPr algn="l">
              <a:spcAft>
                <a:spcPts val="0"/>
              </a:spcAft>
            </a:pPr>
            <a:r>
              <a:rPr sz="1400" b="1">
                <a:solidFill>
                  <a:srgbClr val="C2410C"/>
                </a:solidFill>
                <a:latin typeface="맑은 고딕"/>
                <a:ea typeface="맑은 고딕"/>
                <a:cs typeface="맑은 고딕"/>
              </a:rPr>
              <a:t>앞 데이터가 늦으면 뒤 데이터도 기다린다.  </a:t>
            </a:r>
            <a:r>
              <a:rPr sz="1400" b="0">
                <a:solidFill>
                  <a:srgbClr val="1F2937"/>
                </a:solidFill>
                <a:latin typeface="맑은 고딕"/>
                <a:ea typeface="맑은 고딕"/>
                <a:cs typeface="맑은 고딕"/>
              </a:rPr>
              <a:t>빠르게 변하는 위치값에는 불리할 수 있다 (턴제·느린 협동이라면 TCP로 충분)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3 · 통신 방식</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비연결지향 통신: UDP</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12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§3</a:t>
            </a:r>
          </a:p>
        </p:txBody>
      </p:sp>
      <p:sp>
        <p:nvSpPr>
          <p:cNvPr id="7" name="TextBox 6"/>
          <p:cNvSpPr txBox="1"/>
          <p:nvPr/>
        </p:nvSpPr>
        <p:spPr>
          <a:xfrm>
            <a:off x="548640" y="1554480"/>
            <a:ext cx="5394960" cy="1005840"/>
          </a:xfrm>
          <a:prstGeom prst="rect">
            <a:avLst/>
          </a:prstGeom>
          <a:noFill/>
        </p:spPr>
        <p:txBody>
          <a:bodyPr wrap="square" lIns="36576" rIns="36576" tIns="18288" bIns="18288" anchor="t">
            <a:spAutoFit/>
          </a:bodyPr>
          <a:lstStyle/>
          <a:p>
            <a:pPr algn="l">
              <a:lnSpc>
                <a:spcPct val="110000"/>
              </a:lnSpc>
              <a:spcAft>
                <a:spcPts val="0"/>
              </a:spcAft>
            </a:pPr>
            <a:r>
              <a:rPr sz="2200" b="1">
                <a:solidFill>
                  <a:srgbClr val="1F2937"/>
                </a:solidFill>
                <a:latin typeface="맑은 고딕"/>
                <a:ea typeface="맑은 고딕"/>
                <a:cs typeface="맑은 고딕"/>
              </a:rPr>
              <a:t>각 패킷은 독립적으로 전송된다.</a:t>
            </a:r>
          </a:p>
          <a:p>
            <a:pPr algn="l">
              <a:lnSpc>
                <a:spcPct val="110000"/>
              </a:lnSpc>
              <a:spcAft>
                <a:spcPts val="0"/>
              </a:spcAft>
            </a:pPr>
            <a:r>
              <a:rPr sz="2200" b="1">
                <a:solidFill>
                  <a:srgbClr val="1F2937"/>
                </a:solidFill>
                <a:latin typeface="맑은 고딕"/>
                <a:ea typeface="맑은 고딕"/>
                <a:cs typeface="맑은 고딕"/>
              </a:rPr>
              <a:t>최신 데이터가 더 중요할 때 쓴다.</a:t>
            </a:r>
          </a:p>
        </p:txBody>
      </p:sp>
      <p:sp>
        <p:nvSpPr>
          <p:cNvPr id="8" name="Rounded Rectangle 7"/>
          <p:cNvSpPr/>
          <p:nvPr/>
        </p:nvSpPr>
        <p:spPr>
          <a:xfrm>
            <a:off x="548640" y="2697480"/>
            <a:ext cx="1371600" cy="457200"/>
          </a:xfrm>
          <a:prstGeom prst="roundRect">
            <a:avLst>
              <a:gd name="adj" fmla="val 50000"/>
            </a:avLst>
          </a:prstGeom>
          <a:solidFill>
            <a:srgbClr val="FFEDD5"/>
          </a:solidFill>
          <a:ln>
            <a:noFill/>
          </a:ln>
        </p:spPr>
        <p:txBody>
          <a:bodyPr rtlCol="0" anchor="ctr" wrap="square" tIns="36576" bIns="36576"/>
          <a:lstStyle/>
          <a:p>
            <a:pPr algn="ctr">
              <a:spcAft>
                <a:spcPts val="0"/>
              </a:spcAft>
            </a:pPr>
            <a:r>
              <a:rPr sz="1400" b="1">
                <a:solidFill>
                  <a:srgbClr val="C2410C"/>
                </a:solidFill>
                <a:latin typeface="맑은 고딕"/>
                <a:ea typeface="맑은 고딕"/>
                <a:cs typeface="맑은 고딕"/>
              </a:rPr>
              <a:t>이동 입력</a:t>
            </a:r>
          </a:p>
        </p:txBody>
      </p:sp>
      <p:sp>
        <p:nvSpPr>
          <p:cNvPr id="9" name="Rounded Rectangle 8"/>
          <p:cNvSpPr/>
          <p:nvPr/>
        </p:nvSpPr>
        <p:spPr>
          <a:xfrm>
            <a:off x="2011680" y="2697480"/>
            <a:ext cx="1554480" cy="457200"/>
          </a:xfrm>
          <a:prstGeom prst="roundRect">
            <a:avLst>
              <a:gd name="adj" fmla="val 50000"/>
            </a:avLst>
          </a:prstGeom>
          <a:solidFill>
            <a:srgbClr val="FFEDD5"/>
          </a:solidFill>
          <a:ln>
            <a:noFill/>
          </a:ln>
        </p:spPr>
        <p:txBody>
          <a:bodyPr rtlCol="0" anchor="ctr" wrap="square" tIns="36576" bIns="36576"/>
          <a:lstStyle/>
          <a:p>
            <a:pPr algn="ctr">
              <a:spcAft>
                <a:spcPts val="0"/>
              </a:spcAft>
            </a:pPr>
            <a:r>
              <a:rPr sz="1400" b="1">
                <a:solidFill>
                  <a:srgbClr val="C2410C"/>
                </a:solidFill>
                <a:latin typeface="맑은 고딕"/>
                <a:ea typeface="맑은 고딕"/>
                <a:cs typeface="맑은 고딕"/>
              </a:rPr>
              <a:t>위치 스냅샷</a:t>
            </a:r>
          </a:p>
        </p:txBody>
      </p:sp>
      <p:sp>
        <p:nvSpPr>
          <p:cNvPr id="10" name="Rounded Rectangle 9"/>
          <p:cNvSpPr/>
          <p:nvPr/>
        </p:nvSpPr>
        <p:spPr>
          <a:xfrm>
            <a:off x="3657600" y="2697480"/>
            <a:ext cx="2240280" cy="457200"/>
          </a:xfrm>
          <a:prstGeom prst="roundRect">
            <a:avLst>
              <a:gd name="adj" fmla="val 50000"/>
            </a:avLst>
          </a:prstGeom>
          <a:solidFill>
            <a:srgbClr val="FFEDD5"/>
          </a:solidFill>
          <a:ln>
            <a:noFill/>
          </a:ln>
        </p:spPr>
        <p:txBody>
          <a:bodyPr rtlCol="0" anchor="ctr" wrap="square" tIns="36576" bIns="36576"/>
          <a:lstStyle/>
          <a:p>
            <a:pPr algn="ctr">
              <a:spcAft>
                <a:spcPts val="0"/>
              </a:spcAft>
            </a:pPr>
            <a:r>
              <a:rPr sz="1400" b="1">
                <a:solidFill>
                  <a:srgbClr val="C2410C"/>
                </a:solidFill>
                <a:latin typeface="맑은 고딕"/>
                <a:ea typeface="맑은 고딕"/>
                <a:cs typeface="맑은 고딕"/>
              </a:rPr>
              <a:t>빠른 액션 게임 상태</a:t>
            </a:r>
          </a:p>
        </p:txBody>
      </p:sp>
      <p:sp>
        <p:nvSpPr>
          <p:cNvPr id="11" name="Rounded Rectangle 10"/>
          <p:cNvSpPr/>
          <p:nvPr/>
        </p:nvSpPr>
        <p:spPr>
          <a:xfrm>
            <a:off x="548640" y="3383280"/>
            <a:ext cx="5394960" cy="2377440"/>
          </a:xfrm>
          <a:prstGeom prst="roundRect">
            <a:avLst>
              <a:gd name="adj" fmla="val 4000"/>
            </a:avLst>
          </a:prstGeom>
          <a:solidFill>
            <a:srgbClr val="F8FAFC"/>
          </a:solidFill>
          <a:ln w="12700">
            <a:solidFill>
              <a:srgbClr val="E5E7EB"/>
            </a:solidFill>
          </a:ln>
        </p:spPr>
        <p:txBody>
          <a:bodyPr rtlCol="0" anchor="ctr" wrap="square" tIns="36576" bIns="36576"/>
          <a:lstStyle/>
          <a:p>
            <a:pPr algn="ctr"/>
          </a:p>
        </p:txBody>
      </p:sp>
      <p:sp>
        <p:nvSpPr>
          <p:cNvPr id="12" name="TextBox 11"/>
          <p:cNvSpPr txBox="1"/>
          <p:nvPr/>
        </p:nvSpPr>
        <p:spPr>
          <a:xfrm>
            <a:off x="731520" y="3611880"/>
            <a:ext cx="1005840" cy="45720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보냄</a:t>
            </a:r>
          </a:p>
        </p:txBody>
      </p:sp>
      <p:sp>
        <p:nvSpPr>
          <p:cNvPr id="13" name="TextBox 12"/>
          <p:cNvSpPr txBox="1"/>
          <p:nvPr/>
        </p:nvSpPr>
        <p:spPr>
          <a:xfrm>
            <a:off x="731520" y="4343400"/>
            <a:ext cx="1005840" cy="45720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도착</a:t>
            </a:r>
          </a:p>
        </p:txBody>
      </p:sp>
      <p:sp>
        <p:nvSpPr>
          <p:cNvPr id="14" name="Rounded Rectangle 13"/>
          <p:cNvSpPr/>
          <p:nvPr/>
        </p:nvSpPr>
        <p:spPr>
          <a:xfrm>
            <a:off x="1828800" y="361188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1</a:t>
            </a:r>
          </a:p>
        </p:txBody>
      </p:sp>
      <p:sp>
        <p:nvSpPr>
          <p:cNvPr id="15" name="Rounded Rectangle 14"/>
          <p:cNvSpPr/>
          <p:nvPr/>
        </p:nvSpPr>
        <p:spPr>
          <a:xfrm>
            <a:off x="1828800" y="434340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1</a:t>
            </a:r>
          </a:p>
        </p:txBody>
      </p:sp>
      <p:sp>
        <p:nvSpPr>
          <p:cNvPr id="16" name="Rounded Rectangle 15"/>
          <p:cNvSpPr/>
          <p:nvPr/>
        </p:nvSpPr>
        <p:spPr>
          <a:xfrm>
            <a:off x="2423160" y="361188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2</a:t>
            </a:r>
          </a:p>
        </p:txBody>
      </p:sp>
      <p:sp>
        <p:nvSpPr>
          <p:cNvPr id="17" name="Rounded Rectangle 16"/>
          <p:cNvSpPr/>
          <p:nvPr/>
        </p:nvSpPr>
        <p:spPr>
          <a:xfrm>
            <a:off x="2423160" y="4343400"/>
            <a:ext cx="457200" cy="457200"/>
          </a:xfrm>
          <a:prstGeom prst="roundRect">
            <a:avLst>
              <a:gd name="adj" fmla="val 15000"/>
            </a:avLst>
          </a:prstGeom>
          <a:noFill/>
          <a:ln w="12700">
            <a:solidFill>
              <a:srgbClr val="DC2626"/>
            </a:solidFill>
            <a:prstDash val="dash"/>
          </a:ln>
        </p:spPr>
        <p:txBody>
          <a:bodyPr rtlCol="0" anchor="ctr" wrap="square" tIns="36576" bIns="36576"/>
          <a:lstStyle/>
          <a:p>
            <a:pPr algn="ctr">
              <a:spcAft>
                <a:spcPts val="0"/>
              </a:spcAft>
            </a:pPr>
            <a:r>
              <a:rPr sz="1500" b="1">
                <a:solidFill>
                  <a:srgbClr val="DC2626"/>
                </a:solidFill>
                <a:latin typeface="맑은 고딕"/>
                <a:ea typeface="맑은 고딕"/>
                <a:cs typeface="맑은 고딕"/>
              </a:rPr>
              <a:t>✕</a:t>
            </a:r>
          </a:p>
        </p:txBody>
      </p:sp>
      <p:sp>
        <p:nvSpPr>
          <p:cNvPr id="18" name="Rounded Rectangle 17"/>
          <p:cNvSpPr/>
          <p:nvPr/>
        </p:nvSpPr>
        <p:spPr>
          <a:xfrm>
            <a:off x="3017520" y="361188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3</a:t>
            </a:r>
          </a:p>
        </p:txBody>
      </p:sp>
      <p:sp>
        <p:nvSpPr>
          <p:cNvPr id="19" name="Rounded Rectangle 18"/>
          <p:cNvSpPr/>
          <p:nvPr/>
        </p:nvSpPr>
        <p:spPr>
          <a:xfrm>
            <a:off x="3017520" y="434340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3</a:t>
            </a:r>
          </a:p>
        </p:txBody>
      </p:sp>
      <p:sp>
        <p:nvSpPr>
          <p:cNvPr id="20" name="Rounded Rectangle 19"/>
          <p:cNvSpPr/>
          <p:nvPr/>
        </p:nvSpPr>
        <p:spPr>
          <a:xfrm>
            <a:off x="3611880" y="361188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4</a:t>
            </a:r>
          </a:p>
        </p:txBody>
      </p:sp>
      <p:sp>
        <p:nvSpPr>
          <p:cNvPr id="21" name="Rounded Rectangle 20"/>
          <p:cNvSpPr/>
          <p:nvPr/>
        </p:nvSpPr>
        <p:spPr>
          <a:xfrm>
            <a:off x="3611880" y="4343400"/>
            <a:ext cx="457200" cy="457200"/>
          </a:xfrm>
          <a:prstGeom prst="roundRect">
            <a:avLst>
              <a:gd name="adj" fmla="val 15000"/>
            </a:avLst>
          </a:prstGeom>
          <a:noFill/>
          <a:ln w="12700">
            <a:solidFill>
              <a:srgbClr val="DC2626"/>
            </a:solidFill>
            <a:prstDash val="dash"/>
          </a:ln>
        </p:spPr>
        <p:txBody>
          <a:bodyPr rtlCol="0" anchor="ctr" wrap="square" tIns="36576" bIns="36576"/>
          <a:lstStyle/>
          <a:p>
            <a:pPr algn="ctr">
              <a:spcAft>
                <a:spcPts val="0"/>
              </a:spcAft>
            </a:pPr>
            <a:r>
              <a:rPr sz="1500" b="1">
                <a:solidFill>
                  <a:srgbClr val="DC2626"/>
                </a:solidFill>
                <a:latin typeface="맑은 고딕"/>
                <a:ea typeface="맑은 고딕"/>
                <a:cs typeface="맑은 고딕"/>
              </a:rPr>
              <a:t>✕</a:t>
            </a:r>
          </a:p>
        </p:txBody>
      </p:sp>
      <p:sp>
        <p:nvSpPr>
          <p:cNvPr id="22" name="Rounded Rectangle 21"/>
          <p:cNvSpPr/>
          <p:nvPr/>
        </p:nvSpPr>
        <p:spPr>
          <a:xfrm>
            <a:off x="4206240" y="3611880"/>
            <a:ext cx="457200" cy="457200"/>
          </a:xfrm>
          <a:prstGeom prst="roundRect">
            <a:avLst>
              <a:gd name="adj" fmla="val 15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5</a:t>
            </a:r>
          </a:p>
        </p:txBody>
      </p:sp>
      <p:sp>
        <p:nvSpPr>
          <p:cNvPr id="23" name="Rounded Rectangle 22"/>
          <p:cNvSpPr/>
          <p:nvPr/>
        </p:nvSpPr>
        <p:spPr>
          <a:xfrm>
            <a:off x="4206240" y="4343400"/>
            <a:ext cx="457200" cy="457200"/>
          </a:xfrm>
          <a:prstGeom prst="roundRect">
            <a:avLst>
              <a:gd name="adj" fmla="val 15000"/>
            </a:avLst>
          </a:prstGeom>
          <a:solidFill>
            <a:srgbClr val="FFEDD5"/>
          </a:solidFill>
          <a:ln w="12700">
            <a:solidFill>
              <a:srgbClr val="C2410C"/>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5</a:t>
            </a:r>
          </a:p>
        </p:txBody>
      </p:sp>
      <p:sp>
        <p:nvSpPr>
          <p:cNvPr id="24" name="TextBox 23"/>
          <p:cNvSpPr txBox="1"/>
          <p:nvPr/>
        </p:nvSpPr>
        <p:spPr>
          <a:xfrm>
            <a:off x="4709160" y="4343400"/>
            <a:ext cx="1188720" cy="457200"/>
          </a:xfrm>
          <a:prstGeom prst="rect">
            <a:avLst/>
          </a:prstGeom>
          <a:noFill/>
        </p:spPr>
        <p:txBody>
          <a:bodyPr wrap="square" lIns="36576" rIns="36576" tIns="18288" bIns="18288" anchor="ctr">
            <a:spAutoFit/>
          </a:bodyPr>
          <a:lstStyle/>
          <a:p>
            <a:pPr algn="l">
              <a:spcAft>
                <a:spcPts val="0"/>
              </a:spcAft>
            </a:pPr>
            <a:r>
              <a:rPr sz="1200" b="1">
                <a:solidFill>
                  <a:srgbClr val="C2410C"/>
                </a:solidFill>
                <a:latin typeface="맑은 고딕"/>
                <a:ea typeface="맑은 고딕"/>
                <a:cs typeface="맑은 고딕"/>
              </a:rPr>
              <a:t>← 최신</a:t>
            </a:r>
          </a:p>
        </p:txBody>
      </p:sp>
      <p:sp>
        <p:nvSpPr>
          <p:cNvPr id="25" name="TextBox 24"/>
          <p:cNvSpPr txBox="1"/>
          <p:nvPr/>
        </p:nvSpPr>
        <p:spPr>
          <a:xfrm>
            <a:off x="731520" y="4983480"/>
            <a:ext cx="5120640" cy="731520"/>
          </a:xfrm>
          <a:prstGeom prst="rect">
            <a:avLst/>
          </a:prstGeom>
          <a:noFill/>
        </p:spPr>
        <p:txBody>
          <a:bodyPr wrap="square" lIns="36576" rIns="36576" tIns="18288" bIns="18288" anchor="t">
            <a:spAutoFit/>
          </a:bodyPr>
          <a:lstStyle/>
          <a:p>
            <a:pPr algn="l">
              <a:spcAft>
                <a:spcPts val="0"/>
              </a:spcAft>
            </a:pPr>
            <a:r>
              <a:rPr sz="1300" b="0">
                <a:solidFill>
                  <a:srgbClr val="374151"/>
                </a:solidFill>
                <a:latin typeface="맑은 고딕"/>
                <a:ea typeface="맑은 고딕"/>
                <a:cs typeface="맑은 고딕"/>
              </a:rPr>
              <a:t>최신 5번 위치를 그대로 쓴다.</a:t>
            </a:r>
          </a:p>
          <a:p>
            <a:pPr algn="l">
              <a:spcAft>
                <a:spcPts val="0"/>
              </a:spcAft>
            </a:pPr>
            <a:r>
              <a:rPr sz="1300" b="0">
                <a:solidFill>
                  <a:srgbClr val="374151"/>
                </a:solidFill>
                <a:latin typeface="맑은 고딕"/>
                <a:ea typeface="맑은 고딕"/>
                <a:cs typeface="맑은 고딕"/>
              </a:rPr>
              <a:t>지나간 2 · 4는 다시 받지 않는다.</a:t>
            </a:r>
          </a:p>
        </p:txBody>
      </p:sp>
      <p:sp>
        <p:nvSpPr>
          <p:cNvPr id="26" name="TextBox 25"/>
          <p:cNvSpPr txBox="1"/>
          <p:nvPr/>
        </p:nvSpPr>
        <p:spPr>
          <a:xfrm>
            <a:off x="6263640" y="1481328"/>
            <a:ext cx="5394960" cy="365760"/>
          </a:xfrm>
          <a:prstGeom prst="rect">
            <a:avLst/>
          </a:prstGeom>
          <a:noFill/>
        </p:spPr>
        <p:txBody>
          <a:bodyPr wrap="square" lIns="36576" rIns="36576" tIns="18288" bIns="18288" anchor="t">
            <a:spAutoFit/>
          </a:bodyPr>
          <a:lstStyle/>
          <a:p>
            <a:pPr algn="l">
              <a:spcAft>
                <a:spcPts val="0"/>
              </a:spcAft>
            </a:pPr>
            <a:r>
              <a:rPr sz="1500" b="1">
                <a:solidFill>
                  <a:srgbClr val="1F2937"/>
                </a:solidFill>
                <a:latin typeface="맑은 고딕"/>
                <a:ea typeface="맑은 고딕"/>
                <a:cs typeface="맑은 고딕"/>
              </a:rPr>
              <a:t>UDP의 약점을 게임이 보완하는 방법</a:t>
            </a:r>
          </a:p>
        </p:txBody>
      </p:sp>
      <p:sp>
        <p:nvSpPr>
          <p:cNvPr id="27" name="Rounded Rectangle 26"/>
          <p:cNvSpPr/>
          <p:nvPr/>
        </p:nvSpPr>
        <p:spPr>
          <a:xfrm>
            <a:off x="6263640" y="1920240"/>
            <a:ext cx="2633472" cy="17830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28" name="TextBox 27"/>
          <p:cNvSpPr txBox="1"/>
          <p:nvPr/>
        </p:nvSpPr>
        <p:spPr>
          <a:xfrm>
            <a:off x="6446520" y="2084832"/>
            <a:ext cx="2286000" cy="411480"/>
          </a:xfrm>
          <a:prstGeom prst="rect">
            <a:avLst/>
          </a:prstGeom>
          <a:noFill/>
        </p:spPr>
        <p:txBody>
          <a:bodyPr wrap="square" lIns="36576" rIns="36576" tIns="18288" bIns="18288" anchor="t">
            <a:spAutoFit/>
          </a:bodyPr>
          <a:lstStyle/>
          <a:p>
            <a:pPr algn="l">
              <a:spcAft>
                <a:spcPts val="0"/>
              </a:spcAft>
            </a:pPr>
            <a:r>
              <a:rPr sz="1800" b="1">
                <a:solidFill>
                  <a:srgbClr val="2563EB"/>
                </a:solidFill>
                <a:latin typeface="맑은 고딕"/>
                <a:ea typeface="맑은 고딕"/>
                <a:cs typeface="맑은 고딕"/>
              </a:rPr>
              <a:t>순서 번호</a:t>
            </a:r>
          </a:p>
        </p:txBody>
      </p:sp>
      <p:sp>
        <p:nvSpPr>
          <p:cNvPr id="29" name="TextBox 28"/>
          <p:cNvSpPr txBox="1"/>
          <p:nvPr/>
        </p:nvSpPr>
        <p:spPr>
          <a:xfrm>
            <a:off x="6446520" y="2560320"/>
            <a:ext cx="2286000" cy="105156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번호를 붙이고, 늦게 온 옛날 패킷은 버린다</a:t>
            </a:r>
          </a:p>
        </p:txBody>
      </p:sp>
      <p:sp>
        <p:nvSpPr>
          <p:cNvPr id="30" name="Rounded Rectangle 29"/>
          <p:cNvSpPr/>
          <p:nvPr/>
        </p:nvSpPr>
        <p:spPr>
          <a:xfrm>
            <a:off x="9006840" y="1920240"/>
            <a:ext cx="2633472" cy="17830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31" name="TextBox 30"/>
          <p:cNvSpPr txBox="1"/>
          <p:nvPr/>
        </p:nvSpPr>
        <p:spPr>
          <a:xfrm>
            <a:off x="9189719" y="2084832"/>
            <a:ext cx="2286000" cy="411480"/>
          </a:xfrm>
          <a:prstGeom prst="rect">
            <a:avLst/>
          </a:prstGeom>
          <a:noFill/>
        </p:spPr>
        <p:txBody>
          <a:bodyPr wrap="square" lIns="36576" rIns="36576" tIns="18288" bIns="18288" anchor="t">
            <a:spAutoFit/>
          </a:bodyPr>
          <a:lstStyle/>
          <a:p>
            <a:pPr algn="l">
              <a:spcAft>
                <a:spcPts val="0"/>
              </a:spcAft>
            </a:pPr>
            <a:r>
              <a:rPr sz="1800" b="1">
                <a:solidFill>
                  <a:srgbClr val="2563EB"/>
                </a:solidFill>
                <a:latin typeface="맑은 고딕"/>
                <a:ea typeface="맑은 고딕"/>
                <a:cs typeface="맑은 고딕"/>
              </a:rPr>
              <a:t>보간</a:t>
            </a:r>
          </a:p>
        </p:txBody>
      </p:sp>
      <p:sp>
        <p:nvSpPr>
          <p:cNvPr id="32" name="TextBox 31"/>
          <p:cNvSpPr txBox="1"/>
          <p:nvPr/>
        </p:nvSpPr>
        <p:spPr>
          <a:xfrm>
            <a:off x="9189719" y="2560320"/>
            <a:ext cx="2286000" cy="105156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띄엄띄엄 받은 위치 사이를 부드럽게 이어서 그린다</a:t>
            </a:r>
          </a:p>
        </p:txBody>
      </p:sp>
      <p:sp>
        <p:nvSpPr>
          <p:cNvPr id="33" name="Rounded Rectangle 32"/>
          <p:cNvSpPr/>
          <p:nvPr/>
        </p:nvSpPr>
        <p:spPr>
          <a:xfrm>
            <a:off x="6263640" y="3840480"/>
            <a:ext cx="2633472" cy="17830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34" name="TextBox 33"/>
          <p:cNvSpPr txBox="1"/>
          <p:nvPr/>
        </p:nvSpPr>
        <p:spPr>
          <a:xfrm>
            <a:off x="6446520" y="4005072"/>
            <a:ext cx="2286000" cy="411480"/>
          </a:xfrm>
          <a:prstGeom prst="rect">
            <a:avLst/>
          </a:prstGeom>
          <a:noFill/>
        </p:spPr>
        <p:txBody>
          <a:bodyPr wrap="square" lIns="36576" rIns="36576" tIns="18288" bIns="18288" anchor="t">
            <a:spAutoFit/>
          </a:bodyPr>
          <a:lstStyle/>
          <a:p>
            <a:pPr algn="l">
              <a:spcAft>
                <a:spcPts val="0"/>
              </a:spcAft>
            </a:pPr>
            <a:r>
              <a:rPr sz="1800" b="1">
                <a:solidFill>
                  <a:srgbClr val="2563EB"/>
                </a:solidFill>
                <a:latin typeface="맑은 고딕"/>
                <a:ea typeface="맑은 고딕"/>
                <a:cs typeface="맑은 고딕"/>
              </a:rPr>
              <a:t>예측</a:t>
            </a:r>
          </a:p>
        </p:txBody>
      </p:sp>
      <p:sp>
        <p:nvSpPr>
          <p:cNvPr id="35" name="TextBox 34"/>
          <p:cNvSpPr txBox="1"/>
          <p:nvPr/>
        </p:nvSpPr>
        <p:spPr>
          <a:xfrm>
            <a:off x="6446520" y="4480560"/>
            <a:ext cx="2286000" cy="105156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내 캐릭터는 먼저 움직이고, 서버 값으로 보정한다</a:t>
            </a:r>
          </a:p>
        </p:txBody>
      </p:sp>
      <p:sp>
        <p:nvSpPr>
          <p:cNvPr id="36" name="Rounded Rectangle 35"/>
          <p:cNvSpPr/>
          <p:nvPr/>
        </p:nvSpPr>
        <p:spPr>
          <a:xfrm>
            <a:off x="9006840" y="3840480"/>
            <a:ext cx="2633472" cy="178308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37" name="TextBox 36"/>
          <p:cNvSpPr txBox="1"/>
          <p:nvPr/>
        </p:nvSpPr>
        <p:spPr>
          <a:xfrm>
            <a:off x="9189719" y="4005072"/>
            <a:ext cx="2286000" cy="411480"/>
          </a:xfrm>
          <a:prstGeom prst="rect">
            <a:avLst/>
          </a:prstGeom>
          <a:noFill/>
        </p:spPr>
        <p:txBody>
          <a:bodyPr wrap="square" lIns="36576" rIns="36576" tIns="18288" bIns="18288" anchor="t">
            <a:spAutoFit/>
          </a:bodyPr>
          <a:lstStyle/>
          <a:p>
            <a:pPr algn="l">
              <a:spcAft>
                <a:spcPts val="0"/>
              </a:spcAft>
            </a:pPr>
            <a:r>
              <a:rPr sz="1800" b="1">
                <a:solidFill>
                  <a:srgbClr val="2563EB"/>
                </a:solidFill>
                <a:latin typeface="맑은 고딕"/>
                <a:ea typeface="맑은 고딕"/>
                <a:cs typeface="맑은 고딕"/>
              </a:rPr>
              <a:t>선택적 재전송</a:t>
            </a:r>
          </a:p>
        </p:txBody>
      </p:sp>
      <p:sp>
        <p:nvSpPr>
          <p:cNvPr id="38" name="TextBox 37"/>
          <p:cNvSpPr txBox="1"/>
          <p:nvPr/>
        </p:nvSpPr>
        <p:spPr>
          <a:xfrm>
            <a:off x="9189719" y="4480560"/>
            <a:ext cx="2286000" cy="105156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‘보스 처치’ 같은 중요 이벤트만 확실히 보낸다</a:t>
            </a:r>
          </a:p>
        </p:txBody>
      </p:sp>
      <p:sp>
        <p:nvSpPr>
          <p:cNvPr id="39" name="TextBox 38"/>
          <p:cNvSpPr txBox="1"/>
          <p:nvPr/>
        </p:nvSpPr>
        <p:spPr>
          <a:xfrm>
            <a:off x="548640" y="5897880"/>
            <a:ext cx="11091672" cy="36576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대부분의 게임 네트워크 라이브러리는 UDP 위에 ‘확실한 채널’과 ‘빠른 채널’을 함께 제공한다 → 데이터마다 채널을 고르는 것은 우리 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3 · 통신 방식</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HTTP REST와 WebSocket</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13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§3 · §4</a:t>
            </a:r>
          </a:p>
        </p:txBody>
      </p:sp>
      <p:sp>
        <p:nvSpPr>
          <p:cNvPr id="7" name="TextBox 6"/>
          <p:cNvSpPr txBox="1"/>
          <p:nvPr/>
        </p:nvSpPr>
        <p:spPr>
          <a:xfrm>
            <a:off x="548640" y="1783080"/>
            <a:ext cx="1280160" cy="82296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응용 방식</a:t>
            </a:r>
          </a:p>
        </p:txBody>
      </p:sp>
      <p:sp>
        <p:nvSpPr>
          <p:cNvPr id="8" name="TextBox 7"/>
          <p:cNvSpPr txBox="1"/>
          <p:nvPr/>
        </p:nvSpPr>
        <p:spPr>
          <a:xfrm>
            <a:off x="548640" y="2788920"/>
            <a:ext cx="1280160" cy="731520"/>
          </a:xfrm>
          <a:prstGeom prst="rect">
            <a:avLst/>
          </a:prstGeom>
          <a:noFill/>
        </p:spPr>
        <p:txBody>
          <a:bodyPr wrap="square" lIns="36576" rIns="36576" tIns="18288" bIns="18288" anchor="ctr">
            <a:spAutoFit/>
          </a:bodyPr>
          <a:lstStyle/>
          <a:p>
            <a:pPr algn="l">
              <a:spcAft>
                <a:spcPts val="0"/>
              </a:spcAft>
            </a:pPr>
            <a:r>
              <a:rPr sz="1300" b="1">
                <a:solidFill>
                  <a:srgbClr val="6B7280"/>
                </a:solidFill>
                <a:latin typeface="맑은 고딕"/>
                <a:ea typeface="맑은 고딕"/>
                <a:cs typeface="맑은 고딕"/>
              </a:rPr>
              <a:t>전송 계층</a:t>
            </a:r>
          </a:p>
        </p:txBody>
      </p:sp>
      <p:sp>
        <p:nvSpPr>
          <p:cNvPr id="9" name="Rounded Rectangle 8"/>
          <p:cNvSpPr/>
          <p:nvPr/>
        </p:nvSpPr>
        <p:spPr>
          <a:xfrm>
            <a:off x="1828800" y="1783080"/>
            <a:ext cx="1188720" cy="822960"/>
          </a:xfrm>
          <a:prstGeom prst="roundRect">
            <a:avLst>
              <a:gd name="adj" fmla="val 12000"/>
            </a:avLst>
          </a:prstGeom>
          <a:solidFill>
            <a:srgbClr val="CCFBF1"/>
          </a:solidFill>
          <a:ln w="12700">
            <a:solidFill>
              <a:srgbClr val="0F766E"/>
            </a:solidFill>
          </a:ln>
        </p:spPr>
        <p:txBody>
          <a:bodyPr rtlCol="0" anchor="ctr" wrap="square" tIns="36576" bIns="36576"/>
          <a:lstStyle/>
          <a:p>
            <a:pPr algn="ctr">
              <a:spcAft>
                <a:spcPts val="0"/>
              </a:spcAft>
            </a:pPr>
            <a:r>
              <a:rPr sz="1400" b="1">
                <a:solidFill>
                  <a:srgbClr val="1F2937"/>
                </a:solidFill>
                <a:latin typeface="맑은 고딕"/>
                <a:ea typeface="맑은 고딕"/>
                <a:cs typeface="맑은 고딕"/>
              </a:rPr>
              <a:t>HTTP</a:t>
            </a:r>
          </a:p>
          <a:p>
            <a:pPr algn="ctr">
              <a:spcAft>
                <a:spcPts val="0"/>
              </a:spcAft>
            </a:pPr>
            <a:r>
              <a:rPr sz="1400" b="1">
                <a:solidFill>
                  <a:srgbClr val="1F2937"/>
                </a:solidFill>
                <a:latin typeface="맑은 고딕"/>
                <a:ea typeface="맑은 고딕"/>
                <a:cs typeface="맑은 고딕"/>
              </a:rPr>
              <a:t>REST</a:t>
            </a:r>
          </a:p>
        </p:txBody>
      </p:sp>
      <p:sp>
        <p:nvSpPr>
          <p:cNvPr id="10" name="Rounded Rectangle 9"/>
          <p:cNvSpPr/>
          <p:nvPr/>
        </p:nvSpPr>
        <p:spPr>
          <a:xfrm>
            <a:off x="3108960" y="1783080"/>
            <a:ext cx="1280160" cy="822960"/>
          </a:xfrm>
          <a:prstGeom prst="roundRect">
            <a:avLst>
              <a:gd name="adj" fmla="val 12000"/>
            </a:avLst>
          </a:prstGeom>
          <a:solidFill>
            <a:srgbClr val="EDE9FE"/>
          </a:solidFill>
          <a:ln w="12700">
            <a:solidFill>
              <a:srgbClr val="6D28D9"/>
            </a:solidFill>
          </a:ln>
        </p:spPr>
        <p:txBody>
          <a:bodyPr rtlCol="0" anchor="ctr" wrap="square" tIns="36576" bIns="36576"/>
          <a:lstStyle/>
          <a:p>
            <a:pPr algn="ctr">
              <a:spcAft>
                <a:spcPts val="0"/>
              </a:spcAft>
            </a:pPr>
            <a:r>
              <a:rPr sz="1400" b="1">
                <a:solidFill>
                  <a:srgbClr val="1F2937"/>
                </a:solidFill>
                <a:latin typeface="맑은 고딕"/>
                <a:ea typeface="맑은 고딕"/>
                <a:cs typeface="맑은 고딕"/>
              </a:rPr>
              <a:t>Web</a:t>
            </a:r>
          </a:p>
          <a:p>
            <a:pPr algn="ctr">
              <a:spcAft>
                <a:spcPts val="0"/>
              </a:spcAft>
            </a:pPr>
            <a:r>
              <a:rPr sz="1400" b="1">
                <a:solidFill>
                  <a:srgbClr val="1F2937"/>
                </a:solidFill>
                <a:latin typeface="맑은 고딕"/>
                <a:ea typeface="맑은 고딕"/>
                <a:cs typeface="맑은 고딕"/>
              </a:rPr>
              <a:t>Socket</a:t>
            </a:r>
          </a:p>
        </p:txBody>
      </p:sp>
      <p:sp>
        <p:nvSpPr>
          <p:cNvPr id="11" name="Rounded Rectangle 10"/>
          <p:cNvSpPr/>
          <p:nvPr/>
        </p:nvSpPr>
        <p:spPr>
          <a:xfrm>
            <a:off x="4480560" y="1783080"/>
            <a:ext cx="1325880" cy="822960"/>
          </a:xfrm>
          <a:prstGeom prst="roundRect">
            <a:avLst>
              <a:gd name="adj" fmla="val 12000"/>
            </a:avLst>
          </a:prstGeom>
          <a:solidFill>
            <a:srgbClr val="FFEDD5"/>
          </a:solidFill>
          <a:ln w="12700">
            <a:solidFill>
              <a:srgbClr val="C2410C"/>
            </a:solidFill>
          </a:ln>
        </p:spPr>
        <p:txBody>
          <a:bodyPr rtlCol="0" anchor="ctr" wrap="square" tIns="36576" bIns="36576"/>
          <a:lstStyle/>
          <a:p>
            <a:pPr algn="ctr">
              <a:spcAft>
                <a:spcPts val="0"/>
              </a:spcAft>
            </a:pPr>
            <a:r>
              <a:rPr sz="1300" b="1">
                <a:solidFill>
                  <a:srgbClr val="1F2937"/>
                </a:solidFill>
                <a:latin typeface="맑은 고딕"/>
                <a:ea typeface="맑은 고딕"/>
                <a:cs typeface="맑은 고딕"/>
              </a:rPr>
              <a:t>게임 실시간</a:t>
            </a:r>
          </a:p>
          <a:p>
            <a:pPr algn="ctr">
              <a:spcAft>
                <a:spcPts val="0"/>
              </a:spcAft>
            </a:pPr>
            <a:r>
              <a:rPr sz="1300" b="1">
                <a:solidFill>
                  <a:srgbClr val="1F2937"/>
                </a:solidFill>
                <a:latin typeface="맑은 고딕"/>
                <a:ea typeface="맑은 고딕"/>
                <a:cs typeface="맑은 고딕"/>
              </a:rPr>
              <a:t>프로토콜</a:t>
            </a:r>
          </a:p>
        </p:txBody>
      </p:sp>
      <p:sp>
        <p:nvSpPr>
          <p:cNvPr id="12" name="Rounded Rectangle 11"/>
          <p:cNvSpPr/>
          <p:nvPr/>
        </p:nvSpPr>
        <p:spPr>
          <a:xfrm>
            <a:off x="1828800" y="2788920"/>
            <a:ext cx="2560320" cy="731520"/>
          </a:xfrm>
          <a:prstGeom prst="roundRect">
            <a:avLst>
              <a:gd name="adj" fmla="val 12000"/>
            </a:avLst>
          </a:prstGeom>
          <a:solidFill>
            <a:srgbClr val="334155"/>
          </a:solidFill>
          <a:ln>
            <a:noFill/>
          </a:ln>
        </p:spPr>
        <p:txBody>
          <a:bodyPr rtlCol="0" anchor="ctr" wrap="square" tIns="36576" bIns="36576"/>
          <a:lstStyle/>
          <a:p>
            <a:pPr algn="ctr">
              <a:spcAft>
                <a:spcPts val="0"/>
              </a:spcAft>
            </a:pPr>
            <a:r>
              <a:rPr sz="1800" b="1">
                <a:solidFill>
                  <a:srgbClr val="FFFFFF"/>
                </a:solidFill>
                <a:latin typeface="맑은 고딕"/>
                <a:ea typeface="맑은 고딕"/>
                <a:cs typeface="맑은 고딕"/>
              </a:rPr>
              <a:t>TCP</a:t>
            </a:r>
          </a:p>
        </p:txBody>
      </p:sp>
      <p:sp>
        <p:nvSpPr>
          <p:cNvPr id="13" name="Rounded Rectangle 12"/>
          <p:cNvSpPr/>
          <p:nvPr/>
        </p:nvSpPr>
        <p:spPr>
          <a:xfrm>
            <a:off x="4480560" y="2788920"/>
            <a:ext cx="1325880" cy="731520"/>
          </a:xfrm>
          <a:prstGeom prst="roundRect">
            <a:avLst>
              <a:gd name="adj" fmla="val 12000"/>
            </a:avLst>
          </a:prstGeom>
          <a:solidFill>
            <a:srgbClr val="334155"/>
          </a:solidFill>
          <a:ln>
            <a:noFill/>
          </a:ln>
        </p:spPr>
        <p:txBody>
          <a:bodyPr rtlCol="0" anchor="ctr" wrap="square" tIns="36576" bIns="36576"/>
          <a:lstStyle/>
          <a:p>
            <a:pPr algn="ctr">
              <a:spcAft>
                <a:spcPts val="0"/>
              </a:spcAft>
            </a:pPr>
            <a:r>
              <a:rPr sz="1800" b="1">
                <a:solidFill>
                  <a:srgbClr val="FFFFFF"/>
                </a:solidFill>
                <a:latin typeface="맑은 고딕"/>
                <a:ea typeface="맑은 고딕"/>
                <a:cs typeface="맑은 고딕"/>
              </a:rPr>
              <a:t>UDP</a:t>
            </a:r>
          </a:p>
        </p:txBody>
      </p:sp>
      <p:sp>
        <p:nvSpPr>
          <p:cNvPr id="14" name="TextBox 13"/>
          <p:cNvSpPr txBox="1"/>
          <p:nvPr/>
        </p:nvSpPr>
        <p:spPr>
          <a:xfrm>
            <a:off x="548640" y="3703320"/>
            <a:ext cx="5303520" cy="1005840"/>
          </a:xfrm>
          <a:prstGeom prst="rect">
            <a:avLst/>
          </a:prstGeom>
          <a:noFill/>
        </p:spPr>
        <p:txBody>
          <a:bodyPr wrap="square" lIns="36576" rIns="36576" tIns="18288" bIns="18288" anchor="t">
            <a:spAutoFit/>
          </a:bodyPr>
          <a:lstStyle/>
          <a:p>
            <a:pPr algn="l">
              <a:spcAft>
                <a:spcPts val="600"/>
              </a:spcAft>
            </a:pPr>
            <a:r>
              <a:rPr sz="1300" b="1">
                <a:solidFill>
                  <a:srgbClr val="0F766E"/>
                </a:solidFill>
                <a:latin typeface="맑은 고딕"/>
                <a:ea typeface="맑은 고딕"/>
                <a:cs typeface="맑은 고딕"/>
              </a:rPr>
              <a:t>REST</a:t>
            </a:r>
            <a:r>
              <a:rPr sz="1300" b="0">
                <a:solidFill>
                  <a:srgbClr val="1F2937"/>
                </a:solidFill>
                <a:latin typeface="맑은 고딕"/>
                <a:ea typeface="맑은 고딕"/>
                <a:cs typeface="맑은 고딕"/>
              </a:rPr>
              <a:t>로 매칭 완료를 알려면 1초마다 “됐어요?” 하고 물어야 한다</a:t>
            </a:r>
          </a:p>
          <a:p>
            <a:pPr algn="l">
              <a:spcAft>
                <a:spcPts val="600"/>
              </a:spcAft>
            </a:pPr>
            <a:r>
              <a:rPr sz="1300" b="1">
                <a:solidFill>
                  <a:srgbClr val="6D28D9"/>
                </a:solidFill>
                <a:latin typeface="맑은 고딕"/>
                <a:ea typeface="맑은 고딕"/>
                <a:cs typeface="맑은 고딕"/>
              </a:rPr>
              <a:t>WebSocket</a:t>
            </a:r>
            <a:r>
              <a:rPr sz="1300" b="0">
                <a:solidFill>
                  <a:srgbClr val="1F2937"/>
                </a:solidFill>
                <a:latin typeface="맑은 고딕"/>
                <a:ea typeface="맑은 고딕"/>
                <a:cs typeface="맑은 고딕"/>
              </a:rPr>
              <a:t>이면 서버가 “됐습니다”를 바로 보낸다</a:t>
            </a:r>
          </a:p>
        </p:txBody>
      </p:sp>
      <p:graphicFrame>
        <p:nvGraphicFramePr>
          <p:cNvPr id="15" name="Table 14"/>
          <p:cNvGraphicFramePr>
            <a:graphicFrameLocks noGrp="1"/>
          </p:cNvGraphicFramePr>
          <p:nvPr/>
        </p:nvGraphicFramePr>
        <p:xfrm>
          <a:off x="6172200" y="1783080"/>
          <a:ext cx="5468112" cy="2788920"/>
        </p:xfrm>
        <a:graphic>
          <a:graphicData uri="http://schemas.openxmlformats.org/drawingml/2006/table">
            <a:tbl>
              <a:tblPr firstRow="1">
                <a:tableStyleId>{5C22544A-7EE6-4342-B048-85BDC9FD1C3A}</a:tableStyleId>
              </a:tblPr>
              <a:tblGrid>
                <a:gridCol w="1325880"/>
                <a:gridCol w="2011680"/>
                <a:gridCol w="2130552"/>
              </a:tblGrid>
              <a:tr h="457200">
                <a:tc>
                  <a:txBody>
                    <a:bodyPr wrap="square"/>
                    <a:lstStyle/>
                    <a:p>
                      <a:pPr algn="l">
                        <a:spcAft>
                          <a:spcPts val="0"/>
                        </a:spcAft>
                      </a:pPr>
                      <a:r>
                        <a:rPr sz="1200" b="1">
                          <a:solidFill>
                            <a:srgbClr val="FFFFFF"/>
                          </a:solidFill>
                          <a:latin typeface="맑은 고딕"/>
                          <a:ea typeface="맑은 고딕"/>
                          <a:cs typeface="맑은 고딕"/>
                        </a:rPr>
                        <a:t>방식</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목적</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예시</a:t>
                      </a:r>
                    </a:p>
                  </a:txBody>
                  <a:tcPr marL="128016" marR="128016" marT="36576" marB="36576" anchor="ctr">
                    <a:solidFill>
                      <a:srgbClr val="1F2937"/>
                    </a:solidFill>
                  </a:tcPr>
                </a:tc>
              </a:tr>
              <a:tr h="777240">
                <a:tc>
                  <a:txBody>
                    <a:bodyPr wrap="square"/>
                    <a:lstStyle/>
                    <a:p>
                      <a:pPr algn="l">
                        <a:spcAft>
                          <a:spcPts val="0"/>
                        </a:spcAft>
                      </a:pPr>
                      <a:r>
                        <a:rPr sz="1300" b="1">
                          <a:solidFill>
                            <a:srgbClr val="0F766E"/>
                          </a:solidFill>
                          <a:latin typeface="맑은 고딕"/>
                          <a:ea typeface="맑은 고딕"/>
                          <a:cs typeface="맑은 고딕"/>
                        </a:rPr>
                        <a:t>HTTP REST</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요청 후 응답</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프로필 · 결과 저장</a:t>
                      </a:r>
                    </a:p>
                  </a:txBody>
                  <a:tcPr marL="128016" marR="128016" marT="36576" marB="36576" anchor="ctr">
                    <a:solidFill>
                      <a:srgbClr val="FFFFFF"/>
                    </a:solidFill>
                  </a:tcPr>
                </a:tc>
              </a:tr>
              <a:tr h="777240">
                <a:tc>
                  <a:txBody>
                    <a:bodyPr wrap="square"/>
                    <a:lstStyle/>
                    <a:p>
                      <a:pPr algn="l">
                        <a:spcAft>
                          <a:spcPts val="0"/>
                        </a:spcAft>
                      </a:pPr>
                      <a:r>
                        <a:rPr sz="1300" b="1">
                          <a:solidFill>
                            <a:srgbClr val="6D28D9"/>
                          </a:solidFill>
                          <a:latin typeface="맑은 고딕"/>
                          <a:ea typeface="맑은 고딕"/>
                          <a:cs typeface="맑은 고딕"/>
                        </a:rPr>
                        <a:t>WebSocket</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지속 연결 · 양방향</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로비 알림 · 채팅 · 준비</a:t>
                      </a:r>
                    </a:p>
                  </a:txBody>
                  <a:tcPr marL="128016" marR="128016" marT="36576" marB="36576" anchor="ctr">
                    <a:solidFill>
                      <a:srgbClr val="F3F4F6"/>
                    </a:solidFill>
                  </a:tcPr>
                </a:tc>
              </a:tr>
              <a:tr h="777240">
                <a:tc>
                  <a:txBody>
                    <a:bodyPr wrap="square"/>
                    <a:lstStyle/>
                    <a:p>
                      <a:pPr algn="l">
                        <a:spcAft>
                          <a:spcPts val="0"/>
                        </a:spcAft>
                      </a:pPr>
                      <a:r>
                        <a:rPr sz="1300" b="1">
                          <a:solidFill>
                            <a:srgbClr val="C2410C"/>
                          </a:solidFill>
                          <a:latin typeface="맑은 고딕"/>
                          <a:ea typeface="맑은 고딕"/>
                          <a:cs typeface="맑은 고딕"/>
                        </a:rPr>
                        <a:t>UDP 기반</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짧은 패킷 · 빠른 전달</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이동 · 입력 · 스냅샷</a:t>
                      </a:r>
                    </a:p>
                  </a:txBody>
                  <a:tcPr marL="128016" marR="128016" marT="36576" marB="36576" anchor="ctr">
                    <a:solidFill>
                      <a:srgbClr val="FFFFFF"/>
                    </a:solidFill>
                  </a:tcPr>
                </a:tc>
              </a:tr>
            </a:tbl>
          </a:graphicData>
        </a:graphic>
      </p:graphicFrame>
      <p:sp>
        <p:nvSpPr>
          <p:cNvPr id="16" name="Rounded Rectangle 15"/>
          <p:cNvSpPr/>
          <p:nvPr/>
        </p:nvSpPr>
        <p:spPr>
          <a:xfrm>
            <a:off x="548640" y="4846320"/>
            <a:ext cx="11091672" cy="1325880"/>
          </a:xfrm>
          <a:prstGeom prst="roundRect">
            <a:avLst>
              <a:gd name="adj" fmla="val 6000"/>
            </a:avLst>
          </a:prstGeom>
          <a:solidFill>
            <a:srgbClr val="0F172A"/>
          </a:solidFill>
          <a:ln>
            <a:noFill/>
          </a:ln>
        </p:spPr>
        <p:txBody>
          <a:bodyPr rtlCol="0" anchor="ctr" wrap="square" tIns="36576" bIns="36576"/>
          <a:lstStyle/>
          <a:p>
            <a:pPr algn="ctr"/>
          </a:p>
        </p:txBody>
      </p:sp>
      <p:sp>
        <p:nvSpPr>
          <p:cNvPr id="17" name="TextBox 16"/>
          <p:cNvSpPr txBox="1"/>
          <p:nvPr/>
        </p:nvSpPr>
        <p:spPr>
          <a:xfrm>
            <a:off x="868680" y="4937760"/>
            <a:ext cx="10515600" cy="347472"/>
          </a:xfrm>
          <a:prstGeom prst="rect">
            <a:avLst/>
          </a:prstGeom>
          <a:noFill/>
        </p:spPr>
        <p:txBody>
          <a:bodyPr wrap="square" lIns="36576" rIns="36576" tIns="18288" bIns="18288" anchor="t">
            <a:spAutoFit/>
          </a:bodyPr>
          <a:lstStyle/>
          <a:p>
            <a:pPr algn="l">
              <a:spcAft>
                <a:spcPts val="0"/>
              </a:spcAft>
            </a:pPr>
            <a:r>
              <a:rPr sz="1400" b="1">
                <a:solidFill>
                  <a:srgbClr val="F87171"/>
                </a:solidFill>
                <a:latin typeface="맑은 고딕"/>
                <a:ea typeface="맑은 고딕"/>
                <a:cs typeface="맑은 고딕"/>
              </a:rPr>
              <a:t>✕  </a:t>
            </a:r>
            <a:r>
              <a:rPr sz="1400" b="0">
                <a:solidFill>
                  <a:srgbClr val="94A3B8"/>
                </a:solidFill>
                <a:latin typeface="맑은 고딕"/>
                <a:ea typeface="맑은 고딕"/>
                <a:cs typeface="맑은 고딕"/>
              </a:rPr>
              <a:t>“REST와 UDP 중 무엇을 쓸까?”  층이 다른 것을 비교하는 질문</a:t>
            </a:r>
          </a:p>
        </p:txBody>
      </p:sp>
      <p:sp>
        <p:nvSpPr>
          <p:cNvPr id="18" name="TextBox 17"/>
          <p:cNvSpPr txBox="1"/>
          <p:nvPr/>
        </p:nvSpPr>
        <p:spPr>
          <a:xfrm>
            <a:off x="868680" y="5285232"/>
            <a:ext cx="10515600" cy="457200"/>
          </a:xfrm>
          <a:prstGeom prst="rect">
            <a:avLst/>
          </a:prstGeom>
          <a:noFill/>
        </p:spPr>
        <p:txBody>
          <a:bodyPr wrap="square" lIns="36576" rIns="36576" tIns="18288" bIns="18288" anchor="t">
            <a:spAutoFit/>
          </a:bodyPr>
          <a:lstStyle/>
          <a:p>
            <a:pPr algn="l">
              <a:spcAft>
                <a:spcPts val="0"/>
              </a:spcAft>
            </a:pPr>
            <a:r>
              <a:rPr sz="2100" b="1">
                <a:solidFill>
                  <a:srgbClr val="4ADE80"/>
                </a:solidFill>
                <a:latin typeface="맑은 고딕"/>
                <a:ea typeface="맑은 고딕"/>
                <a:cs typeface="맑은 고딕"/>
              </a:rPr>
              <a:t>○  </a:t>
            </a:r>
            <a:r>
              <a:rPr sz="2100" b="1">
                <a:solidFill>
                  <a:srgbClr val="FFFFFF"/>
                </a:solidFill>
                <a:latin typeface="맑은 고딕"/>
                <a:ea typeface="맑은 고딕"/>
                <a:cs typeface="맑은 고딕"/>
              </a:rPr>
              <a:t>“이 데이터에는 어떤 전달 특성이 필요한가?”</a:t>
            </a:r>
          </a:p>
        </p:txBody>
      </p:sp>
      <p:sp>
        <p:nvSpPr>
          <p:cNvPr id="19" name="TextBox 18"/>
          <p:cNvSpPr txBox="1"/>
          <p:nvPr/>
        </p:nvSpPr>
        <p:spPr>
          <a:xfrm>
            <a:off x="1280160" y="5760720"/>
            <a:ext cx="10058400" cy="347472"/>
          </a:xfrm>
          <a:prstGeom prst="rect">
            <a:avLst/>
          </a:prstGeom>
          <a:noFill/>
        </p:spPr>
        <p:txBody>
          <a:bodyPr wrap="square" lIns="36576" rIns="36576" tIns="18288" bIns="18288" anchor="t">
            <a:spAutoFit/>
          </a:bodyPr>
          <a:lstStyle/>
          <a:p>
            <a:pPr algn="l">
              <a:spcAft>
                <a:spcPts val="0"/>
              </a:spcAft>
            </a:pPr>
            <a:r>
              <a:rPr sz="1400" b="0">
                <a:solidFill>
                  <a:srgbClr val="CBD5E1"/>
                </a:solidFill>
                <a:latin typeface="맑은 고딕"/>
                <a:ea typeface="맑은 고딕"/>
                <a:cs typeface="맑은 고딕"/>
              </a:rPr>
              <a:t>정확해야 하나 · 빨라야 하나 · 서버가 먼저 알려 줘야 하나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4 · 데이터 · 매칭 · 실시간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Firebase에는 무엇을 저장할까</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14 / 22</a:t>
            </a:r>
          </a:p>
        </p:txBody>
      </p:sp>
      <p:sp>
        <p:nvSpPr>
          <p:cNvPr id="6" name="TextBox 5"/>
          <p:cNvSpPr txBox="1"/>
          <p:nvPr/>
        </p:nvSpPr>
        <p:spPr>
          <a:xfrm>
            <a:off x="548640" y="1554480"/>
            <a:ext cx="5029200" cy="1005840"/>
          </a:xfrm>
          <a:prstGeom prst="rect">
            <a:avLst/>
          </a:prstGeom>
          <a:noFill/>
        </p:spPr>
        <p:txBody>
          <a:bodyPr wrap="square" lIns="36576" rIns="36576" tIns="18288" bIns="18288" anchor="t">
            <a:spAutoFit/>
          </a:bodyPr>
          <a:lstStyle/>
          <a:p>
            <a:pPr algn="l">
              <a:lnSpc>
                <a:spcPct val="105000"/>
              </a:lnSpc>
              <a:spcAft>
                <a:spcPts val="0"/>
              </a:spcAft>
            </a:pPr>
            <a:r>
              <a:rPr sz="2600" b="1">
                <a:solidFill>
                  <a:srgbClr val="1F2937"/>
                </a:solidFill>
                <a:latin typeface="맑은 고딕"/>
                <a:ea typeface="맑은 고딕"/>
                <a:cs typeface="맑은 고딕"/>
              </a:rPr>
              <a:t>게임을 껐다 켜도</a:t>
            </a:r>
          </a:p>
          <a:p>
            <a:pPr algn="l">
              <a:lnSpc>
                <a:spcPct val="105000"/>
              </a:lnSpc>
              <a:spcAft>
                <a:spcPts val="0"/>
              </a:spcAft>
            </a:pPr>
            <a:r>
              <a:rPr sz="2600" b="1">
                <a:solidFill>
                  <a:srgbClr val="1F2937"/>
                </a:solidFill>
                <a:latin typeface="맑은 고딕"/>
                <a:ea typeface="맑은 고딕"/>
                <a:cs typeface="맑은 고딕"/>
              </a:rPr>
              <a:t>남아야 하는 데이터</a:t>
            </a:r>
          </a:p>
        </p:txBody>
      </p:sp>
      <p:sp>
        <p:nvSpPr>
          <p:cNvPr id="7" name="Oval 6"/>
          <p:cNvSpPr/>
          <p:nvPr/>
        </p:nvSpPr>
        <p:spPr>
          <a:xfrm>
            <a:off x="548640" y="2788920"/>
            <a:ext cx="384048" cy="384048"/>
          </a:xfrm>
          <a:prstGeom prst="ellipse">
            <a:avLst/>
          </a:prstGeom>
          <a:solidFill>
            <a:srgbClr val="E2E8F0"/>
          </a:solidFill>
          <a:ln>
            <a:noFill/>
          </a:ln>
        </p:spPr>
        <p:txBody>
          <a:bodyPr rtlCol="0" anchor="ctr" wrap="square" lIns="0" rIns="0" tIns="36576" bIns="36576"/>
          <a:lstStyle/>
          <a:p>
            <a:pPr algn="ctr">
              <a:spcAft>
                <a:spcPts val="0"/>
              </a:spcAft>
            </a:pPr>
            <a:r>
              <a:rPr sz="1300" b="1">
                <a:solidFill>
                  <a:srgbClr val="475569"/>
                </a:solidFill>
                <a:latin typeface="맑은 고딕"/>
                <a:ea typeface="맑은 고딕"/>
                <a:cs typeface="맑은 고딕"/>
              </a:rPr>
              <a:t>✓</a:t>
            </a:r>
          </a:p>
        </p:txBody>
      </p:sp>
      <p:sp>
        <p:nvSpPr>
          <p:cNvPr id="8" name="TextBox 7"/>
          <p:cNvSpPr txBox="1"/>
          <p:nvPr/>
        </p:nvSpPr>
        <p:spPr>
          <a:xfrm>
            <a:off x="1097280" y="2752344"/>
            <a:ext cx="4389120" cy="457200"/>
          </a:xfrm>
          <a:prstGeom prst="rect">
            <a:avLst/>
          </a:prstGeom>
          <a:noFill/>
        </p:spPr>
        <p:txBody>
          <a:bodyPr wrap="square" lIns="36576" rIns="36576" tIns="18288" bIns="18288" anchor="ctr">
            <a:spAutoFit/>
          </a:bodyPr>
          <a:lstStyle/>
          <a:p>
            <a:pPr algn="l">
              <a:spcAft>
                <a:spcPts val="0"/>
              </a:spcAft>
            </a:pPr>
            <a:r>
              <a:rPr sz="1800" b="0">
                <a:solidFill>
                  <a:srgbClr val="1F2937"/>
                </a:solidFill>
                <a:latin typeface="맑은 고딕"/>
                <a:ea typeface="맑은 고딕"/>
                <a:cs typeface="맑은 고딕"/>
              </a:rPr>
              <a:t>사용자 ID와 프로필</a:t>
            </a:r>
          </a:p>
        </p:txBody>
      </p:sp>
      <p:sp>
        <p:nvSpPr>
          <p:cNvPr id="9" name="Oval 8"/>
          <p:cNvSpPr/>
          <p:nvPr/>
        </p:nvSpPr>
        <p:spPr>
          <a:xfrm>
            <a:off x="548640" y="3447287"/>
            <a:ext cx="384048" cy="384048"/>
          </a:xfrm>
          <a:prstGeom prst="ellipse">
            <a:avLst/>
          </a:prstGeom>
          <a:solidFill>
            <a:srgbClr val="E2E8F0"/>
          </a:solidFill>
          <a:ln>
            <a:noFill/>
          </a:ln>
        </p:spPr>
        <p:txBody>
          <a:bodyPr rtlCol="0" anchor="ctr" wrap="square" lIns="0" rIns="0" tIns="36576" bIns="36576"/>
          <a:lstStyle/>
          <a:p>
            <a:pPr algn="ctr">
              <a:spcAft>
                <a:spcPts val="0"/>
              </a:spcAft>
            </a:pPr>
            <a:r>
              <a:rPr sz="1300" b="1">
                <a:solidFill>
                  <a:srgbClr val="475569"/>
                </a:solidFill>
                <a:latin typeface="맑은 고딕"/>
                <a:ea typeface="맑은 고딕"/>
                <a:cs typeface="맑은 고딕"/>
              </a:rPr>
              <a:t>✓</a:t>
            </a:r>
          </a:p>
        </p:txBody>
      </p:sp>
      <p:sp>
        <p:nvSpPr>
          <p:cNvPr id="10" name="TextBox 9"/>
          <p:cNvSpPr txBox="1"/>
          <p:nvPr/>
        </p:nvSpPr>
        <p:spPr>
          <a:xfrm>
            <a:off x="1097280" y="3410711"/>
            <a:ext cx="4389120" cy="457200"/>
          </a:xfrm>
          <a:prstGeom prst="rect">
            <a:avLst/>
          </a:prstGeom>
          <a:noFill/>
        </p:spPr>
        <p:txBody>
          <a:bodyPr wrap="square" lIns="36576" rIns="36576" tIns="18288" bIns="18288" anchor="ctr">
            <a:spAutoFit/>
          </a:bodyPr>
          <a:lstStyle/>
          <a:p>
            <a:pPr algn="l">
              <a:spcAft>
                <a:spcPts val="0"/>
              </a:spcAft>
            </a:pPr>
            <a:r>
              <a:rPr sz="1800" b="0">
                <a:solidFill>
                  <a:srgbClr val="1F2937"/>
                </a:solidFill>
                <a:latin typeface="맑은 고딕"/>
                <a:ea typeface="맑은 고딕"/>
                <a:cs typeface="맑은 고딕"/>
              </a:rPr>
              <a:t>인벤토리와 설정</a:t>
            </a:r>
          </a:p>
        </p:txBody>
      </p:sp>
      <p:sp>
        <p:nvSpPr>
          <p:cNvPr id="11" name="Oval 10"/>
          <p:cNvSpPr/>
          <p:nvPr/>
        </p:nvSpPr>
        <p:spPr>
          <a:xfrm>
            <a:off x="548640" y="4105656"/>
            <a:ext cx="384048" cy="384048"/>
          </a:xfrm>
          <a:prstGeom prst="ellipse">
            <a:avLst/>
          </a:prstGeom>
          <a:solidFill>
            <a:srgbClr val="E2E8F0"/>
          </a:solidFill>
          <a:ln>
            <a:noFill/>
          </a:ln>
        </p:spPr>
        <p:txBody>
          <a:bodyPr rtlCol="0" anchor="ctr" wrap="square" lIns="0" rIns="0" tIns="36576" bIns="36576"/>
          <a:lstStyle/>
          <a:p>
            <a:pPr algn="ctr">
              <a:spcAft>
                <a:spcPts val="0"/>
              </a:spcAft>
            </a:pPr>
            <a:r>
              <a:rPr sz="1300" b="1">
                <a:solidFill>
                  <a:srgbClr val="475569"/>
                </a:solidFill>
                <a:latin typeface="맑은 고딕"/>
                <a:ea typeface="맑은 고딕"/>
                <a:cs typeface="맑은 고딕"/>
              </a:rPr>
              <a:t>✓</a:t>
            </a:r>
          </a:p>
        </p:txBody>
      </p:sp>
      <p:sp>
        <p:nvSpPr>
          <p:cNvPr id="12" name="TextBox 11"/>
          <p:cNvSpPr txBox="1"/>
          <p:nvPr/>
        </p:nvSpPr>
        <p:spPr>
          <a:xfrm>
            <a:off x="1097280" y="4069080"/>
            <a:ext cx="4389120" cy="457200"/>
          </a:xfrm>
          <a:prstGeom prst="rect">
            <a:avLst/>
          </a:prstGeom>
          <a:noFill/>
        </p:spPr>
        <p:txBody>
          <a:bodyPr wrap="square" lIns="36576" rIns="36576" tIns="18288" bIns="18288" anchor="ctr">
            <a:spAutoFit/>
          </a:bodyPr>
          <a:lstStyle/>
          <a:p>
            <a:pPr algn="l">
              <a:spcAft>
                <a:spcPts val="0"/>
              </a:spcAft>
            </a:pPr>
            <a:r>
              <a:rPr sz="1800" b="0">
                <a:solidFill>
                  <a:srgbClr val="1F2937"/>
                </a:solidFill>
                <a:latin typeface="맑은 고딕"/>
                <a:ea typeface="맑은 고딕"/>
                <a:cs typeface="맑은 고딕"/>
              </a:rPr>
              <a:t>전적과 보상 지급 기록</a:t>
            </a:r>
          </a:p>
        </p:txBody>
      </p:sp>
      <p:sp>
        <p:nvSpPr>
          <p:cNvPr id="13" name="Oval 12"/>
          <p:cNvSpPr/>
          <p:nvPr/>
        </p:nvSpPr>
        <p:spPr>
          <a:xfrm>
            <a:off x="548640" y="4764024"/>
            <a:ext cx="384048" cy="384048"/>
          </a:xfrm>
          <a:prstGeom prst="ellipse">
            <a:avLst/>
          </a:prstGeom>
          <a:solidFill>
            <a:srgbClr val="E2E8F0"/>
          </a:solidFill>
          <a:ln>
            <a:noFill/>
          </a:ln>
        </p:spPr>
        <p:txBody>
          <a:bodyPr rtlCol="0" anchor="ctr" wrap="square" lIns="0" rIns="0" tIns="36576" bIns="36576"/>
          <a:lstStyle/>
          <a:p>
            <a:pPr algn="ctr">
              <a:spcAft>
                <a:spcPts val="0"/>
              </a:spcAft>
            </a:pPr>
            <a:r>
              <a:rPr sz="1300" b="1">
                <a:solidFill>
                  <a:srgbClr val="475569"/>
                </a:solidFill>
                <a:latin typeface="맑은 고딕"/>
                <a:ea typeface="맑은 고딕"/>
                <a:cs typeface="맑은 고딕"/>
              </a:rPr>
              <a:t>✓</a:t>
            </a:r>
          </a:p>
        </p:txBody>
      </p:sp>
      <p:sp>
        <p:nvSpPr>
          <p:cNvPr id="14" name="TextBox 13"/>
          <p:cNvSpPr txBox="1"/>
          <p:nvPr/>
        </p:nvSpPr>
        <p:spPr>
          <a:xfrm>
            <a:off x="1097280" y="4727448"/>
            <a:ext cx="4389120" cy="457200"/>
          </a:xfrm>
          <a:prstGeom prst="rect">
            <a:avLst/>
          </a:prstGeom>
          <a:noFill/>
        </p:spPr>
        <p:txBody>
          <a:bodyPr wrap="square" lIns="36576" rIns="36576" tIns="18288" bIns="18288" anchor="ctr">
            <a:spAutoFit/>
          </a:bodyPr>
          <a:lstStyle/>
          <a:p>
            <a:pPr algn="l">
              <a:spcAft>
                <a:spcPts val="0"/>
              </a:spcAft>
            </a:pPr>
            <a:r>
              <a:rPr sz="1800" b="1">
                <a:solidFill>
                  <a:srgbClr val="C2410C"/>
                </a:solidFill>
                <a:latin typeface="맑은 고딕"/>
                <a:ea typeface="맑은 고딕"/>
                <a:cs typeface="맑은 고딕"/>
              </a:rPr>
              <a:t>검증된 경기 결과</a:t>
            </a:r>
          </a:p>
        </p:txBody>
      </p:sp>
      <p:sp>
        <p:nvSpPr>
          <p:cNvPr id="15" name="TextBox 14"/>
          <p:cNvSpPr txBox="1"/>
          <p:nvPr/>
        </p:nvSpPr>
        <p:spPr>
          <a:xfrm>
            <a:off x="5989320" y="1554480"/>
            <a:ext cx="5669280" cy="36576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보상 · 전적은 이렇게 저장한다</a:t>
            </a:r>
          </a:p>
        </p:txBody>
      </p:sp>
      <p:sp>
        <p:nvSpPr>
          <p:cNvPr id="16" name="Rounded Rectangle 15"/>
          <p:cNvSpPr/>
          <p:nvPr/>
        </p:nvSpPr>
        <p:spPr>
          <a:xfrm>
            <a:off x="5989320" y="2240280"/>
            <a:ext cx="1600200" cy="914400"/>
          </a:xfrm>
          <a:prstGeom prst="roundRect">
            <a:avLst>
              <a:gd name="adj" fmla="val 12000"/>
            </a:avLst>
          </a:prstGeom>
          <a:solidFill>
            <a:srgbClr val="DBEAFE"/>
          </a:solidFill>
          <a:ln w="12700">
            <a:solidFill>
              <a:srgbClr val="2563EB"/>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클라이언트</a:t>
            </a:r>
          </a:p>
        </p:txBody>
      </p:sp>
      <p:sp>
        <p:nvSpPr>
          <p:cNvPr id="17" name="Rounded Rectangle 16"/>
          <p:cNvSpPr/>
          <p:nvPr/>
        </p:nvSpPr>
        <p:spPr>
          <a:xfrm>
            <a:off x="8001000" y="2240280"/>
            <a:ext cx="1691640" cy="914400"/>
          </a:xfrm>
          <a:prstGeom prst="roundRect">
            <a:avLst>
              <a:gd name="adj" fmla="val 12000"/>
            </a:avLst>
          </a:prstGeom>
          <a:solidFill>
            <a:srgbClr val="CCFBF1"/>
          </a:solidFill>
          <a:ln w="12700">
            <a:solidFill>
              <a:srgbClr val="0F766E"/>
            </a:solidFill>
          </a:ln>
        </p:spPr>
        <p:txBody>
          <a:bodyPr rtlCol="0" anchor="ctr" wrap="square" tIns="36576" bIns="36576"/>
          <a:lstStyle/>
          <a:p>
            <a:pPr algn="ctr">
              <a:spcAft>
                <a:spcPts val="0"/>
              </a:spcAft>
            </a:pPr>
            <a:r>
              <a:rPr sz="1500" b="1">
                <a:solidFill>
                  <a:srgbClr val="1F2937"/>
                </a:solidFill>
                <a:latin typeface="맑은 고딕"/>
                <a:ea typeface="맑은 고딕"/>
                <a:cs typeface="맑은 고딕"/>
              </a:rPr>
              <a:t>서버 측 검증</a:t>
            </a:r>
          </a:p>
          <a:p>
            <a:pPr algn="ctr">
              <a:spcAft>
                <a:spcPts val="0"/>
              </a:spcAft>
            </a:pPr>
            <a:r>
              <a:rPr sz="1100" b="0">
                <a:solidFill>
                  <a:srgbClr val="6B7280"/>
                </a:solidFill>
                <a:latin typeface="맑은 고딕"/>
                <a:ea typeface="맑은 고딕"/>
                <a:cs typeface="맑은 고딕"/>
              </a:rPr>
              <a:t>Cloud Functions 등</a:t>
            </a:r>
          </a:p>
        </p:txBody>
      </p:sp>
      <p:sp>
        <p:nvSpPr>
          <p:cNvPr id="18" name="Can 17"/>
          <p:cNvSpPr/>
          <p:nvPr/>
        </p:nvSpPr>
        <p:spPr>
          <a:xfrm>
            <a:off x="10104120" y="2148840"/>
            <a:ext cx="1508760" cy="1097280"/>
          </a:xfrm>
          <a:prstGeom prst="can">
            <a:avLst/>
          </a:prstGeom>
          <a:solidFill>
            <a:srgbClr val="E2E8F0"/>
          </a:solidFill>
          <a:ln w="12700">
            <a:solidFill>
              <a:srgbClr val="475569"/>
            </a:solidFill>
          </a:ln>
        </p:spPr>
        <p:txBody>
          <a:bodyPr rtlCol="0" anchor="ctr" wrap="square" tIns="36576" bIns="36576"/>
          <a:lstStyle/>
          <a:p>
            <a:pPr algn="ctr">
              <a:spcAft>
                <a:spcPts val="0"/>
              </a:spcAft>
            </a:pPr>
            <a:r>
              <a:rPr sz="1400" b="1">
                <a:solidFill>
                  <a:srgbClr val="1F2937"/>
                </a:solidFill>
                <a:latin typeface="맑은 고딕"/>
                <a:ea typeface="맑은 고딕"/>
                <a:cs typeface="맑은 고딕"/>
              </a:rPr>
              <a:t>Firebase</a:t>
            </a:r>
          </a:p>
        </p:txBody>
      </p:sp>
      <p:cxnSp>
        <p:nvCxnSpPr>
          <p:cNvPr id="19" name="Connector 18"/>
          <p:cNvCxnSpPr/>
          <p:nvPr/>
        </p:nvCxnSpPr>
        <p:spPr>
          <a:xfrm>
            <a:off x="7607808" y="2697480"/>
            <a:ext cx="365760" cy="0"/>
          </a:xfrm>
          <a:prstGeom prst="line">
            <a:avLst/>
          </a:prstGeom>
          <a:ln w="22225">
            <a:solidFill>
              <a:srgbClr val="0F766E"/>
            </a:solidFill>
            <a:round/>
            <a:tailEnd type="triangle" w="med" len="med"/>
          </a:ln>
        </p:spPr>
      </p:cxnSp>
      <p:sp>
        <p:nvSpPr>
          <p:cNvPr id="20" name="TextBox 19"/>
          <p:cNvSpPr txBox="1"/>
          <p:nvPr/>
        </p:nvSpPr>
        <p:spPr>
          <a:xfrm>
            <a:off x="7269480" y="1938528"/>
            <a:ext cx="1097280" cy="274320"/>
          </a:xfrm>
          <a:prstGeom prst="rect">
            <a:avLst/>
          </a:prstGeom>
          <a:noFill/>
        </p:spPr>
        <p:txBody>
          <a:bodyPr wrap="square" lIns="36576" rIns="36576" tIns="18288" bIns="18288" anchor="t">
            <a:spAutoFit/>
          </a:bodyPr>
          <a:lstStyle/>
          <a:p>
            <a:pPr algn="ctr">
              <a:spcAft>
                <a:spcPts val="0"/>
              </a:spcAft>
            </a:pPr>
            <a:r>
              <a:rPr sz="1100" b="1">
                <a:solidFill>
                  <a:srgbClr val="0F766E"/>
                </a:solidFill>
                <a:latin typeface="맑은 고딕"/>
                <a:ea typeface="맑은 고딕"/>
                <a:cs typeface="맑은 고딕"/>
              </a:rPr>
              <a:t>결과 제출</a:t>
            </a:r>
          </a:p>
        </p:txBody>
      </p:sp>
      <p:cxnSp>
        <p:nvCxnSpPr>
          <p:cNvPr id="21" name="Connector 20"/>
          <p:cNvCxnSpPr/>
          <p:nvPr/>
        </p:nvCxnSpPr>
        <p:spPr>
          <a:xfrm>
            <a:off x="9710928" y="2697480"/>
            <a:ext cx="365760" cy="0"/>
          </a:xfrm>
          <a:prstGeom prst="line">
            <a:avLst/>
          </a:prstGeom>
          <a:ln w="22225">
            <a:solidFill>
              <a:srgbClr val="0F766E"/>
            </a:solidFill>
            <a:round/>
            <a:tailEnd type="triangle" w="med" len="med"/>
          </a:ln>
        </p:spPr>
      </p:cxnSp>
      <p:sp>
        <p:nvSpPr>
          <p:cNvPr id="22" name="TextBox 21"/>
          <p:cNvSpPr txBox="1"/>
          <p:nvPr/>
        </p:nvSpPr>
        <p:spPr>
          <a:xfrm>
            <a:off x="9326880" y="1938528"/>
            <a:ext cx="1143000" cy="274320"/>
          </a:xfrm>
          <a:prstGeom prst="rect">
            <a:avLst/>
          </a:prstGeom>
          <a:noFill/>
        </p:spPr>
        <p:txBody>
          <a:bodyPr wrap="square" lIns="36576" rIns="36576" tIns="18288" bIns="18288" anchor="t">
            <a:spAutoFit/>
          </a:bodyPr>
          <a:lstStyle/>
          <a:p>
            <a:pPr algn="ctr">
              <a:spcAft>
                <a:spcPts val="0"/>
              </a:spcAft>
            </a:pPr>
            <a:r>
              <a:rPr sz="1100" b="1">
                <a:solidFill>
                  <a:srgbClr val="0F766E"/>
                </a:solidFill>
                <a:latin typeface="맑은 고딕"/>
                <a:ea typeface="맑은 고딕"/>
                <a:cs typeface="맑은 고딕"/>
              </a:rPr>
              <a:t>검증된 값만</a:t>
            </a:r>
          </a:p>
        </p:txBody>
      </p:sp>
      <p:sp>
        <p:nvSpPr>
          <p:cNvPr id="23" name="Freeform 22"/>
          <p:cNvSpPr/>
          <p:nvPr/>
        </p:nvSpPr>
        <p:spPr>
          <a:xfrm>
            <a:off x="6784848" y="3172968"/>
            <a:ext cx="4069080" cy="438912"/>
          </a:xfrm>
          <a:custGeom>
            <a:avLst/>
            <a:gdLst/>
            <a:ahLst/>
            <a:cxnLst/>
            <a:rect l="l" t="t" r="r" b="b"/>
            <a:pathLst>
              <a:path w="4069080" h="438912">
                <a:moveTo>
                  <a:pt x="0" y="0"/>
                </a:moveTo>
                <a:lnTo>
                  <a:pt x="0" y="438912"/>
                </a:lnTo>
                <a:lnTo>
                  <a:pt x="4069080" y="438912"/>
                </a:lnTo>
                <a:lnTo>
                  <a:pt x="4069080" y="91440"/>
                </a:lnTo>
              </a:path>
            </a:pathLst>
          </a:custGeom>
          <a:noFill/>
          <a:ln w="22225">
            <a:solidFill>
              <a:srgbClr val="DC2626"/>
            </a:solidFill>
            <a:prstDash val="dash"/>
            <a:round/>
            <a:tailEnd type="triangle" w="med" len="med"/>
          </a:ln>
        </p:spPr>
        <p:txBody>
          <a:bodyPr rtlCol="0" anchor="ctr"/>
          <a:lstStyle/>
          <a:p>
            <a:pPr algn="ctr"/>
          </a:p>
        </p:txBody>
      </p:sp>
      <p:sp>
        <p:nvSpPr>
          <p:cNvPr id="24" name="TextBox 23"/>
          <p:cNvSpPr txBox="1"/>
          <p:nvPr/>
        </p:nvSpPr>
        <p:spPr>
          <a:xfrm>
            <a:off x="6949440" y="3657600"/>
            <a:ext cx="3840480" cy="320040"/>
          </a:xfrm>
          <a:prstGeom prst="rect">
            <a:avLst/>
          </a:prstGeom>
          <a:noFill/>
        </p:spPr>
        <p:txBody>
          <a:bodyPr wrap="square" lIns="36576" rIns="36576" tIns="18288" bIns="18288" anchor="t">
            <a:spAutoFit/>
          </a:bodyPr>
          <a:lstStyle/>
          <a:p>
            <a:pPr algn="ctr">
              <a:spcAft>
                <a:spcPts val="0"/>
              </a:spcAft>
            </a:pPr>
            <a:r>
              <a:rPr sz="1200" b="1">
                <a:solidFill>
                  <a:srgbClr val="DC2626"/>
                </a:solidFill>
                <a:latin typeface="맑은 고딕"/>
                <a:ea typeface="맑은 고딕"/>
                <a:cs typeface="맑은 고딕"/>
              </a:rPr>
              <a:t>✕ 클라이언트가 보상 값을 직접 쓰기</a:t>
            </a:r>
          </a:p>
        </p:txBody>
      </p:sp>
      <p:sp>
        <p:nvSpPr>
          <p:cNvPr id="25" name="Rounded Rectangle 24"/>
          <p:cNvSpPr/>
          <p:nvPr/>
        </p:nvSpPr>
        <p:spPr>
          <a:xfrm>
            <a:off x="5989320" y="4251960"/>
            <a:ext cx="2761488" cy="182880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26" name="TextBox 25"/>
          <p:cNvSpPr txBox="1"/>
          <p:nvPr/>
        </p:nvSpPr>
        <p:spPr>
          <a:xfrm>
            <a:off x="6172200" y="4389120"/>
            <a:ext cx="2423160" cy="365760"/>
          </a:xfrm>
          <a:prstGeom prst="rect">
            <a:avLst/>
          </a:prstGeom>
          <a:noFill/>
        </p:spPr>
        <p:txBody>
          <a:bodyPr wrap="square" lIns="36576" rIns="36576" tIns="18288" bIns="18288" anchor="t">
            <a:spAutoFit/>
          </a:bodyPr>
          <a:lstStyle/>
          <a:p>
            <a:pPr algn="l">
              <a:spcAft>
                <a:spcPts val="0"/>
              </a:spcAft>
            </a:pPr>
            <a:r>
              <a:rPr sz="1700" b="1">
                <a:solidFill>
                  <a:srgbClr val="2563EB"/>
                </a:solidFill>
                <a:latin typeface="맑은 고딕"/>
                <a:ea typeface="맑은 고딕"/>
                <a:cs typeface="맑은 고딕"/>
              </a:rPr>
              <a:t>권한 규칙</a:t>
            </a:r>
          </a:p>
        </p:txBody>
      </p:sp>
      <p:sp>
        <p:nvSpPr>
          <p:cNvPr id="27" name="TextBox 26"/>
          <p:cNvSpPr txBox="1"/>
          <p:nvPr/>
        </p:nvSpPr>
        <p:spPr>
          <a:xfrm>
            <a:off x="6172200" y="4846320"/>
            <a:ext cx="2423160" cy="11887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보상 · 전적 필드는 클라이언트가 직접 못 쓰게 보안 규칙으로 막는다</a:t>
            </a:r>
          </a:p>
        </p:txBody>
      </p:sp>
      <p:sp>
        <p:nvSpPr>
          <p:cNvPr id="28" name="Rounded Rectangle 27"/>
          <p:cNvSpPr/>
          <p:nvPr/>
        </p:nvSpPr>
        <p:spPr>
          <a:xfrm>
            <a:off x="8851392" y="4251960"/>
            <a:ext cx="2761488" cy="1828800"/>
          </a:xfrm>
          <a:prstGeom prst="roundRect">
            <a:avLst>
              <a:gd name="adj" fmla="val 6000"/>
            </a:avLst>
          </a:prstGeom>
          <a:solidFill>
            <a:srgbClr val="F8FAFC"/>
          </a:solidFill>
          <a:ln w="12700">
            <a:solidFill>
              <a:srgbClr val="E5E7EB"/>
            </a:solidFill>
          </a:ln>
        </p:spPr>
        <p:txBody>
          <a:bodyPr rtlCol="0" anchor="ctr" wrap="square" tIns="36576" bIns="36576"/>
          <a:lstStyle/>
          <a:p>
            <a:pPr algn="ctr"/>
          </a:p>
        </p:txBody>
      </p:sp>
      <p:sp>
        <p:nvSpPr>
          <p:cNvPr id="29" name="TextBox 28"/>
          <p:cNvSpPr txBox="1"/>
          <p:nvPr/>
        </p:nvSpPr>
        <p:spPr>
          <a:xfrm>
            <a:off x="9034272" y="4389120"/>
            <a:ext cx="2423160" cy="365760"/>
          </a:xfrm>
          <a:prstGeom prst="rect">
            <a:avLst/>
          </a:prstGeom>
          <a:noFill/>
        </p:spPr>
        <p:txBody>
          <a:bodyPr wrap="square" lIns="36576" rIns="36576" tIns="18288" bIns="18288" anchor="t">
            <a:spAutoFit/>
          </a:bodyPr>
          <a:lstStyle/>
          <a:p>
            <a:pPr algn="l">
              <a:spcAft>
                <a:spcPts val="0"/>
              </a:spcAft>
            </a:pPr>
            <a:r>
              <a:rPr sz="1700" b="1">
                <a:solidFill>
                  <a:srgbClr val="2563EB"/>
                </a:solidFill>
                <a:latin typeface="맑은 고딕"/>
                <a:ea typeface="맑은 고딕"/>
                <a:cs typeface="맑은 고딕"/>
              </a:rPr>
              <a:t>중복 처리 기준</a:t>
            </a:r>
          </a:p>
        </p:txBody>
      </p:sp>
      <p:sp>
        <p:nvSpPr>
          <p:cNvPr id="30" name="TextBox 29"/>
          <p:cNvSpPr txBox="1"/>
          <p:nvPr/>
        </p:nvSpPr>
        <p:spPr>
          <a:xfrm>
            <a:off x="9034272" y="4846320"/>
            <a:ext cx="2423160" cy="1188720"/>
          </a:xfrm>
          <a:prstGeom prst="rect">
            <a:avLst/>
          </a:prstGeom>
          <a:noFill/>
        </p:spPr>
        <p:txBody>
          <a:bodyPr wrap="square" lIns="36576" rIns="36576" tIns="18288" bIns="18288" anchor="t">
            <a:spAutoFit/>
          </a:bodyPr>
          <a:lstStyle/>
          <a:p>
            <a:pPr algn="l">
              <a:spcAft>
                <a:spcPts val="0"/>
              </a:spcAft>
            </a:pPr>
            <a:r>
              <a:rPr sz="1400" b="0">
                <a:solidFill>
                  <a:srgbClr val="1F2937"/>
                </a:solidFill>
                <a:latin typeface="맑은 고딕"/>
                <a:ea typeface="맑은 고딕"/>
                <a:cs typeface="맑은 고딕"/>
              </a:rPr>
              <a:t>같은 경기 ID의 결과는 한 번만 반영한다</a:t>
            </a:r>
          </a:p>
        </p:txBody>
      </p:sp>
      <p:sp>
        <p:nvSpPr>
          <p:cNvPr id="31" name="Rounded Rectangle 30"/>
          <p:cNvSpPr/>
          <p:nvPr/>
        </p:nvSpPr>
        <p:spPr>
          <a:xfrm>
            <a:off x="548640" y="5486400"/>
            <a:ext cx="5120640" cy="594360"/>
          </a:xfrm>
          <a:prstGeom prst="roundRect">
            <a:avLst>
              <a:gd name="adj" fmla="val 12000"/>
            </a:avLst>
          </a:prstGeom>
          <a:solidFill>
            <a:srgbClr val="FFF7ED"/>
          </a:solidFill>
          <a:ln>
            <a:noFill/>
          </a:ln>
        </p:spPr>
        <p:txBody>
          <a:bodyPr rtlCol="0" anchor="ctr" wrap="square" tIns="36576" bIns="36576"/>
          <a:lstStyle/>
          <a:p>
            <a:pPr algn="ctr">
              <a:spcAft>
                <a:spcPts val="0"/>
              </a:spcAft>
            </a:pPr>
            <a:r>
              <a:rPr sz="1400" b="1">
                <a:solidFill>
                  <a:srgbClr val="C2410C"/>
                </a:solidFill>
                <a:latin typeface="맑은 고딕"/>
                <a:ea typeface="맑은 고딕"/>
                <a:cs typeface="맑은 고딕"/>
              </a:rPr>
              <a:t>편리함 = 위험: 클라이언트가 DB에 직접 쓸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4 · 데이터 · 매칭 · 실시간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기본 매칭 상태도</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15 / 22</a:t>
            </a:r>
          </a:p>
        </p:txBody>
      </p:sp>
      <p:sp>
        <p:nvSpPr>
          <p:cNvPr id="6" name="Rounded Rectangle 5"/>
          <p:cNvSpPr/>
          <p:nvPr/>
        </p:nvSpPr>
        <p:spPr>
          <a:xfrm>
            <a:off x="10287000" y="365760"/>
            <a:ext cx="1353312" cy="329184"/>
          </a:xfrm>
          <a:prstGeom prst="roundRect">
            <a:avLst>
              <a:gd name="adj" fmla="val 50000"/>
            </a:avLst>
          </a:prstGeom>
          <a:solidFill>
            <a:srgbClr val="FFF7ED"/>
          </a:solidFill>
          <a:ln w="9525">
            <a:solidFill>
              <a:srgbClr val="C2410C"/>
            </a:solidFill>
          </a:ln>
        </p:spPr>
        <p:txBody>
          <a:bodyPr rtlCol="0" anchor="ctr" wrap="square" tIns="36576" bIns="36576"/>
          <a:lstStyle/>
          <a:p>
            <a:pPr algn="ctr">
              <a:spcAft>
                <a:spcPts val="0"/>
              </a:spcAft>
            </a:pPr>
            <a:r>
              <a:rPr sz="1100" b="1">
                <a:solidFill>
                  <a:srgbClr val="C2410C"/>
                </a:solidFill>
                <a:latin typeface="맑은 고딕"/>
                <a:ea typeface="맑은 고딕"/>
                <a:cs typeface="맑은 고딕"/>
              </a:rPr>
              <a:t>1분 토론</a:t>
            </a:r>
          </a:p>
        </p:txBody>
      </p:sp>
      <p:sp>
        <p:nvSpPr>
          <p:cNvPr id="7" name="Rounded Rectangle 6"/>
          <p:cNvSpPr/>
          <p:nvPr/>
        </p:nvSpPr>
        <p:spPr>
          <a:xfrm>
            <a:off x="640080" y="2423160"/>
            <a:ext cx="1417320" cy="731520"/>
          </a:xfrm>
          <a:prstGeom prst="roundRect">
            <a:avLst>
              <a:gd name="adj" fmla="val 25000"/>
            </a:avLst>
          </a:prstGeom>
          <a:solidFill>
            <a:srgbClr val="CCFBF1"/>
          </a:solidFill>
          <a:ln w="19050">
            <a:solidFill>
              <a:srgbClr val="0F766E"/>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Lobby</a:t>
            </a:r>
          </a:p>
          <a:p>
            <a:pPr algn="ctr">
              <a:spcAft>
                <a:spcPts val="0"/>
              </a:spcAft>
            </a:pPr>
            <a:r>
              <a:rPr sz="1100" b="0">
                <a:solidFill>
                  <a:srgbClr val="6B7280"/>
                </a:solidFill>
                <a:latin typeface="맑은 고딕"/>
                <a:ea typeface="맑은 고딕"/>
                <a:cs typeface="맑은 고딕"/>
              </a:rPr>
              <a:t>로비</a:t>
            </a:r>
          </a:p>
        </p:txBody>
      </p:sp>
      <p:sp>
        <p:nvSpPr>
          <p:cNvPr id="8" name="Rounded Rectangle 7"/>
          <p:cNvSpPr/>
          <p:nvPr/>
        </p:nvSpPr>
        <p:spPr>
          <a:xfrm>
            <a:off x="2514600" y="2423160"/>
            <a:ext cx="1417320" cy="731520"/>
          </a:xfrm>
          <a:prstGeom prst="roundRect">
            <a:avLst>
              <a:gd name="adj" fmla="val 25000"/>
            </a:avLst>
          </a:prstGeom>
          <a:solidFill>
            <a:srgbClr val="EDE9FE"/>
          </a:solidFill>
          <a:ln w="19050">
            <a:solidFill>
              <a:srgbClr val="6D28D9"/>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Waiting</a:t>
            </a:r>
          </a:p>
          <a:p>
            <a:pPr algn="ctr">
              <a:spcAft>
                <a:spcPts val="0"/>
              </a:spcAft>
            </a:pPr>
            <a:r>
              <a:rPr sz="1100" b="0">
                <a:solidFill>
                  <a:srgbClr val="6B7280"/>
                </a:solidFill>
                <a:latin typeface="맑은 고딕"/>
                <a:ea typeface="맑은 고딕"/>
                <a:cs typeface="맑은 고딕"/>
              </a:rPr>
              <a:t>대기</a:t>
            </a:r>
          </a:p>
        </p:txBody>
      </p:sp>
      <p:sp>
        <p:nvSpPr>
          <p:cNvPr id="9" name="Rounded Rectangle 8"/>
          <p:cNvSpPr/>
          <p:nvPr/>
        </p:nvSpPr>
        <p:spPr>
          <a:xfrm>
            <a:off x="4389120" y="2423160"/>
            <a:ext cx="1417320" cy="731520"/>
          </a:xfrm>
          <a:prstGeom prst="roundRect">
            <a:avLst>
              <a:gd name="adj" fmla="val 25000"/>
            </a:avLst>
          </a:prstGeom>
          <a:solidFill>
            <a:srgbClr val="EDE9FE"/>
          </a:solidFill>
          <a:ln w="19050">
            <a:solidFill>
              <a:srgbClr val="6D28D9"/>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Matched</a:t>
            </a:r>
          </a:p>
          <a:p>
            <a:pPr algn="ctr">
              <a:spcAft>
                <a:spcPts val="0"/>
              </a:spcAft>
            </a:pPr>
            <a:r>
              <a:rPr sz="1100" b="0">
                <a:solidFill>
                  <a:srgbClr val="6B7280"/>
                </a:solidFill>
                <a:latin typeface="맑은 고딕"/>
                <a:ea typeface="맑은 고딕"/>
                <a:cs typeface="맑은 고딕"/>
              </a:rPr>
              <a:t>매칭됨</a:t>
            </a:r>
          </a:p>
        </p:txBody>
      </p:sp>
      <p:sp>
        <p:nvSpPr>
          <p:cNvPr id="10" name="Rounded Rectangle 9"/>
          <p:cNvSpPr/>
          <p:nvPr/>
        </p:nvSpPr>
        <p:spPr>
          <a:xfrm>
            <a:off x="6263640" y="2423160"/>
            <a:ext cx="1417320" cy="731520"/>
          </a:xfrm>
          <a:prstGeom prst="roundRect">
            <a:avLst>
              <a:gd name="adj" fmla="val 25000"/>
            </a:avLst>
          </a:prstGeom>
          <a:solidFill>
            <a:srgbClr val="FFEDD5"/>
          </a:solidFill>
          <a:ln w="19050">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Room</a:t>
            </a:r>
          </a:p>
          <a:p>
            <a:pPr algn="ctr">
              <a:spcAft>
                <a:spcPts val="0"/>
              </a:spcAft>
            </a:pPr>
            <a:r>
              <a:rPr sz="1100" b="0">
                <a:solidFill>
                  <a:srgbClr val="6B7280"/>
                </a:solidFill>
                <a:latin typeface="맑은 고딕"/>
                <a:ea typeface="맑은 고딕"/>
                <a:cs typeface="맑은 고딕"/>
              </a:rPr>
              <a:t>방 입장</a:t>
            </a:r>
          </a:p>
        </p:txBody>
      </p:sp>
      <p:sp>
        <p:nvSpPr>
          <p:cNvPr id="11" name="Rounded Rectangle 10"/>
          <p:cNvSpPr/>
          <p:nvPr/>
        </p:nvSpPr>
        <p:spPr>
          <a:xfrm>
            <a:off x="8138160" y="2423160"/>
            <a:ext cx="1417320" cy="731520"/>
          </a:xfrm>
          <a:prstGeom prst="roundRect">
            <a:avLst>
              <a:gd name="adj" fmla="val 25000"/>
            </a:avLst>
          </a:prstGeom>
          <a:solidFill>
            <a:srgbClr val="FFEDD5"/>
          </a:solidFill>
          <a:ln w="19050">
            <a:solidFill>
              <a:srgbClr val="C2410C"/>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Playing</a:t>
            </a:r>
          </a:p>
          <a:p>
            <a:pPr algn="ctr">
              <a:spcAft>
                <a:spcPts val="0"/>
              </a:spcAft>
            </a:pPr>
            <a:r>
              <a:rPr sz="1100" b="0">
                <a:solidFill>
                  <a:srgbClr val="6B7280"/>
                </a:solidFill>
                <a:latin typeface="맑은 고딕"/>
                <a:ea typeface="맑은 고딕"/>
                <a:cs typeface="맑은 고딕"/>
              </a:rPr>
              <a:t>경기 중</a:t>
            </a:r>
          </a:p>
        </p:txBody>
      </p:sp>
      <p:sp>
        <p:nvSpPr>
          <p:cNvPr id="12" name="Rounded Rectangle 11"/>
          <p:cNvSpPr/>
          <p:nvPr/>
        </p:nvSpPr>
        <p:spPr>
          <a:xfrm>
            <a:off x="10012680" y="2423160"/>
            <a:ext cx="1417320" cy="731520"/>
          </a:xfrm>
          <a:prstGeom prst="roundRect">
            <a:avLst>
              <a:gd name="adj" fmla="val 25000"/>
            </a:avLst>
          </a:prstGeom>
          <a:solidFill>
            <a:srgbClr val="CCFBF1"/>
          </a:solidFill>
          <a:ln w="19050">
            <a:solidFill>
              <a:srgbClr val="0F766E"/>
            </a:solidFill>
          </a:ln>
        </p:spPr>
        <p:txBody>
          <a:bodyPr rtlCol="0" anchor="ctr" wrap="square" tIns="36576" bIns="36576"/>
          <a:lstStyle/>
          <a:p>
            <a:pPr algn="ctr">
              <a:spcAft>
                <a:spcPts val="0"/>
              </a:spcAft>
            </a:pPr>
            <a:r>
              <a:rPr sz="1600" b="1">
                <a:solidFill>
                  <a:srgbClr val="1F2937"/>
                </a:solidFill>
                <a:latin typeface="맑은 고딕"/>
                <a:ea typeface="맑은 고딕"/>
                <a:cs typeface="맑은 고딕"/>
              </a:rPr>
              <a:t>Result</a:t>
            </a:r>
          </a:p>
          <a:p>
            <a:pPr algn="ctr">
              <a:spcAft>
                <a:spcPts val="0"/>
              </a:spcAft>
            </a:pPr>
            <a:r>
              <a:rPr sz="1100" b="0">
                <a:solidFill>
                  <a:srgbClr val="6B7280"/>
                </a:solidFill>
                <a:latin typeface="맑은 고딕"/>
                <a:ea typeface="맑은 고딕"/>
                <a:cs typeface="맑은 고딕"/>
              </a:rPr>
              <a:t>결과</a:t>
            </a:r>
          </a:p>
        </p:txBody>
      </p:sp>
      <p:cxnSp>
        <p:nvCxnSpPr>
          <p:cNvPr id="13" name="Connector 12"/>
          <p:cNvCxnSpPr/>
          <p:nvPr/>
        </p:nvCxnSpPr>
        <p:spPr>
          <a:xfrm>
            <a:off x="2084831" y="2788920"/>
            <a:ext cx="402337" cy="0"/>
          </a:xfrm>
          <a:prstGeom prst="line">
            <a:avLst/>
          </a:prstGeom>
          <a:ln w="19050">
            <a:solidFill>
              <a:srgbClr val="1F2937"/>
            </a:solidFill>
            <a:round/>
            <a:tailEnd type="triangle" w="med" len="med"/>
          </a:ln>
        </p:spPr>
      </p:cxnSp>
      <p:sp>
        <p:nvSpPr>
          <p:cNvPr id="14" name="TextBox 13"/>
          <p:cNvSpPr txBox="1"/>
          <p:nvPr/>
        </p:nvSpPr>
        <p:spPr>
          <a:xfrm>
            <a:off x="1554480" y="2039112"/>
            <a:ext cx="1463040" cy="320040"/>
          </a:xfrm>
          <a:prstGeom prst="rect">
            <a:avLst/>
          </a:prstGeom>
          <a:noFill/>
        </p:spPr>
        <p:txBody>
          <a:bodyPr wrap="square" lIns="36576" rIns="36576" tIns="18288" bIns="18288" anchor="t">
            <a:spAutoFit/>
          </a:bodyPr>
          <a:lstStyle/>
          <a:p>
            <a:pPr algn="ctr">
              <a:spcAft>
                <a:spcPts val="0"/>
              </a:spcAft>
            </a:pPr>
            <a:r>
              <a:rPr sz="1100" b="1">
                <a:solidFill>
                  <a:srgbClr val="1F2937"/>
                </a:solidFill>
                <a:latin typeface="맑은 고딕"/>
                <a:ea typeface="맑은 고딕"/>
                <a:cs typeface="맑은 고딕"/>
              </a:rPr>
              <a:t>매칭 신청</a:t>
            </a:r>
          </a:p>
        </p:txBody>
      </p:sp>
      <p:cxnSp>
        <p:nvCxnSpPr>
          <p:cNvPr id="15" name="Connector 14"/>
          <p:cNvCxnSpPr/>
          <p:nvPr/>
        </p:nvCxnSpPr>
        <p:spPr>
          <a:xfrm>
            <a:off x="3959352" y="2788920"/>
            <a:ext cx="402336" cy="0"/>
          </a:xfrm>
          <a:prstGeom prst="line">
            <a:avLst/>
          </a:prstGeom>
          <a:ln w="19050">
            <a:solidFill>
              <a:srgbClr val="1F2937"/>
            </a:solidFill>
            <a:round/>
            <a:tailEnd type="triangle" w="med" len="med"/>
          </a:ln>
        </p:spPr>
      </p:cxnSp>
      <p:sp>
        <p:nvSpPr>
          <p:cNvPr id="16" name="TextBox 15"/>
          <p:cNvSpPr txBox="1"/>
          <p:nvPr/>
        </p:nvSpPr>
        <p:spPr>
          <a:xfrm>
            <a:off x="3429000" y="2039112"/>
            <a:ext cx="1463040" cy="320040"/>
          </a:xfrm>
          <a:prstGeom prst="rect">
            <a:avLst/>
          </a:prstGeom>
          <a:noFill/>
        </p:spPr>
        <p:txBody>
          <a:bodyPr wrap="square" lIns="36576" rIns="36576" tIns="18288" bIns="18288" anchor="t">
            <a:spAutoFit/>
          </a:bodyPr>
          <a:lstStyle/>
          <a:p>
            <a:pPr algn="ctr">
              <a:spcAft>
                <a:spcPts val="0"/>
              </a:spcAft>
            </a:pPr>
            <a:r>
              <a:rPr sz="1100" b="1">
                <a:solidFill>
                  <a:srgbClr val="1F2937"/>
                </a:solidFill>
                <a:latin typeface="맑은 고딕"/>
                <a:ea typeface="맑은 고딕"/>
                <a:cs typeface="맑은 고딕"/>
              </a:rPr>
              <a:t>상대 탐색 성공</a:t>
            </a:r>
          </a:p>
        </p:txBody>
      </p:sp>
      <p:cxnSp>
        <p:nvCxnSpPr>
          <p:cNvPr id="17" name="Connector 16"/>
          <p:cNvCxnSpPr/>
          <p:nvPr/>
        </p:nvCxnSpPr>
        <p:spPr>
          <a:xfrm>
            <a:off x="5833872" y="2788920"/>
            <a:ext cx="402335" cy="0"/>
          </a:xfrm>
          <a:prstGeom prst="line">
            <a:avLst/>
          </a:prstGeom>
          <a:ln w="19050">
            <a:solidFill>
              <a:srgbClr val="1F2937"/>
            </a:solidFill>
            <a:round/>
            <a:tailEnd type="triangle" w="med" len="med"/>
          </a:ln>
        </p:spPr>
      </p:cxnSp>
      <p:sp>
        <p:nvSpPr>
          <p:cNvPr id="18" name="TextBox 17"/>
          <p:cNvSpPr txBox="1"/>
          <p:nvPr/>
        </p:nvSpPr>
        <p:spPr>
          <a:xfrm>
            <a:off x="5303520" y="2039112"/>
            <a:ext cx="1463040" cy="320040"/>
          </a:xfrm>
          <a:prstGeom prst="rect">
            <a:avLst/>
          </a:prstGeom>
          <a:noFill/>
        </p:spPr>
        <p:txBody>
          <a:bodyPr wrap="square" lIns="36576" rIns="36576" tIns="18288" bIns="18288" anchor="t">
            <a:spAutoFit/>
          </a:bodyPr>
          <a:lstStyle/>
          <a:p>
            <a:pPr algn="ctr">
              <a:spcAft>
                <a:spcPts val="0"/>
              </a:spcAft>
            </a:pPr>
            <a:r>
              <a:rPr sz="1100" b="1">
                <a:solidFill>
                  <a:srgbClr val="1F2937"/>
                </a:solidFill>
                <a:latin typeface="맑은 고딕"/>
                <a:ea typeface="맑은 고딕"/>
                <a:cs typeface="맑은 고딕"/>
              </a:rPr>
              <a:t>방 입장</a:t>
            </a:r>
          </a:p>
        </p:txBody>
      </p:sp>
      <p:cxnSp>
        <p:nvCxnSpPr>
          <p:cNvPr id="19" name="Connector 18"/>
          <p:cNvCxnSpPr/>
          <p:nvPr/>
        </p:nvCxnSpPr>
        <p:spPr>
          <a:xfrm>
            <a:off x="7708392" y="2788920"/>
            <a:ext cx="402336" cy="0"/>
          </a:xfrm>
          <a:prstGeom prst="line">
            <a:avLst/>
          </a:prstGeom>
          <a:ln w="19050">
            <a:solidFill>
              <a:srgbClr val="1F2937"/>
            </a:solidFill>
            <a:round/>
            <a:tailEnd type="triangle" w="med" len="med"/>
          </a:ln>
        </p:spPr>
      </p:cxnSp>
      <p:sp>
        <p:nvSpPr>
          <p:cNvPr id="20" name="TextBox 19"/>
          <p:cNvSpPr txBox="1"/>
          <p:nvPr/>
        </p:nvSpPr>
        <p:spPr>
          <a:xfrm>
            <a:off x="7178040" y="2039112"/>
            <a:ext cx="1463040" cy="320040"/>
          </a:xfrm>
          <a:prstGeom prst="rect">
            <a:avLst/>
          </a:prstGeom>
          <a:noFill/>
        </p:spPr>
        <p:txBody>
          <a:bodyPr wrap="square" lIns="36576" rIns="36576" tIns="18288" bIns="18288" anchor="t">
            <a:spAutoFit/>
          </a:bodyPr>
          <a:lstStyle/>
          <a:p>
            <a:pPr algn="ctr">
              <a:spcAft>
                <a:spcPts val="0"/>
              </a:spcAft>
            </a:pPr>
            <a:r>
              <a:rPr sz="1100" b="1">
                <a:solidFill>
                  <a:srgbClr val="1F2937"/>
                </a:solidFill>
                <a:latin typeface="맑은 고딕"/>
                <a:ea typeface="맑은 고딕"/>
                <a:cs typeface="맑은 고딕"/>
              </a:rPr>
              <a:t>모두 준비</a:t>
            </a:r>
          </a:p>
        </p:txBody>
      </p:sp>
      <p:cxnSp>
        <p:nvCxnSpPr>
          <p:cNvPr id="21" name="Connector 20"/>
          <p:cNvCxnSpPr/>
          <p:nvPr/>
        </p:nvCxnSpPr>
        <p:spPr>
          <a:xfrm>
            <a:off x="9582912" y="2788920"/>
            <a:ext cx="402336" cy="0"/>
          </a:xfrm>
          <a:prstGeom prst="line">
            <a:avLst/>
          </a:prstGeom>
          <a:ln w="19050">
            <a:solidFill>
              <a:srgbClr val="1F2937"/>
            </a:solidFill>
            <a:round/>
            <a:tailEnd type="triangle" w="med" len="med"/>
          </a:ln>
        </p:spPr>
      </p:cxnSp>
      <p:sp>
        <p:nvSpPr>
          <p:cNvPr id="22" name="TextBox 21"/>
          <p:cNvSpPr txBox="1"/>
          <p:nvPr/>
        </p:nvSpPr>
        <p:spPr>
          <a:xfrm>
            <a:off x="9052559" y="2039112"/>
            <a:ext cx="1463040" cy="320040"/>
          </a:xfrm>
          <a:prstGeom prst="rect">
            <a:avLst/>
          </a:prstGeom>
          <a:noFill/>
        </p:spPr>
        <p:txBody>
          <a:bodyPr wrap="square" lIns="36576" rIns="36576" tIns="18288" bIns="18288" anchor="t">
            <a:spAutoFit/>
          </a:bodyPr>
          <a:lstStyle/>
          <a:p>
            <a:pPr algn="ctr">
              <a:spcAft>
                <a:spcPts val="0"/>
              </a:spcAft>
            </a:pPr>
            <a:r>
              <a:rPr sz="1100" b="1">
                <a:solidFill>
                  <a:srgbClr val="1F2937"/>
                </a:solidFill>
                <a:latin typeface="맑은 고딕"/>
                <a:ea typeface="맑은 고딕"/>
                <a:cs typeface="맑은 고딕"/>
              </a:rPr>
              <a:t>경기 종료</a:t>
            </a:r>
          </a:p>
        </p:txBody>
      </p:sp>
      <p:sp>
        <p:nvSpPr>
          <p:cNvPr id="23" name="Freeform 22"/>
          <p:cNvSpPr/>
          <p:nvPr/>
        </p:nvSpPr>
        <p:spPr>
          <a:xfrm>
            <a:off x="1348740" y="1664208"/>
            <a:ext cx="9372600" cy="758952"/>
          </a:xfrm>
          <a:custGeom>
            <a:avLst/>
            <a:gdLst/>
            <a:ahLst/>
            <a:cxnLst/>
            <a:rect l="l" t="t" r="r" b="b"/>
            <a:pathLst>
              <a:path w="9372600" h="758952">
                <a:moveTo>
                  <a:pt x="9372600" y="758952"/>
                </a:moveTo>
                <a:lnTo>
                  <a:pt x="9372600" y="0"/>
                </a:lnTo>
                <a:lnTo>
                  <a:pt x="0" y="0"/>
                </a:lnTo>
                <a:lnTo>
                  <a:pt x="0" y="758952"/>
                </a:lnTo>
              </a:path>
            </a:pathLst>
          </a:custGeom>
          <a:noFill/>
          <a:ln w="19050">
            <a:solidFill>
              <a:srgbClr val="0F766E"/>
            </a:solidFill>
            <a:round/>
            <a:tailEnd type="triangle" w="med" len="med"/>
          </a:ln>
        </p:spPr>
        <p:txBody>
          <a:bodyPr rtlCol="0" anchor="ctr"/>
          <a:lstStyle/>
          <a:p>
            <a:pPr algn="ctr"/>
          </a:p>
        </p:txBody>
      </p:sp>
      <p:sp>
        <p:nvSpPr>
          <p:cNvPr id="24" name="Rounded Rectangle 23"/>
          <p:cNvSpPr/>
          <p:nvPr/>
        </p:nvSpPr>
        <p:spPr>
          <a:xfrm>
            <a:off x="4846320" y="1517904"/>
            <a:ext cx="2377440" cy="292608"/>
          </a:xfrm>
          <a:prstGeom prst="roundRect">
            <a:avLst>
              <a:gd name="adj" fmla="val 12000"/>
            </a:avLst>
          </a:prstGeom>
          <a:solidFill>
            <a:srgbClr val="FFFFFF"/>
          </a:solidFill>
          <a:ln>
            <a:noFill/>
          </a:ln>
        </p:spPr>
        <p:txBody>
          <a:bodyPr rtlCol="0" anchor="ctr" wrap="square" lIns="0" rIns="0" tIns="36576" bIns="36576"/>
          <a:lstStyle/>
          <a:p>
            <a:pPr algn="ctr">
              <a:spcAft>
                <a:spcPts val="0"/>
              </a:spcAft>
            </a:pPr>
            <a:r>
              <a:rPr sz="1100" b="1">
                <a:solidFill>
                  <a:srgbClr val="0F766E"/>
                </a:solidFill>
                <a:latin typeface="맑은 고딕"/>
                <a:ea typeface="맑은 고딕"/>
                <a:cs typeface="맑은 고딕"/>
              </a:rPr>
              <a:t>결과 저장 → 로비</a:t>
            </a:r>
          </a:p>
        </p:txBody>
      </p:sp>
      <p:sp>
        <p:nvSpPr>
          <p:cNvPr id="25" name="Freeform 24"/>
          <p:cNvSpPr/>
          <p:nvPr/>
        </p:nvSpPr>
        <p:spPr>
          <a:xfrm>
            <a:off x="1645920" y="3154680"/>
            <a:ext cx="1577340" cy="384048"/>
          </a:xfrm>
          <a:custGeom>
            <a:avLst/>
            <a:gdLst/>
            <a:ahLst/>
            <a:cxnLst/>
            <a:rect l="l" t="t" r="r" b="b"/>
            <a:pathLst>
              <a:path w="1577340" h="384048">
                <a:moveTo>
                  <a:pt x="1577340" y="0"/>
                </a:moveTo>
                <a:lnTo>
                  <a:pt x="1577340" y="384048"/>
                </a:lnTo>
                <a:lnTo>
                  <a:pt x="0" y="384048"/>
                </a:lnTo>
                <a:lnTo>
                  <a:pt x="0" y="0"/>
                </a:lnTo>
              </a:path>
            </a:pathLst>
          </a:custGeom>
          <a:noFill/>
          <a:ln w="19050">
            <a:solidFill>
              <a:srgbClr val="C2410C"/>
            </a:solidFill>
            <a:round/>
            <a:tailEnd type="triangle" w="med" len="med"/>
          </a:ln>
        </p:spPr>
        <p:txBody>
          <a:bodyPr rtlCol="0" anchor="ctr"/>
          <a:lstStyle/>
          <a:p>
            <a:pPr algn="ctr"/>
          </a:p>
        </p:txBody>
      </p:sp>
      <p:sp>
        <p:nvSpPr>
          <p:cNvPr id="26" name="TextBox 25"/>
          <p:cNvSpPr txBox="1"/>
          <p:nvPr/>
        </p:nvSpPr>
        <p:spPr>
          <a:xfrm>
            <a:off x="1691640" y="3566160"/>
            <a:ext cx="1463040" cy="274320"/>
          </a:xfrm>
          <a:prstGeom prst="rect">
            <a:avLst/>
          </a:prstGeom>
          <a:noFill/>
        </p:spPr>
        <p:txBody>
          <a:bodyPr wrap="square" lIns="36576" rIns="36576" tIns="18288" bIns="18288" anchor="t">
            <a:spAutoFit/>
          </a:bodyPr>
          <a:lstStyle/>
          <a:p>
            <a:pPr algn="ctr">
              <a:spcAft>
                <a:spcPts val="0"/>
              </a:spcAft>
            </a:pPr>
            <a:r>
              <a:rPr sz="1100" b="1">
                <a:solidFill>
                  <a:srgbClr val="C2410C"/>
                </a:solidFill>
                <a:latin typeface="맑은 고딕"/>
                <a:ea typeface="맑은 고딕"/>
                <a:cs typeface="맑은 고딕"/>
              </a:rPr>
              <a:t>취소 · 타임아웃</a:t>
            </a:r>
          </a:p>
        </p:txBody>
      </p:sp>
      <p:sp>
        <p:nvSpPr>
          <p:cNvPr id="27" name="Freeform 26"/>
          <p:cNvSpPr/>
          <p:nvPr/>
        </p:nvSpPr>
        <p:spPr>
          <a:xfrm>
            <a:off x="1005840" y="3154680"/>
            <a:ext cx="4091940" cy="914400"/>
          </a:xfrm>
          <a:custGeom>
            <a:avLst/>
            <a:gdLst/>
            <a:ahLst/>
            <a:cxnLst/>
            <a:rect l="l" t="t" r="r" b="b"/>
            <a:pathLst>
              <a:path w="4091940" h="914400">
                <a:moveTo>
                  <a:pt x="4091940" y="0"/>
                </a:moveTo>
                <a:lnTo>
                  <a:pt x="4091940" y="914400"/>
                </a:lnTo>
                <a:lnTo>
                  <a:pt x="0" y="914400"/>
                </a:lnTo>
                <a:lnTo>
                  <a:pt x="0" y="0"/>
                </a:lnTo>
              </a:path>
            </a:pathLst>
          </a:custGeom>
          <a:noFill/>
          <a:ln w="19050">
            <a:solidFill>
              <a:srgbClr val="C2410C"/>
            </a:solidFill>
            <a:round/>
            <a:tailEnd type="triangle" w="med" len="med"/>
          </a:ln>
        </p:spPr>
        <p:txBody>
          <a:bodyPr rtlCol="0" anchor="ctr"/>
          <a:lstStyle/>
          <a:p>
            <a:pPr algn="ctr"/>
          </a:p>
        </p:txBody>
      </p:sp>
      <p:sp>
        <p:nvSpPr>
          <p:cNvPr id="28" name="TextBox 27"/>
          <p:cNvSpPr txBox="1"/>
          <p:nvPr/>
        </p:nvSpPr>
        <p:spPr>
          <a:xfrm>
            <a:off x="2103120" y="4096512"/>
            <a:ext cx="2377440" cy="274320"/>
          </a:xfrm>
          <a:prstGeom prst="rect">
            <a:avLst/>
          </a:prstGeom>
          <a:noFill/>
        </p:spPr>
        <p:txBody>
          <a:bodyPr wrap="square" lIns="36576" rIns="36576" tIns="18288" bIns="18288" anchor="t">
            <a:spAutoFit/>
          </a:bodyPr>
          <a:lstStyle/>
          <a:p>
            <a:pPr algn="ctr">
              <a:spcAft>
                <a:spcPts val="0"/>
              </a:spcAft>
            </a:pPr>
            <a:r>
              <a:rPr sz="1100" b="1">
                <a:solidFill>
                  <a:srgbClr val="C2410C"/>
                </a:solidFill>
                <a:latin typeface="맑은 고딕"/>
                <a:ea typeface="맑은 고딕"/>
                <a:cs typeface="맑은 고딕"/>
              </a:rPr>
              <a:t>입장 실패 · 상대 이탈</a:t>
            </a:r>
          </a:p>
        </p:txBody>
      </p:sp>
      <p:sp>
        <p:nvSpPr>
          <p:cNvPr id="29" name="TextBox 28"/>
          <p:cNvSpPr txBox="1"/>
          <p:nvPr/>
        </p:nvSpPr>
        <p:spPr>
          <a:xfrm>
            <a:off x="6263640" y="3429000"/>
            <a:ext cx="5212080" cy="731520"/>
          </a:xfrm>
          <a:prstGeom prst="rect">
            <a:avLst/>
          </a:prstGeom>
          <a:noFill/>
        </p:spPr>
        <p:txBody>
          <a:bodyPr wrap="square" lIns="36576" rIns="36576" tIns="18288" bIns="18288" anchor="t">
            <a:spAutoFit/>
          </a:bodyPr>
          <a:lstStyle/>
          <a:p>
            <a:pPr algn="l">
              <a:spcAft>
                <a:spcPts val="0"/>
              </a:spcAft>
            </a:pPr>
            <a:r>
              <a:rPr sz="1400" b="1">
                <a:solidFill>
                  <a:srgbClr val="C2410C"/>
                </a:solidFill>
                <a:latin typeface="맑은 고딕"/>
                <a:ea typeface="맑은 고딕"/>
                <a:cs typeface="맑은 고딕"/>
              </a:rPr>
              <a:t>정상 흐름보다 되돌아가는 화살표에서</a:t>
            </a:r>
          </a:p>
          <a:p>
            <a:pPr algn="l">
              <a:spcAft>
                <a:spcPts val="0"/>
              </a:spcAft>
            </a:pPr>
            <a:r>
              <a:rPr sz="1400" b="1">
                <a:solidFill>
                  <a:srgbClr val="C2410C"/>
                </a:solidFill>
                <a:latin typeface="맑은 고딕"/>
                <a:ea typeface="맑은 고딕"/>
                <a:cs typeface="맑은 고딕"/>
              </a:rPr>
              <a:t>버그가 더 많이 난다</a:t>
            </a:r>
          </a:p>
        </p:txBody>
      </p:sp>
      <p:sp>
        <p:nvSpPr>
          <p:cNvPr id="30" name="Rounded Rectangle 29"/>
          <p:cNvSpPr/>
          <p:nvPr/>
        </p:nvSpPr>
        <p:spPr>
          <a:xfrm>
            <a:off x="548640" y="4572000"/>
            <a:ext cx="3291840" cy="1645920"/>
          </a:xfrm>
          <a:prstGeom prst="roundRect">
            <a:avLst>
              <a:gd name="adj" fmla="val 6000"/>
            </a:avLst>
          </a:prstGeom>
          <a:solidFill>
            <a:srgbClr val="0F172A"/>
          </a:solidFill>
          <a:ln>
            <a:noFill/>
          </a:ln>
        </p:spPr>
        <p:txBody>
          <a:bodyPr rtlCol="0" anchor="ctr" wrap="square" tIns="36576" bIns="36576"/>
          <a:lstStyle/>
          <a:p>
            <a:pPr algn="ctr"/>
          </a:p>
        </p:txBody>
      </p:sp>
      <p:sp>
        <p:nvSpPr>
          <p:cNvPr id="31" name="TextBox 30"/>
          <p:cNvSpPr txBox="1"/>
          <p:nvPr/>
        </p:nvSpPr>
        <p:spPr>
          <a:xfrm>
            <a:off x="777240" y="4663440"/>
            <a:ext cx="2926080" cy="365760"/>
          </a:xfrm>
          <a:prstGeom prst="rect">
            <a:avLst/>
          </a:prstGeom>
          <a:noFill/>
        </p:spPr>
        <p:txBody>
          <a:bodyPr wrap="square" lIns="36576" rIns="36576" tIns="18288" bIns="18288" anchor="t">
            <a:spAutoFit/>
          </a:bodyPr>
          <a:lstStyle/>
          <a:p>
            <a:pPr algn="l">
              <a:spcAft>
                <a:spcPts val="0"/>
              </a:spcAft>
            </a:pPr>
            <a:r>
              <a:rPr sz="1600" b="1">
                <a:solidFill>
                  <a:srgbClr val="FFFFFF"/>
                </a:solidFill>
                <a:latin typeface="맑은 고딕"/>
                <a:ea typeface="맑은 고딕"/>
                <a:cs typeface="맑은 고딕"/>
              </a:rPr>
              <a:t>화살표마다 정한다</a:t>
            </a:r>
          </a:p>
        </p:txBody>
      </p:sp>
      <p:sp>
        <p:nvSpPr>
          <p:cNvPr id="32" name="TextBox 31"/>
          <p:cNvSpPr txBox="1"/>
          <p:nvPr/>
        </p:nvSpPr>
        <p:spPr>
          <a:xfrm>
            <a:off x="777240" y="5074920"/>
            <a:ext cx="2926080" cy="1097280"/>
          </a:xfrm>
          <a:prstGeom prst="rect">
            <a:avLst/>
          </a:prstGeom>
          <a:noFill/>
        </p:spPr>
        <p:txBody>
          <a:bodyPr wrap="square" lIns="36576" rIns="36576" tIns="18288" bIns="18288" anchor="t">
            <a:spAutoFit/>
          </a:bodyPr>
          <a:lstStyle/>
          <a:p>
            <a:pPr algn="l">
              <a:spcAft>
                <a:spcPts val="300"/>
              </a:spcAft>
            </a:pPr>
            <a:r>
              <a:rPr sz="1500" b="0">
                <a:solidFill>
                  <a:srgbClr val="E2E8F0"/>
                </a:solidFill>
                <a:latin typeface="맑은 고딕"/>
                <a:ea typeface="맑은 고딕"/>
                <a:cs typeface="맑은 고딕"/>
              </a:rPr>
              <a:t>①  요청 주체</a:t>
            </a:r>
          </a:p>
          <a:p>
            <a:pPr algn="l">
              <a:spcAft>
                <a:spcPts val="300"/>
              </a:spcAft>
            </a:pPr>
            <a:r>
              <a:rPr sz="1500" b="0">
                <a:solidFill>
                  <a:srgbClr val="E2E8F0"/>
                </a:solidFill>
                <a:latin typeface="맑은 고딕"/>
                <a:ea typeface="맑은 고딕"/>
                <a:cs typeface="맑은 고딕"/>
              </a:rPr>
              <a:t>②  최종 확정 주체</a:t>
            </a:r>
          </a:p>
          <a:p>
            <a:pPr algn="l">
              <a:spcAft>
                <a:spcPts val="300"/>
              </a:spcAft>
            </a:pPr>
            <a:r>
              <a:rPr sz="1500" b="0">
                <a:solidFill>
                  <a:srgbClr val="E2E8F0"/>
                </a:solidFill>
                <a:latin typeface="맑은 고딕"/>
                <a:ea typeface="맑은 고딕"/>
                <a:cs typeface="맑은 고딕"/>
              </a:rPr>
              <a:t>③  실패 메시지</a:t>
            </a:r>
          </a:p>
        </p:txBody>
      </p:sp>
      <p:graphicFrame>
        <p:nvGraphicFramePr>
          <p:cNvPr id="33" name="Table 32"/>
          <p:cNvGraphicFramePr>
            <a:graphicFrameLocks noGrp="1"/>
          </p:cNvGraphicFramePr>
          <p:nvPr/>
        </p:nvGraphicFramePr>
        <p:xfrm>
          <a:off x="4069080" y="4572000"/>
          <a:ext cx="7571232" cy="1563624"/>
        </p:xfrm>
        <a:graphic>
          <a:graphicData uri="http://schemas.openxmlformats.org/drawingml/2006/table">
            <a:tbl>
              <a:tblPr firstRow="1">
                <a:tableStyleId>{5C22544A-7EE6-4342-B048-85BDC9FD1C3A}</a:tableStyleId>
              </a:tblPr>
              <a:tblGrid>
                <a:gridCol w="2240280"/>
                <a:gridCol w="1280160"/>
                <a:gridCol w="1280160"/>
                <a:gridCol w="2770632"/>
              </a:tblGrid>
              <a:tr h="384048">
                <a:tc>
                  <a:txBody>
                    <a:bodyPr wrap="square"/>
                    <a:lstStyle/>
                    <a:p>
                      <a:pPr algn="l">
                        <a:spcAft>
                          <a:spcPts val="0"/>
                        </a:spcAft>
                      </a:pPr>
                      <a:r>
                        <a:rPr sz="1200" b="1">
                          <a:solidFill>
                            <a:srgbClr val="FFFFFF"/>
                          </a:solidFill>
                          <a:latin typeface="맑은 고딕"/>
                          <a:ea typeface="맑은 고딕"/>
                          <a:cs typeface="맑은 고딕"/>
                        </a:rPr>
                        <a:t>화살표</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요청</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확정</a:t>
                      </a:r>
                    </a:p>
                  </a:txBody>
                  <a:tcPr marL="128016" marR="128016" marT="36576" marB="36576" anchor="ctr">
                    <a:solidFill>
                      <a:srgbClr val="1F2937"/>
                    </a:solidFill>
                  </a:tcPr>
                </a:tc>
                <a:tc>
                  <a:txBody>
                    <a:bodyPr wrap="square"/>
                    <a:lstStyle/>
                    <a:p>
                      <a:pPr algn="l">
                        <a:spcAft>
                          <a:spcPts val="0"/>
                        </a:spcAft>
                      </a:pPr>
                      <a:r>
                        <a:rPr sz="1200" b="1">
                          <a:solidFill>
                            <a:srgbClr val="FFFFFF"/>
                          </a:solidFill>
                          <a:latin typeface="맑은 고딕"/>
                          <a:ea typeface="맑은 고딕"/>
                          <a:cs typeface="맑은 고딕"/>
                        </a:rPr>
                        <a:t>실패하면</a:t>
                      </a:r>
                    </a:p>
                  </a:txBody>
                  <a:tcPr marL="128016" marR="128016" marT="36576" marB="36576" anchor="ctr">
                    <a:solidFill>
                      <a:srgbClr val="1F2937"/>
                    </a:solidFill>
                  </a:tcPr>
                </a:tc>
              </a:tr>
              <a:tr h="393192">
                <a:tc>
                  <a:txBody>
                    <a:bodyPr wrap="square"/>
                    <a:lstStyle/>
                    <a:p>
                      <a:pPr algn="l">
                        <a:spcAft>
                          <a:spcPts val="0"/>
                        </a:spcAft>
                      </a:pPr>
                      <a:r>
                        <a:rPr sz="1300" b="1">
                          <a:solidFill>
                            <a:srgbClr val="1F2937"/>
                          </a:solidFill>
                          <a:latin typeface="맑은 고딕"/>
                          <a:ea typeface="맑은 고딕"/>
                          <a:cs typeface="맑은 고딕"/>
                        </a:rPr>
                        <a:t>Waiting → Matched</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매칭 서버</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매칭 서버</a:t>
                      </a:r>
                    </a:p>
                  </a:txBody>
                  <a:tcPr marL="128016" marR="128016" marT="36576" marB="36576" anchor="ctr">
                    <a:solidFill>
                      <a:srgbClr val="FFFFFF"/>
                    </a:solidFill>
                  </a:tcPr>
                </a:tc>
                <a:tc>
                  <a:txBody>
                    <a:bodyPr wrap="square"/>
                    <a:lstStyle/>
                    <a:p>
                      <a:pPr algn="l">
                        <a:spcAft>
                          <a:spcPts val="0"/>
                        </a:spcAft>
                      </a:pPr>
                      <a:r>
                        <a:rPr sz="1300" b="0">
                          <a:solidFill>
                            <a:srgbClr val="1F2937"/>
                          </a:solidFill>
                          <a:latin typeface="맑은 고딕"/>
                          <a:ea typeface="맑은 고딕"/>
                          <a:cs typeface="맑은 고딕"/>
                        </a:rPr>
                        <a:t>대기 유지 · “상대를 찾는 중”</a:t>
                      </a:r>
                    </a:p>
                  </a:txBody>
                  <a:tcPr marL="128016" marR="128016" marT="36576" marB="36576" anchor="ctr">
                    <a:solidFill>
                      <a:srgbClr val="FFFFFF"/>
                    </a:solidFill>
                  </a:tcPr>
                </a:tc>
              </a:tr>
              <a:tr h="393192">
                <a:tc>
                  <a:txBody>
                    <a:bodyPr wrap="square"/>
                    <a:lstStyle/>
                    <a:p>
                      <a:pPr algn="l">
                        <a:spcAft>
                          <a:spcPts val="0"/>
                        </a:spcAft>
                      </a:pPr>
                      <a:r>
                        <a:rPr sz="1300" b="1">
                          <a:solidFill>
                            <a:srgbClr val="1F2937"/>
                          </a:solidFill>
                          <a:latin typeface="맑은 고딕"/>
                          <a:ea typeface="맑은 고딕"/>
                          <a:cs typeface="맑은 고딕"/>
                        </a:rPr>
                        <a:t>Waiting → Lobby (취소)</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클라이언트</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서버</a:t>
                      </a:r>
                    </a:p>
                  </a:txBody>
                  <a:tcPr marL="128016" marR="128016" marT="36576" marB="36576" anchor="ctr">
                    <a:solidFill>
                      <a:srgbClr val="F3F4F6"/>
                    </a:solidFill>
                  </a:tcPr>
                </a:tc>
                <a:tc>
                  <a:txBody>
                    <a:bodyPr wrap="square"/>
                    <a:lstStyle/>
                    <a:p>
                      <a:pPr algn="l">
                        <a:spcAft>
                          <a:spcPts val="0"/>
                        </a:spcAft>
                      </a:pPr>
                      <a:r>
                        <a:rPr sz="1300" b="0">
                          <a:solidFill>
                            <a:srgbClr val="1F2937"/>
                          </a:solidFill>
                          <a:latin typeface="맑은 고딕"/>
                          <a:ea typeface="맑은 고딕"/>
                          <a:cs typeface="맑은 고딕"/>
                        </a:rPr>
                        <a:t>서버가 확정한 뒤 화면 전환</a:t>
                      </a:r>
                    </a:p>
                  </a:txBody>
                  <a:tcPr marL="128016" marR="128016" marT="36576" marB="36576" anchor="ctr">
                    <a:solidFill>
                      <a:srgbClr val="F3F4F6"/>
                    </a:solidFill>
                  </a:tcPr>
                </a:tc>
              </a:tr>
              <a:tr h="393192">
                <a:tc>
                  <a:txBody>
                    <a:bodyPr wrap="square"/>
                    <a:lstStyle/>
                    <a:p>
                      <a:pPr algn="l">
                        <a:spcAft>
                          <a:spcPts val="0"/>
                        </a:spcAft>
                      </a:pPr>
                      <a:r>
                        <a:rPr sz="1300" b="1">
                          <a:solidFill>
                            <a:srgbClr val="C2410C"/>
                          </a:solidFill>
                          <a:latin typeface="맑은 고딕"/>
                          <a:ea typeface="맑은 고딕"/>
                          <a:cs typeface="맑은 고딕"/>
                        </a:rPr>
                        <a:t>Matched → Lobby</a:t>
                      </a:r>
                    </a:p>
                  </a:txBody>
                  <a:tcPr marL="128016" marR="128016" marT="36576" marB="36576" anchor="ctr">
                    <a:solidFill>
                      <a:srgbClr val="FFFFFF"/>
                    </a:solidFill>
                  </a:tcPr>
                </a:tc>
                <a:tc>
                  <a:txBody>
                    <a:bodyPr wrap="square"/>
                    <a:lstStyle/>
                    <a:p>
                      <a:pPr algn="l">
                        <a:spcAft>
                          <a:spcPts val="0"/>
                        </a:spcAft>
                      </a:pPr>
                      <a:r>
                        <a:rPr sz="1300" b="1">
                          <a:solidFill>
                            <a:srgbClr val="C2410C"/>
                          </a:solidFill>
                          <a:latin typeface="맑은 고딕"/>
                          <a:ea typeface="맑은 고딕"/>
                          <a:cs typeface="맑은 고딕"/>
                        </a:rPr>
                        <a:t>?</a:t>
                      </a:r>
                    </a:p>
                  </a:txBody>
                  <a:tcPr marL="128016" marR="128016" marT="36576" marB="36576" anchor="ctr">
                    <a:solidFill>
                      <a:srgbClr val="FFFFFF"/>
                    </a:solidFill>
                  </a:tcPr>
                </a:tc>
                <a:tc>
                  <a:txBody>
                    <a:bodyPr wrap="square"/>
                    <a:lstStyle/>
                    <a:p>
                      <a:pPr algn="l">
                        <a:spcAft>
                          <a:spcPts val="0"/>
                        </a:spcAft>
                      </a:pPr>
                      <a:r>
                        <a:rPr sz="1300" b="1">
                          <a:solidFill>
                            <a:srgbClr val="C2410C"/>
                          </a:solidFill>
                          <a:latin typeface="맑은 고딕"/>
                          <a:ea typeface="맑은 고딕"/>
                          <a:cs typeface="맑은 고딕"/>
                        </a:rPr>
                        <a:t>?</a:t>
                      </a:r>
                    </a:p>
                  </a:txBody>
                  <a:tcPr marL="128016" marR="128016" marT="36576" marB="36576" anchor="ctr">
                    <a:solidFill>
                      <a:srgbClr val="FFFFFF"/>
                    </a:solidFill>
                  </a:tcPr>
                </a:tc>
                <a:tc>
                  <a:txBody>
                    <a:bodyPr wrap="square"/>
                    <a:lstStyle/>
                    <a:p>
                      <a:pPr algn="l">
                        <a:spcAft>
                          <a:spcPts val="0"/>
                        </a:spcAft>
                      </a:pPr>
                      <a:r>
                        <a:rPr sz="1300" b="1">
                          <a:solidFill>
                            <a:srgbClr val="C2410C"/>
                          </a:solidFill>
                          <a:latin typeface="맑은 고딕"/>
                          <a:ea typeface="맑은 고딕"/>
                          <a:cs typeface="맑은 고딕"/>
                        </a:rPr>
                        <a:t>함께 정해 보기</a:t>
                      </a:r>
                    </a:p>
                  </a:txBody>
                  <a:tcPr marL="128016" marR="128016"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4 · 데이터 · 매칭 · 실시간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매칭 예외와 테스트</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16 / 22</a:t>
            </a:r>
          </a:p>
        </p:txBody>
      </p:sp>
      <p:graphicFrame>
        <p:nvGraphicFramePr>
          <p:cNvPr id="6" name="Table 5"/>
          <p:cNvGraphicFramePr>
            <a:graphicFrameLocks noGrp="1"/>
          </p:cNvGraphicFramePr>
          <p:nvPr/>
        </p:nvGraphicFramePr>
        <p:xfrm>
          <a:off x="548640" y="1554480"/>
          <a:ext cx="11091672" cy="3474720"/>
        </p:xfrm>
        <a:graphic>
          <a:graphicData uri="http://schemas.openxmlformats.org/drawingml/2006/table">
            <a:tbl>
              <a:tblPr firstRow="1">
                <a:tableStyleId>{5C22544A-7EE6-4342-B048-85BDC9FD1C3A}</a:tableStyleId>
              </a:tblPr>
              <a:tblGrid>
                <a:gridCol w="4023360"/>
                <a:gridCol w="7068312"/>
              </a:tblGrid>
              <a:tr h="457200">
                <a:tc>
                  <a:txBody>
                    <a:bodyPr wrap="square"/>
                    <a:lstStyle/>
                    <a:p>
                      <a:pPr algn="l">
                        <a:spcAft>
                          <a:spcPts val="0"/>
                        </a:spcAft>
                      </a:pPr>
                      <a:r>
                        <a:rPr sz="1400" b="1">
                          <a:solidFill>
                            <a:srgbClr val="FFFFFF"/>
                          </a:solidFill>
                          <a:latin typeface="맑은 고딕"/>
                          <a:ea typeface="맑은 고딕"/>
                          <a:cs typeface="맑은 고딕"/>
                        </a:rPr>
                        <a:t>예외 상황</a:t>
                      </a:r>
                    </a:p>
                  </a:txBody>
                  <a:tcPr marL="128016" marR="128016" marT="36576" marB="36576" anchor="ctr">
                    <a:solidFill>
                      <a:srgbClr val="1F2937"/>
                    </a:solidFill>
                  </a:tcPr>
                </a:tc>
                <a:tc>
                  <a:txBody>
                    <a:bodyPr wrap="square"/>
                    <a:lstStyle/>
                    <a:p>
                      <a:pPr algn="l">
                        <a:spcAft>
                          <a:spcPts val="0"/>
                        </a:spcAft>
                      </a:pPr>
                      <a:r>
                        <a:rPr sz="1400" b="1">
                          <a:solidFill>
                            <a:srgbClr val="FFFFFF"/>
                          </a:solidFill>
                          <a:latin typeface="맑은 고딕"/>
                          <a:ea typeface="맑은 고딕"/>
                          <a:cs typeface="맑은 고딕"/>
                        </a:rPr>
                        <a:t>기대하는 최종 상태 (예시)</a:t>
                      </a:r>
                    </a:p>
                  </a:txBody>
                  <a:tcPr marL="128016" marR="128016" marT="36576" marB="36576" anchor="ctr">
                    <a:solidFill>
                      <a:srgbClr val="1F2937"/>
                    </a:solidFill>
                  </a:tcPr>
                </a:tc>
              </a:tr>
              <a:tr h="603504">
                <a:tc>
                  <a:txBody>
                    <a:bodyPr wrap="square"/>
                    <a:lstStyle/>
                    <a:p>
                      <a:pPr algn="l">
                        <a:spcAft>
                          <a:spcPts val="0"/>
                        </a:spcAft>
                      </a:pPr>
                      <a:r>
                        <a:rPr sz="1500" b="1">
                          <a:solidFill>
                            <a:srgbClr val="1F2937"/>
                          </a:solidFill>
                          <a:latin typeface="맑은 고딕"/>
                          <a:ea typeface="맑은 고딕"/>
                          <a:cs typeface="맑은 고딕"/>
                        </a:rPr>
                        <a:t>대기 중 취소</a:t>
                      </a:r>
                    </a:p>
                  </a:txBody>
                  <a:tcPr marL="128016" marR="128016" marT="36576" marB="36576" anchor="ctr">
                    <a:solidFill>
                      <a:srgbClr val="FFFFFF"/>
                    </a:solidFill>
                  </a:tcPr>
                </a:tc>
                <a:tc>
                  <a:txBody>
                    <a:bodyPr wrap="square"/>
                    <a:lstStyle/>
                    <a:p>
                      <a:pPr algn="l">
                        <a:spcAft>
                          <a:spcPts val="0"/>
                        </a:spcAft>
                      </a:pPr>
                      <a:r>
                        <a:rPr sz="1500" b="0">
                          <a:solidFill>
                            <a:srgbClr val="1F2937"/>
                          </a:solidFill>
                          <a:latin typeface="맑은 고딕"/>
                          <a:ea typeface="맑은 고딕"/>
                          <a:cs typeface="맑은 고딕"/>
                        </a:rPr>
                        <a:t>대기열에서 빠지고 로비로 돌아간다</a:t>
                      </a:r>
                    </a:p>
                  </a:txBody>
                  <a:tcPr marL="128016" marR="128016" marT="36576" marB="36576" anchor="ctr">
                    <a:solidFill>
                      <a:srgbClr val="FFFFFF"/>
                    </a:solidFill>
                  </a:tcPr>
                </a:tc>
              </a:tr>
              <a:tr h="603504">
                <a:tc>
                  <a:txBody>
                    <a:bodyPr wrap="square"/>
                    <a:lstStyle/>
                    <a:p>
                      <a:pPr algn="l">
                        <a:spcAft>
                          <a:spcPts val="0"/>
                        </a:spcAft>
                      </a:pPr>
                      <a:r>
                        <a:rPr sz="1500" b="1">
                          <a:solidFill>
                            <a:srgbClr val="1F2937"/>
                          </a:solidFill>
                          <a:latin typeface="맑은 고딕"/>
                          <a:ea typeface="맑은 고딕"/>
                          <a:cs typeface="맑은 고딕"/>
                        </a:rPr>
                        <a:t>취소와 매칭 확정이 동시에 도착</a:t>
                      </a:r>
                    </a:p>
                  </a:txBody>
                  <a:tcPr marL="128016" marR="128016" marT="36576" marB="36576" anchor="ctr">
                    <a:solidFill>
                      <a:srgbClr val="F3F4F6"/>
                    </a:solidFill>
                  </a:tcPr>
                </a:tc>
                <a:tc>
                  <a:txBody>
                    <a:bodyPr wrap="square"/>
                    <a:lstStyle/>
                    <a:p>
                      <a:pPr algn="l">
                        <a:spcAft>
                          <a:spcPts val="0"/>
                        </a:spcAft>
                      </a:pPr>
                      <a:r>
                        <a:rPr sz="1500" b="0">
                          <a:solidFill>
                            <a:srgbClr val="1F2937"/>
                          </a:solidFill>
                          <a:latin typeface="맑은 고딕"/>
                          <a:ea typeface="맑은 고딕"/>
                          <a:cs typeface="맑은 고딕"/>
                        </a:rPr>
                        <a:t>서버가 먼저 처리한 쪽만 인정 · 두 사람의 상태가 모순되지 않는다</a:t>
                      </a:r>
                    </a:p>
                  </a:txBody>
                  <a:tcPr marL="128016" marR="128016" marT="36576" marB="36576" anchor="ctr">
                    <a:solidFill>
                      <a:srgbClr val="F3F4F6"/>
                    </a:solidFill>
                  </a:tcPr>
                </a:tc>
              </a:tr>
              <a:tr h="603504">
                <a:tc>
                  <a:txBody>
                    <a:bodyPr wrap="square"/>
                    <a:lstStyle/>
                    <a:p>
                      <a:pPr algn="l">
                        <a:spcAft>
                          <a:spcPts val="0"/>
                        </a:spcAft>
                      </a:pPr>
                      <a:r>
                        <a:rPr sz="1500" b="1">
                          <a:solidFill>
                            <a:srgbClr val="1F2937"/>
                          </a:solidFill>
                          <a:latin typeface="맑은 고딕"/>
                          <a:ea typeface="맑은 고딕"/>
                          <a:cs typeface="맑은 고딕"/>
                        </a:rPr>
                        <a:t>매칭 직후 상대 이탈</a:t>
                      </a:r>
                    </a:p>
                  </a:txBody>
                  <a:tcPr marL="128016" marR="128016" marT="36576" marB="36576" anchor="ctr">
                    <a:solidFill>
                      <a:srgbClr val="FFFFFF"/>
                    </a:solidFill>
                  </a:tcPr>
                </a:tc>
                <a:tc>
                  <a:txBody>
                    <a:bodyPr wrap="square"/>
                    <a:lstStyle/>
                    <a:p>
                      <a:pPr algn="l">
                        <a:spcAft>
                          <a:spcPts val="0"/>
                        </a:spcAft>
                      </a:pPr>
                      <a:r>
                        <a:rPr sz="1500" b="0">
                          <a:solidFill>
                            <a:srgbClr val="1F2937"/>
                          </a:solidFill>
                          <a:latin typeface="맑은 고딕"/>
                          <a:ea typeface="맑은 고딕"/>
                          <a:cs typeface="맑은 고딕"/>
                        </a:rPr>
                        <a:t>남은 사람은 다시 대기열 또는 로비로 (어느 쪽인지는 기획이 정한다)</a:t>
                      </a:r>
                    </a:p>
                  </a:txBody>
                  <a:tcPr marL="128016" marR="128016" marT="36576" marB="36576" anchor="ctr">
                    <a:solidFill>
                      <a:srgbClr val="FFFFFF"/>
                    </a:solidFill>
                  </a:tcPr>
                </a:tc>
              </a:tr>
              <a:tr h="603504">
                <a:tc>
                  <a:txBody>
                    <a:bodyPr wrap="square"/>
                    <a:lstStyle/>
                    <a:p>
                      <a:pPr algn="l">
                        <a:spcAft>
                          <a:spcPts val="0"/>
                        </a:spcAft>
                      </a:pPr>
                      <a:r>
                        <a:rPr sz="1500" b="1">
                          <a:solidFill>
                            <a:srgbClr val="1F2937"/>
                          </a:solidFill>
                          <a:latin typeface="맑은 고딕"/>
                          <a:ea typeface="맑은 고딕"/>
                          <a:cs typeface="맑은 고딕"/>
                        </a:rPr>
                        <a:t>중복 매칭 요청</a:t>
                      </a:r>
                    </a:p>
                  </a:txBody>
                  <a:tcPr marL="128016" marR="128016" marT="36576" marB="36576" anchor="ctr">
                    <a:solidFill>
                      <a:srgbClr val="F3F4F6"/>
                    </a:solidFill>
                  </a:tcPr>
                </a:tc>
                <a:tc>
                  <a:txBody>
                    <a:bodyPr wrap="square"/>
                    <a:lstStyle/>
                    <a:p>
                      <a:pPr algn="l">
                        <a:spcAft>
                          <a:spcPts val="0"/>
                        </a:spcAft>
                      </a:pPr>
                      <a:r>
                        <a:rPr sz="1500" b="0">
                          <a:solidFill>
                            <a:srgbClr val="1F2937"/>
                          </a:solidFill>
                          <a:latin typeface="맑은 고딕"/>
                          <a:ea typeface="맑은 고딕"/>
                          <a:cs typeface="맑은 고딕"/>
                        </a:rPr>
                        <a:t>버튼을 두 번 눌러도 대기열에는 한 건만 남는다</a:t>
                      </a:r>
                    </a:p>
                  </a:txBody>
                  <a:tcPr marL="128016" marR="128016" marT="36576" marB="36576" anchor="ctr">
                    <a:solidFill>
                      <a:srgbClr val="F3F4F6"/>
                    </a:solidFill>
                  </a:tcPr>
                </a:tc>
              </a:tr>
              <a:tr h="603504">
                <a:tc>
                  <a:txBody>
                    <a:bodyPr wrap="square"/>
                    <a:lstStyle/>
                    <a:p>
                      <a:pPr algn="l">
                        <a:spcAft>
                          <a:spcPts val="0"/>
                        </a:spcAft>
                      </a:pPr>
                      <a:r>
                        <a:rPr sz="1500" b="1">
                          <a:solidFill>
                            <a:srgbClr val="1F2937"/>
                          </a:solidFill>
                          <a:latin typeface="맑은 고딕"/>
                          <a:ea typeface="맑은 고딕"/>
                          <a:cs typeface="맑은 고딕"/>
                        </a:rPr>
                        <a:t>방 입장 실패와 재시도</a:t>
                      </a:r>
                    </a:p>
                  </a:txBody>
                  <a:tcPr marL="128016" marR="128016" marT="36576" marB="36576" anchor="ctr">
                    <a:solidFill>
                      <a:srgbClr val="FFFFFF"/>
                    </a:solidFill>
                  </a:tcPr>
                </a:tc>
                <a:tc>
                  <a:txBody>
                    <a:bodyPr wrap="square"/>
                    <a:lstStyle/>
                    <a:p>
                      <a:pPr algn="l">
                        <a:spcAft>
                          <a:spcPts val="0"/>
                        </a:spcAft>
                      </a:pPr>
                      <a:r>
                        <a:rPr sz="1500" b="0">
                          <a:solidFill>
                            <a:srgbClr val="1F2937"/>
                          </a:solidFill>
                          <a:latin typeface="맑은 고딕"/>
                          <a:ea typeface="맑은 고딕"/>
                          <a:cs typeface="맑은 고딕"/>
                        </a:rPr>
                        <a:t>정해진 횟수만 재시도하고, 실패하면 이유와 함께 로비로</a:t>
                      </a:r>
                    </a:p>
                  </a:txBody>
                  <a:tcPr marL="128016" marR="128016" marT="36576" marB="36576" anchor="ctr">
                    <a:solidFill>
                      <a:srgbClr val="FFFFFF"/>
                    </a:solidFill>
                  </a:tcPr>
                </a:tc>
              </a:tr>
            </a:tbl>
          </a:graphicData>
        </a:graphic>
      </p:graphicFrame>
      <p:sp>
        <p:nvSpPr>
          <p:cNvPr id="7" name="Rounded Rectangle 6"/>
          <p:cNvSpPr/>
          <p:nvPr/>
        </p:nvSpPr>
        <p:spPr>
          <a:xfrm>
            <a:off x="548640" y="5074920"/>
            <a:ext cx="11091672" cy="1097280"/>
          </a:xfrm>
          <a:prstGeom prst="roundRect">
            <a:avLst>
              <a:gd name="adj" fmla="val 6000"/>
            </a:avLst>
          </a:prstGeom>
          <a:solidFill>
            <a:srgbClr val="0F172A"/>
          </a:solidFill>
          <a:ln>
            <a:noFill/>
          </a:ln>
        </p:spPr>
        <p:txBody>
          <a:bodyPr rtlCol="0" anchor="ctr" wrap="square" tIns="36576" bIns="36576"/>
          <a:lstStyle/>
          <a:p>
            <a:pPr algn="ctr"/>
          </a:p>
        </p:txBody>
      </p:sp>
      <p:sp>
        <p:nvSpPr>
          <p:cNvPr id="8" name="TextBox 7"/>
          <p:cNvSpPr txBox="1"/>
          <p:nvPr/>
        </p:nvSpPr>
        <p:spPr>
          <a:xfrm>
            <a:off x="868680" y="5166360"/>
            <a:ext cx="10515600" cy="457200"/>
          </a:xfrm>
          <a:prstGeom prst="rect">
            <a:avLst/>
          </a:prstGeom>
          <a:noFill/>
        </p:spPr>
        <p:txBody>
          <a:bodyPr wrap="square" lIns="36576" rIns="36576" tIns="18288" bIns="18288" anchor="t">
            <a:spAutoFit/>
          </a:bodyPr>
          <a:lstStyle/>
          <a:p>
            <a:pPr algn="l">
              <a:spcAft>
                <a:spcPts val="0"/>
              </a:spcAft>
            </a:pPr>
            <a:r>
              <a:rPr sz="1900" b="0">
                <a:solidFill>
                  <a:srgbClr val="94A3B8"/>
                </a:solidFill>
                <a:latin typeface="맑은 고딕"/>
                <a:ea typeface="맑은 고딕"/>
                <a:cs typeface="맑은 고딕"/>
              </a:rPr>
              <a:t>“어떤 오류가 났나?”</a:t>
            </a:r>
            <a:r>
              <a:rPr sz="1900" b="0">
                <a:solidFill>
                  <a:srgbClr val="94A3B8"/>
                </a:solidFill>
                <a:latin typeface="맑은 고딕"/>
                <a:ea typeface="맑은 고딕"/>
                <a:cs typeface="맑은 고딕"/>
              </a:rPr>
              <a:t>보다  </a:t>
            </a:r>
            <a:r>
              <a:rPr sz="1900" b="1">
                <a:solidFill>
                  <a:srgbClr val="FFFFFF"/>
                </a:solidFill>
                <a:latin typeface="맑은 고딕"/>
                <a:ea typeface="맑은 고딕"/>
                <a:cs typeface="맑은 고딕"/>
              </a:rPr>
              <a:t>“최종 상태가 무엇이어야 하나?”</a:t>
            </a:r>
            <a:r>
              <a:rPr sz="1900" b="0">
                <a:solidFill>
                  <a:srgbClr val="FFFFFF"/>
                </a:solidFill>
                <a:latin typeface="맑은 고딕"/>
                <a:ea typeface="맑은 고딕"/>
                <a:cs typeface="맑은 고딕"/>
              </a:rPr>
              <a:t>를 먼저 정한다</a:t>
            </a:r>
          </a:p>
        </p:txBody>
      </p:sp>
      <p:sp>
        <p:nvSpPr>
          <p:cNvPr id="9" name="TextBox 8"/>
          <p:cNvSpPr txBox="1"/>
          <p:nvPr/>
        </p:nvSpPr>
        <p:spPr>
          <a:xfrm>
            <a:off x="868680" y="5650992"/>
            <a:ext cx="10515600" cy="411480"/>
          </a:xfrm>
          <a:prstGeom prst="rect">
            <a:avLst/>
          </a:prstGeom>
          <a:noFill/>
        </p:spPr>
        <p:txBody>
          <a:bodyPr wrap="square" lIns="36576" rIns="36576" tIns="18288" bIns="18288" anchor="t">
            <a:spAutoFit/>
          </a:bodyPr>
          <a:lstStyle/>
          <a:p>
            <a:pPr algn="l">
              <a:spcAft>
                <a:spcPts val="0"/>
              </a:spcAft>
            </a:pPr>
            <a:r>
              <a:rPr sz="1300" b="0">
                <a:solidFill>
                  <a:srgbClr val="CBD5E1"/>
                </a:solidFill>
                <a:latin typeface="맑은 고딕"/>
                <a:ea typeface="맑은 고딕"/>
                <a:cs typeface="맑은 고딕"/>
              </a:rPr>
              <a:t>테스트 문장 예: Waiting에서 취소와 확정이 동시에 오면, 두 사용자의 상태는 서로 모순되지 않아야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4 · 데이터 · 매칭 · 실시간</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실시간 데이터와 최적화</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17 / 22</a:t>
            </a:r>
          </a:p>
        </p:txBody>
      </p:sp>
      <p:sp>
        <p:nvSpPr>
          <p:cNvPr id="6" name="Rounded Rectangle 5"/>
          <p:cNvSpPr/>
          <p:nvPr/>
        </p:nvSpPr>
        <p:spPr>
          <a:xfrm>
            <a:off x="548640" y="1508760"/>
            <a:ext cx="11091672" cy="640080"/>
          </a:xfrm>
          <a:prstGeom prst="roundRect">
            <a:avLst>
              <a:gd name="adj" fmla="val 12000"/>
            </a:avLst>
          </a:prstGeom>
          <a:solidFill>
            <a:srgbClr val="EFF6FF"/>
          </a:solidFill>
          <a:ln>
            <a:noFill/>
          </a:ln>
        </p:spPr>
        <p:txBody>
          <a:bodyPr rtlCol="0" anchor="ctr" wrap="square" tIns="36576" bIns="36576"/>
          <a:lstStyle/>
          <a:p>
            <a:pPr algn="ctr">
              <a:spcAft>
                <a:spcPts val="0"/>
              </a:spcAft>
            </a:pPr>
            <a:r>
              <a:rPr sz="2200" b="1">
                <a:solidFill>
                  <a:srgbClr val="2563EB"/>
                </a:solidFill>
                <a:latin typeface="맑은 고딕"/>
                <a:ea typeface="맑은 고딕"/>
                <a:cs typeface="맑은 고딕"/>
              </a:rPr>
              <a:t>필요한 데이터만  ·  필요한 대상에게  ·  필요한 주기로</a:t>
            </a:r>
          </a:p>
        </p:txBody>
      </p:sp>
      <p:sp>
        <p:nvSpPr>
          <p:cNvPr id="7" name="Rounded Rectangle 6"/>
          <p:cNvSpPr/>
          <p:nvPr/>
        </p:nvSpPr>
        <p:spPr>
          <a:xfrm>
            <a:off x="548640" y="2377440"/>
            <a:ext cx="3520440" cy="201168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8" name="Rectangle 7"/>
          <p:cNvSpPr/>
          <p:nvPr/>
        </p:nvSpPr>
        <p:spPr>
          <a:xfrm>
            <a:off x="548640" y="2377440"/>
            <a:ext cx="91440" cy="2011680"/>
          </a:xfrm>
          <a:prstGeom prst="rect">
            <a:avLst/>
          </a:prstGeom>
          <a:solidFill>
            <a:srgbClr val="2563EB"/>
          </a:solidFill>
          <a:ln>
            <a:noFill/>
          </a:ln>
        </p:spPr>
        <p:txBody>
          <a:bodyPr rtlCol="0" anchor="ctr" wrap="square" tIns="36576" bIns="36576"/>
          <a:lstStyle/>
          <a:p>
            <a:pPr algn="ctr"/>
          </a:p>
        </p:txBody>
      </p:sp>
      <p:sp>
        <p:nvSpPr>
          <p:cNvPr id="9" name="TextBox 8"/>
          <p:cNvSpPr txBox="1"/>
          <p:nvPr/>
        </p:nvSpPr>
        <p:spPr>
          <a:xfrm>
            <a:off x="868680" y="2514600"/>
            <a:ext cx="3017520" cy="457200"/>
          </a:xfrm>
          <a:prstGeom prst="rect">
            <a:avLst/>
          </a:prstGeom>
          <a:noFill/>
        </p:spPr>
        <p:txBody>
          <a:bodyPr wrap="square" lIns="36576" rIns="36576" tIns="18288" bIns="18288" anchor="t">
            <a:spAutoFit/>
          </a:bodyPr>
          <a:lstStyle/>
          <a:p>
            <a:pPr algn="l">
              <a:spcAft>
                <a:spcPts val="0"/>
              </a:spcAft>
            </a:pPr>
            <a:r>
              <a:rPr sz="2200" b="1">
                <a:solidFill>
                  <a:srgbClr val="2563EB"/>
                </a:solidFill>
                <a:latin typeface="맑은 고딕"/>
                <a:ea typeface="맑은 고딕"/>
                <a:cs typeface="맑은 고딕"/>
              </a:rPr>
              <a:t>입력</a:t>
            </a:r>
          </a:p>
        </p:txBody>
      </p:sp>
      <p:sp>
        <p:nvSpPr>
          <p:cNvPr id="10" name="TextBox 9"/>
          <p:cNvSpPr txBox="1"/>
          <p:nvPr/>
        </p:nvSpPr>
        <p:spPr>
          <a:xfrm>
            <a:off x="868680" y="3017520"/>
            <a:ext cx="3017520" cy="365760"/>
          </a:xfrm>
          <a:prstGeom prst="rect">
            <a:avLst/>
          </a:prstGeom>
          <a:noFill/>
        </p:spPr>
        <p:txBody>
          <a:bodyPr wrap="square" lIns="36576" rIns="36576" tIns="18288" bIns="18288" anchor="t">
            <a:spAutoFit/>
          </a:bodyPr>
          <a:lstStyle/>
          <a:p>
            <a:pPr algn="l">
              <a:spcAft>
                <a:spcPts val="0"/>
              </a:spcAft>
            </a:pPr>
            <a:r>
              <a:rPr sz="1500" b="1">
                <a:solidFill>
                  <a:srgbClr val="1F2937"/>
                </a:solidFill>
                <a:latin typeface="맑은 고딕"/>
                <a:ea typeface="맑은 고딕"/>
                <a:cs typeface="맑은 고딕"/>
              </a:rPr>
              <a:t>이동 · 공격 · 선택</a:t>
            </a:r>
          </a:p>
        </p:txBody>
      </p:sp>
      <p:sp>
        <p:nvSpPr>
          <p:cNvPr id="11" name="TextBox 10"/>
          <p:cNvSpPr txBox="1"/>
          <p:nvPr/>
        </p:nvSpPr>
        <p:spPr>
          <a:xfrm>
            <a:off x="868680" y="3474720"/>
            <a:ext cx="3063240" cy="868680"/>
          </a:xfrm>
          <a:prstGeom prst="rect">
            <a:avLst/>
          </a:prstGeom>
          <a:noFill/>
        </p:spPr>
        <p:txBody>
          <a:bodyPr wrap="square" lIns="36576" rIns="36576" tIns="18288" bIns="18288" anchor="t">
            <a:spAutoFit/>
          </a:bodyPr>
          <a:lstStyle/>
          <a:p>
            <a:pPr algn="l">
              <a:spcAft>
                <a:spcPts val="0"/>
              </a:spcAft>
            </a:pPr>
            <a:r>
              <a:rPr sz="1300" b="0">
                <a:solidFill>
                  <a:srgbClr val="374151"/>
                </a:solidFill>
                <a:latin typeface="맑은 고딕"/>
                <a:ea typeface="맑은 고딕"/>
                <a:cs typeface="맑은 고딕"/>
              </a:rPr>
              <a:t>플레이어가 한 행동</a:t>
            </a:r>
          </a:p>
          <a:p>
            <a:pPr algn="l">
              <a:spcAft>
                <a:spcPts val="0"/>
              </a:spcAft>
            </a:pPr>
            <a:r>
              <a:rPr sz="1300" b="0">
                <a:solidFill>
                  <a:srgbClr val="374151"/>
                </a:solidFill>
                <a:latin typeface="맑은 고딕"/>
                <a:ea typeface="맑은 고딕"/>
                <a:cs typeface="맑은 고딕"/>
              </a:rPr>
              <a:t>→ 서버로 보내 처리한다</a:t>
            </a:r>
          </a:p>
        </p:txBody>
      </p:sp>
      <p:sp>
        <p:nvSpPr>
          <p:cNvPr id="12" name="Rounded Rectangle 11"/>
          <p:cNvSpPr/>
          <p:nvPr/>
        </p:nvSpPr>
        <p:spPr>
          <a:xfrm>
            <a:off x="4334255" y="2377440"/>
            <a:ext cx="3520440" cy="201168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3" name="Rectangle 12"/>
          <p:cNvSpPr/>
          <p:nvPr/>
        </p:nvSpPr>
        <p:spPr>
          <a:xfrm>
            <a:off x="4334255" y="2377440"/>
            <a:ext cx="91440" cy="2011680"/>
          </a:xfrm>
          <a:prstGeom prst="rect">
            <a:avLst/>
          </a:prstGeom>
          <a:solidFill>
            <a:srgbClr val="0F766E"/>
          </a:solidFill>
          <a:ln>
            <a:noFill/>
          </a:ln>
        </p:spPr>
        <p:txBody>
          <a:bodyPr rtlCol="0" anchor="ctr" wrap="square" tIns="36576" bIns="36576"/>
          <a:lstStyle/>
          <a:p>
            <a:pPr algn="ctr"/>
          </a:p>
        </p:txBody>
      </p:sp>
      <p:sp>
        <p:nvSpPr>
          <p:cNvPr id="14" name="TextBox 13"/>
          <p:cNvSpPr txBox="1"/>
          <p:nvPr/>
        </p:nvSpPr>
        <p:spPr>
          <a:xfrm>
            <a:off x="4654295" y="2514600"/>
            <a:ext cx="3017520" cy="457200"/>
          </a:xfrm>
          <a:prstGeom prst="rect">
            <a:avLst/>
          </a:prstGeom>
          <a:noFill/>
        </p:spPr>
        <p:txBody>
          <a:bodyPr wrap="square" lIns="36576" rIns="36576" tIns="18288" bIns="18288" anchor="t">
            <a:spAutoFit/>
          </a:bodyPr>
          <a:lstStyle/>
          <a:p>
            <a:pPr algn="l">
              <a:spcAft>
                <a:spcPts val="0"/>
              </a:spcAft>
            </a:pPr>
            <a:r>
              <a:rPr sz="2200" b="1">
                <a:solidFill>
                  <a:srgbClr val="0F766E"/>
                </a:solidFill>
                <a:latin typeface="맑은 고딕"/>
                <a:ea typeface="맑은 고딕"/>
                <a:cs typeface="맑은 고딕"/>
              </a:rPr>
              <a:t>상태</a:t>
            </a:r>
          </a:p>
        </p:txBody>
      </p:sp>
      <p:sp>
        <p:nvSpPr>
          <p:cNvPr id="15" name="TextBox 14"/>
          <p:cNvSpPr txBox="1"/>
          <p:nvPr/>
        </p:nvSpPr>
        <p:spPr>
          <a:xfrm>
            <a:off x="4654295" y="3017520"/>
            <a:ext cx="3017520" cy="365760"/>
          </a:xfrm>
          <a:prstGeom prst="rect">
            <a:avLst/>
          </a:prstGeom>
          <a:noFill/>
        </p:spPr>
        <p:txBody>
          <a:bodyPr wrap="square" lIns="36576" rIns="36576" tIns="18288" bIns="18288" anchor="t">
            <a:spAutoFit/>
          </a:bodyPr>
          <a:lstStyle/>
          <a:p>
            <a:pPr algn="l">
              <a:spcAft>
                <a:spcPts val="0"/>
              </a:spcAft>
            </a:pPr>
            <a:r>
              <a:rPr sz="1500" b="1">
                <a:solidFill>
                  <a:srgbClr val="1F2937"/>
                </a:solidFill>
                <a:latin typeface="맑은 고딕"/>
                <a:ea typeface="맑은 고딕"/>
                <a:cs typeface="맑은 고딕"/>
              </a:rPr>
              <a:t>위치 · 체력 · 점수</a:t>
            </a:r>
          </a:p>
        </p:txBody>
      </p:sp>
      <p:sp>
        <p:nvSpPr>
          <p:cNvPr id="16" name="TextBox 15"/>
          <p:cNvSpPr txBox="1"/>
          <p:nvPr/>
        </p:nvSpPr>
        <p:spPr>
          <a:xfrm>
            <a:off x="4654295" y="3474720"/>
            <a:ext cx="3063240" cy="868680"/>
          </a:xfrm>
          <a:prstGeom prst="rect">
            <a:avLst/>
          </a:prstGeom>
          <a:noFill/>
        </p:spPr>
        <p:txBody>
          <a:bodyPr wrap="square" lIns="36576" rIns="36576" tIns="18288" bIns="18288" anchor="t">
            <a:spAutoFit/>
          </a:bodyPr>
          <a:lstStyle/>
          <a:p>
            <a:pPr algn="l">
              <a:spcAft>
                <a:spcPts val="0"/>
              </a:spcAft>
            </a:pPr>
            <a:r>
              <a:rPr sz="1300" b="0">
                <a:solidFill>
                  <a:srgbClr val="374151"/>
                </a:solidFill>
                <a:latin typeface="맑은 고딕"/>
                <a:ea typeface="맑은 고딕"/>
                <a:cs typeface="맑은 고딕"/>
              </a:rPr>
              <a:t>최신 값만 중요</a:t>
            </a:r>
          </a:p>
          <a:p>
            <a:pPr algn="l">
              <a:spcAft>
                <a:spcPts val="0"/>
              </a:spcAft>
            </a:pPr>
            <a:r>
              <a:rPr sz="1300" b="0">
                <a:solidFill>
                  <a:srgbClr val="374151"/>
                </a:solidFill>
                <a:latin typeface="맑은 고딕"/>
                <a:ea typeface="맑은 고딕"/>
                <a:cs typeface="맑은 고딕"/>
              </a:rPr>
              <a:t>→ 주기적으로 보내고 옛값은 버린다</a:t>
            </a:r>
          </a:p>
        </p:txBody>
      </p:sp>
      <p:sp>
        <p:nvSpPr>
          <p:cNvPr id="17" name="Rounded Rectangle 16"/>
          <p:cNvSpPr/>
          <p:nvPr/>
        </p:nvSpPr>
        <p:spPr>
          <a:xfrm>
            <a:off x="8119871" y="2377440"/>
            <a:ext cx="3520440" cy="201168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8" name="Rectangle 17"/>
          <p:cNvSpPr/>
          <p:nvPr/>
        </p:nvSpPr>
        <p:spPr>
          <a:xfrm>
            <a:off x="8119871" y="2377440"/>
            <a:ext cx="91440" cy="2011680"/>
          </a:xfrm>
          <a:prstGeom prst="rect">
            <a:avLst/>
          </a:prstGeom>
          <a:solidFill>
            <a:srgbClr val="C2410C"/>
          </a:solidFill>
          <a:ln>
            <a:noFill/>
          </a:ln>
        </p:spPr>
        <p:txBody>
          <a:bodyPr rtlCol="0" anchor="ctr" wrap="square" tIns="36576" bIns="36576"/>
          <a:lstStyle/>
          <a:p>
            <a:pPr algn="ctr"/>
          </a:p>
        </p:txBody>
      </p:sp>
      <p:sp>
        <p:nvSpPr>
          <p:cNvPr id="19" name="TextBox 18"/>
          <p:cNvSpPr txBox="1"/>
          <p:nvPr/>
        </p:nvSpPr>
        <p:spPr>
          <a:xfrm>
            <a:off x="8439911" y="2514600"/>
            <a:ext cx="3017520" cy="457200"/>
          </a:xfrm>
          <a:prstGeom prst="rect">
            <a:avLst/>
          </a:prstGeom>
          <a:noFill/>
        </p:spPr>
        <p:txBody>
          <a:bodyPr wrap="square" lIns="36576" rIns="36576" tIns="18288" bIns="18288" anchor="t">
            <a:spAutoFit/>
          </a:bodyPr>
          <a:lstStyle/>
          <a:p>
            <a:pPr algn="l">
              <a:spcAft>
                <a:spcPts val="0"/>
              </a:spcAft>
            </a:pPr>
            <a:r>
              <a:rPr sz="2200" b="1">
                <a:solidFill>
                  <a:srgbClr val="C2410C"/>
                </a:solidFill>
                <a:latin typeface="맑은 고딕"/>
                <a:ea typeface="맑은 고딕"/>
                <a:cs typeface="맑은 고딕"/>
              </a:rPr>
              <a:t>이벤트</a:t>
            </a:r>
          </a:p>
        </p:txBody>
      </p:sp>
      <p:sp>
        <p:nvSpPr>
          <p:cNvPr id="20" name="TextBox 19"/>
          <p:cNvSpPr txBox="1"/>
          <p:nvPr/>
        </p:nvSpPr>
        <p:spPr>
          <a:xfrm>
            <a:off x="8439911" y="3017520"/>
            <a:ext cx="3017520" cy="365760"/>
          </a:xfrm>
          <a:prstGeom prst="rect">
            <a:avLst/>
          </a:prstGeom>
          <a:noFill/>
        </p:spPr>
        <p:txBody>
          <a:bodyPr wrap="square" lIns="36576" rIns="36576" tIns="18288" bIns="18288" anchor="t">
            <a:spAutoFit/>
          </a:bodyPr>
          <a:lstStyle/>
          <a:p>
            <a:pPr algn="l">
              <a:spcAft>
                <a:spcPts val="0"/>
              </a:spcAft>
            </a:pPr>
            <a:r>
              <a:rPr sz="1500" b="1">
                <a:solidFill>
                  <a:srgbClr val="1F2937"/>
                </a:solidFill>
                <a:latin typeface="맑은 고딕"/>
                <a:ea typeface="맑은 고딕"/>
                <a:cs typeface="맑은 고딕"/>
              </a:rPr>
              <a:t>피격 · 이모트 · 알림</a:t>
            </a:r>
          </a:p>
        </p:txBody>
      </p:sp>
      <p:sp>
        <p:nvSpPr>
          <p:cNvPr id="21" name="TextBox 20"/>
          <p:cNvSpPr txBox="1"/>
          <p:nvPr/>
        </p:nvSpPr>
        <p:spPr>
          <a:xfrm>
            <a:off x="8439911" y="3474720"/>
            <a:ext cx="3063240" cy="868680"/>
          </a:xfrm>
          <a:prstGeom prst="rect">
            <a:avLst/>
          </a:prstGeom>
          <a:noFill/>
        </p:spPr>
        <p:txBody>
          <a:bodyPr wrap="square" lIns="36576" rIns="36576" tIns="18288" bIns="18288" anchor="t">
            <a:spAutoFit/>
          </a:bodyPr>
          <a:lstStyle/>
          <a:p>
            <a:pPr algn="l">
              <a:spcAft>
                <a:spcPts val="0"/>
              </a:spcAft>
            </a:pPr>
            <a:r>
              <a:rPr sz="1300" b="0">
                <a:solidFill>
                  <a:srgbClr val="374151"/>
                </a:solidFill>
                <a:latin typeface="맑은 고딕"/>
                <a:ea typeface="맑은 고딕"/>
                <a:cs typeface="맑은 고딕"/>
              </a:rPr>
              <a:t>한 번 일어나고 끝</a:t>
            </a:r>
          </a:p>
          <a:p>
            <a:pPr algn="l">
              <a:spcAft>
                <a:spcPts val="0"/>
              </a:spcAft>
            </a:pPr>
            <a:r>
              <a:rPr sz="1300" b="0">
                <a:solidFill>
                  <a:srgbClr val="374151"/>
                </a:solidFill>
                <a:latin typeface="맑은 고딕"/>
                <a:ea typeface="맑은 고딕"/>
                <a:cs typeface="맑은 고딕"/>
              </a:rPr>
              <a:t>→ 확실히 한 번 전달한다</a:t>
            </a:r>
          </a:p>
        </p:txBody>
      </p:sp>
      <p:sp>
        <p:nvSpPr>
          <p:cNvPr id="22" name="TextBox 21"/>
          <p:cNvSpPr txBox="1"/>
          <p:nvPr/>
        </p:nvSpPr>
        <p:spPr>
          <a:xfrm>
            <a:off x="548640" y="4663440"/>
            <a:ext cx="548640" cy="457200"/>
          </a:xfrm>
          <a:prstGeom prst="rect">
            <a:avLst/>
          </a:prstGeom>
          <a:noFill/>
        </p:spPr>
        <p:txBody>
          <a:bodyPr wrap="square" lIns="36576" rIns="36576" tIns="18288" bIns="18288" anchor="t">
            <a:spAutoFit/>
          </a:bodyPr>
          <a:lstStyle/>
          <a:p>
            <a:pPr algn="l">
              <a:spcAft>
                <a:spcPts val="0"/>
              </a:spcAft>
            </a:pPr>
            <a:r>
              <a:rPr sz="2600" b="1">
                <a:solidFill>
                  <a:srgbClr val="2563EB"/>
                </a:solidFill>
                <a:latin typeface="맑은 고딕"/>
                <a:ea typeface="맑은 고딕"/>
                <a:cs typeface="맑은 고딕"/>
              </a:rPr>
              <a:t>1</a:t>
            </a:r>
          </a:p>
        </p:txBody>
      </p:sp>
      <p:sp>
        <p:nvSpPr>
          <p:cNvPr id="23" name="TextBox 22"/>
          <p:cNvSpPr txBox="1"/>
          <p:nvPr/>
        </p:nvSpPr>
        <p:spPr>
          <a:xfrm>
            <a:off x="1051560" y="4681728"/>
            <a:ext cx="301752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바뀐 값만 보낸다</a:t>
            </a:r>
          </a:p>
        </p:txBody>
      </p:sp>
      <p:sp>
        <p:nvSpPr>
          <p:cNvPr id="24" name="TextBox 23"/>
          <p:cNvSpPr txBox="1"/>
          <p:nvPr/>
        </p:nvSpPr>
        <p:spPr>
          <a:xfrm>
            <a:off x="1051560" y="5102352"/>
            <a:ext cx="3017520" cy="82296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체력이 그대로면 체력은 빼고 보낸다</a:t>
            </a:r>
          </a:p>
        </p:txBody>
      </p:sp>
      <p:sp>
        <p:nvSpPr>
          <p:cNvPr id="25" name="TextBox 24"/>
          <p:cNvSpPr txBox="1"/>
          <p:nvPr/>
        </p:nvSpPr>
        <p:spPr>
          <a:xfrm>
            <a:off x="4334255" y="4663440"/>
            <a:ext cx="548640" cy="457200"/>
          </a:xfrm>
          <a:prstGeom prst="rect">
            <a:avLst/>
          </a:prstGeom>
          <a:noFill/>
        </p:spPr>
        <p:txBody>
          <a:bodyPr wrap="square" lIns="36576" rIns="36576" tIns="18288" bIns="18288" anchor="t">
            <a:spAutoFit/>
          </a:bodyPr>
          <a:lstStyle/>
          <a:p>
            <a:pPr algn="l">
              <a:spcAft>
                <a:spcPts val="0"/>
              </a:spcAft>
            </a:pPr>
            <a:r>
              <a:rPr sz="2600" b="1">
                <a:solidFill>
                  <a:srgbClr val="2563EB"/>
                </a:solidFill>
                <a:latin typeface="맑은 고딕"/>
                <a:ea typeface="맑은 고딕"/>
                <a:cs typeface="맑은 고딕"/>
              </a:rPr>
              <a:t>2</a:t>
            </a:r>
          </a:p>
        </p:txBody>
      </p:sp>
      <p:sp>
        <p:nvSpPr>
          <p:cNvPr id="26" name="TextBox 25"/>
          <p:cNvSpPr txBox="1"/>
          <p:nvPr/>
        </p:nvSpPr>
        <p:spPr>
          <a:xfrm>
            <a:off x="4837175" y="4681728"/>
            <a:ext cx="301752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멀리 있는 대상은 덜 자주</a:t>
            </a:r>
          </a:p>
        </p:txBody>
      </p:sp>
      <p:sp>
        <p:nvSpPr>
          <p:cNvPr id="27" name="TextBox 26"/>
          <p:cNvSpPr txBox="1"/>
          <p:nvPr/>
        </p:nvSpPr>
        <p:spPr>
          <a:xfrm>
            <a:off x="4837175" y="5102352"/>
            <a:ext cx="3017520" cy="82296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시야 밖 플레이어는 갱신 주기를 늘린다</a:t>
            </a:r>
          </a:p>
        </p:txBody>
      </p:sp>
      <p:sp>
        <p:nvSpPr>
          <p:cNvPr id="28" name="TextBox 27"/>
          <p:cNvSpPr txBox="1"/>
          <p:nvPr/>
        </p:nvSpPr>
        <p:spPr>
          <a:xfrm>
            <a:off x="8119871" y="4663440"/>
            <a:ext cx="548640" cy="457200"/>
          </a:xfrm>
          <a:prstGeom prst="rect">
            <a:avLst/>
          </a:prstGeom>
          <a:noFill/>
        </p:spPr>
        <p:txBody>
          <a:bodyPr wrap="square" lIns="36576" rIns="36576" tIns="18288" bIns="18288" anchor="t">
            <a:spAutoFit/>
          </a:bodyPr>
          <a:lstStyle/>
          <a:p>
            <a:pPr algn="l">
              <a:spcAft>
                <a:spcPts val="0"/>
              </a:spcAft>
            </a:pPr>
            <a:r>
              <a:rPr sz="2600" b="1">
                <a:solidFill>
                  <a:srgbClr val="2563EB"/>
                </a:solidFill>
                <a:latin typeface="맑은 고딕"/>
                <a:ea typeface="맑은 고딕"/>
                <a:cs typeface="맑은 고딕"/>
              </a:rPr>
              <a:t>3</a:t>
            </a:r>
          </a:p>
        </p:txBody>
      </p:sp>
      <p:sp>
        <p:nvSpPr>
          <p:cNvPr id="29" name="TextBox 28"/>
          <p:cNvSpPr txBox="1"/>
          <p:nvPr/>
        </p:nvSpPr>
        <p:spPr>
          <a:xfrm>
            <a:off x="8622792" y="4681728"/>
            <a:ext cx="301752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늦은 입장자는 스냅샷부터</a:t>
            </a:r>
          </a:p>
        </p:txBody>
      </p:sp>
      <p:sp>
        <p:nvSpPr>
          <p:cNvPr id="30" name="TextBox 29"/>
          <p:cNvSpPr txBox="1"/>
          <p:nvPr/>
        </p:nvSpPr>
        <p:spPr>
          <a:xfrm>
            <a:off x="8622792" y="5102352"/>
            <a:ext cx="3017520" cy="82296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현재 상태 + 그 뒤 이벤트만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5 · 데모와 AI 활용</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Firebase 매칭 데모</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18 / 22</a:t>
            </a:r>
          </a:p>
        </p:txBody>
      </p:sp>
      <p:sp>
        <p:nvSpPr>
          <p:cNvPr id="6" name="Oval 5"/>
          <p:cNvSpPr/>
          <p:nvPr/>
        </p:nvSpPr>
        <p:spPr>
          <a:xfrm>
            <a:off x="548640" y="160020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1</a:t>
            </a:r>
          </a:p>
        </p:txBody>
      </p:sp>
      <p:sp>
        <p:nvSpPr>
          <p:cNvPr id="7" name="TextBox 6"/>
          <p:cNvSpPr txBox="1"/>
          <p:nvPr/>
        </p:nvSpPr>
        <p:spPr>
          <a:xfrm>
            <a:off x="1280160" y="1554480"/>
            <a:ext cx="35661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첫 번째 사용자</a:t>
            </a:r>
          </a:p>
        </p:txBody>
      </p:sp>
      <p:sp>
        <p:nvSpPr>
          <p:cNvPr id="8" name="TextBox 7"/>
          <p:cNvSpPr txBox="1"/>
          <p:nvPr/>
        </p:nvSpPr>
        <p:spPr>
          <a:xfrm>
            <a:off x="1280160" y="1847088"/>
            <a:ext cx="356616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매칭 신청 → waiting</a:t>
            </a:r>
          </a:p>
        </p:txBody>
      </p:sp>
      <p:sp>
        <p:nvSpPr>
          <p:cNvPr id="9" name="Oval 8"/>
          <p:cNvSpPr/>
          <p:nvPr/>
        </p:nvSpPr>
        <p:spPr>
          <a:xfrm>
            <a:off x="548640" y="251460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2</a:t>
            </a:r>
          </a:p>
        </p:txBody>
      </p:sp>
      <p:sp>
        <p:nvSpPr>
          <p:cNvPr id="10" name="TextBox 9"/>
          <p:cNvSpPr txBox="1"/>
          <p:nvPr/>
        </p:nvSpPr>
        <p:spPr>
          <a:xfrm>
            <a:off x="1280160" y="2468880"/>
            <a:ext cx="35661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두 번째 사용자</a:t>
            </a:r>
          </a:p>
        </p:txBody>
      </p:sp>
      <p:sp>
        <p:nvSpPr>
          <p:cNvPr id="11" name="TextBox 10"/>
          <p:cNvSpPr txBox="1"/>
          <p:nvPr/>
        </p:nvSpPr>
        <p:spPr>
          <a:xfrm>
            <a:off x="1280160" y="2761488"/>
            <a:ext cx="356616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매칭 신청 → match 생성</a:t>
            </a:r>
          </a:p>
        </p:txBody>
      </p:sp>
      <p:sp>
        <p:nvSpPr>
          <p:cNvPr id="12" name="Oval 11"/>
          <p:cNvSpPr/>
          <p:nvPr/>
        </p:nvSpPr>
        <p:spPr>
          <a:xfrm>
            <a:off x="548640" y="342900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3</a:t>
            </a:r>
          </a:p>
        </p:txBody>
      </p:sp>
      <p:sp>
        <p:nvSpPr>
          <p:cNvPr id="13" name="TextBox 12"/>
          <p:cNvSpPr txBox="1"/>
          <p:nvPr/>
        </p:nvSpPr>
        <p:spPr>
          <a:xfrm>
            <a:off x="1280160" y="3383280"/>
            <a:ext cx="35661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두 화면</a:t>
            </a:r>
          </a:p>
        </p:txBody>
      </p:sp>
      <p:sp>
        <p:nvSpPr>
          <p:cNvPr id="14" name="TextBox 13"/>
          <p:cNvSpPr txBox="1"/>
          <p:nvPr/>
        </p:nvSpPr>
        <p:spPr>
          <a:xfrm>
            <a:off x="1280160" y="3675887"/>
            <a:ext cx="3566160" cy="41148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상태 변경을 실시간으로 수신</a:t>
            </a:r>
          </a:p>
        </p:txBody>
      </p:sp>
      <p:sp>
        <p:nvSpPr>
          <p:cNvPr id="15" name="TextBox 14"/>
          <p:cNvSpPr txBox="1"/>
          <p:nvPr/>
        </p:nvSpPr>
        <p:spPr>
          <a:xfrm>
            <a:off x="548640" y="4389120"/>
            <a:ext cx="438912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열 파일  </a:t>
            </a:r>
            <a:r>
              <a:rPr sz="1300" b="1">
                <a:solidFill>
                  <a:srgbClr val="1F2937"/>
                </a:solidFill>
                <a:latin typeface="Consolas"/>
                <a:ea typeface="Consolas"/>
                <a:cs typeface="Consolas"/>
              </a:rPr>
              <a:t>ai_시연/index.html</a:t>
            </a:r>
          </a:p>
        </p:txBody>
      </p:sp>
      <p:sp>
        <p:nvSpPr>
          <p:cNvPr id="16" name="TextBox 15"/>
          <p:cNvSpPr txBox="1"/>
          <p:nvPr/>
        </p:nvSpPr>
        <p:spPr>
          <a:xfrm>
            <a:off x="548640" y="4681728"/>
            <a:ext cx="438912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일반 창 + 시크릿 창 = 서로 다른 두 사용자</a:t>
            </a:r>
          </a:p>
        </p:txBody>
      </p:sp>
      <p:sp>
        <p:nvSpPr>
          <p:cNvPr id="17" name="Rounded Rectangle 16"/>
          <p:cNvSpPr/>
          <p:nvPr/>
        </p:nvSpPr>
        <p:spPr>
          <a:xfrm>
            <a:off x="5166360" y="1554480"/>
            <a:ext cx="3108960" cy="3246120"/>
          </a:xfrm>
          <a:prstGeom prst="roundRect">
            <a:avLst>
              <a:gd name="adj" fmla="val 4000"/>
            </a:avLst>
          </a:prstGeom>
          <a:solidFill>
            <a:srgbClr val="FFFFFF"/>
          </a:solidFill>
          <a:ln w="12700">
            <a:solidFill>
              <a:srgbClr val="9CA3AF"/>
            </a:solidFill>
          </a:ln>
        </p:spPr>
        <p:txBody>
          <a:bodyPr rtlCol="0" anchor="ctr" wrap="square" tIns="36576" bIns="36576"/>
          <a:lstStyle/>
          <a:p>
            <a:pPr algn="ctr"/>
          </a:p>
        </p:txBody>
      </p:sp>
      <p:sp>
        <p:nvSpPr>
          <p:cNvPr id="18" name="Rectangle 17"/>
          <p:cNvSpPr/>
          <p:nvPr/>
        </p:nvSpPr>
        <p:spPr>
          <a:xfrm>
            <a:off x="5166360" y="1554480"/>
            <a:ext cx="3108960" cy="411480"/>
          </a:xfrm>
          <a:prstGeom prst="rect">
            <a:avLst/>
          </a:prstGeom>
          <a:solidFill>
            <a:srgbClr val="E5E7EB"/>
          </a:solidFill>
          <a:ln>
            <a:noFill/>
          </a:ln>
        </p:spPr>
        <p:txBody>
          <a:bodyPr rtlCol="0" anchor="ctr" wrap="square" tIns="36576" bIns="36576"/>
          <a:lstStyle/>
          <a:p>
            <a:pPr algn="ctr"/>
          </a:p>
        </p:txBody>
      </p:sp>
      <p:sp>
        <p:nvSpPr>
          <p:cNvPr id="19" name="Oval 18"/>
          <p:cNvSpPr/>
          <p:nvPr/>
        </p:nvSpPr>
        <p:spPr>
          <a:xfrm>
            <a:off x="5303520" y="1691640"/>
            <a:ext cx="128016" cy="128016"/>
          </a:xfrm>
          <a:prstGeom prst="ellipse">
            <a:avLst/>
          </a:prstGeom>
          <a:solidFill>
            <a:srgbClr val="F87171"/>
          </a:solidFill>
          <a:ln>
            <a:noFill/>
          </a:ln>
        </p:spPr>
        <p:txBody>
          <a:bodyPr rtlCol="0" anchor="ctr" wrap="square" tIns="36576" bIns="36576"/>
          <a:lstStyle/>
          <a:p>
            <a:pPr algn="ctr"/>
          </a:p>
        </p:txBody>
      </p:sp>
      <p:sp>
        <p:nvSpPr>
          <p:cNvPr id="20" name="Oval 19"/>
          <p:cNvSpPr/>
          <p:nvPr/>
        </p:nvSpPr>
        <p:spPr>
          <a:xfrm>
            <a:off x="5504688" y="1691640"/>
            <a:ext cx="128016" cy="128016"/>
          </a:xfrm>
          <a:prstGeom prst="ellipse">
            <a:avLst/>
          </a:prstGeom>
          <a:solidFill>
            <a:srgbClr val="FBBF24"/>
          </a:solidFill>
          <a:ln>
            <a:noFill/>
          </a:ln>
        </p:spPr>
        <p:txBody>
          <a:bodyPr rtlCol="0" anchor="ctr" wrap="square" tIns="36576" bIns="36576"/>
          <a:lstStyle/>
          <a:p>
            <a:pPr algn="ctr"/>
          </a:p>
        </p:txBody>
      </p:sp>
      <p:sp>
        <p:nvSpPr>
          <p:cNvPr id="21" name="Oval 20"/>
          <p:cNvSpPr/>
          <p:nvPr/>
        </p:nvSpPr>
        <p:spPr>
          <a:xfrm>
            <a:off x="5705856" y="1691640"/>
            <a:ext cx="128016" cy="128016"/>
          </a:xfrm>
          <a:prstGeom prst="ellipse">
            <a:avLst/>
          </a:prstGeom>
          <a:solidFill>
            <a:srgbClr val="34D399"/>
          </a:solidFill>
          <a:ln>
            <a:noFill/>
          </a:ln>
        </p:spPr>
        <p:txBody>
          <a:bodyPr rtlCol="0" anchor="ctr" wrap="square" tIns="36576" bIns="36576"/>
          <a:lstStyle/>
          <a:p>
            <a:pPr algn="ctr"/>
          </a:p>
        </p:txBody>
      </p:sp>
      <p:sp>
        <p:nvSpPr>
          <p:cNvPr id="22" name="TextBox 21"/>
          <p:cNvSpPr txBox="1"/>
          <p:nvPr/>
        </p:nvSpPr>
        <p:spPr>
          <a:xfrm>
            <a:off x="5943600" y="1572768"/>
            <a:ext cx="2286000" cy="365760"/>
          </a:xfrm>
          <a:prstGeom prst="rect">
            <a:avLst/>
          </a:prstGeom>
          <a:noFill/>
        </p:spPr>
        <p:txBody>
          <a:bodyPr wrap="square" lIns="36576" rIns="36576" tIns="18288" bIns="18288" anchor="ctr">
            <a:spAutoFit/>
          </a:bodyPr>
          <a:lstStyle/>
          <a:p>
            <a:pPr algn="l">
              <a:spcAft>
                <a:spcPts val="0"/>
              </a:spcAft>
            </a:pPr>
            <a:r>
              <a:rPr sz="1200" b="1">
                <a:solidFill>
                  <a:srgbClr val="374151"/>
                </a:solidFill>
                <a:latin typeface="맑은 고딕"/>
                <a:ea typeface="맑은 고딕"/>
                <a:cs typeface="맑은 고딕"/>
              </a:rPr>
              <a:t>일반 창 · 사용자 A</a:t>
            </a:r>
          </a:p>
        </p:txBody>
      </p:sp>
      <p:sp>
        <p:nvSpPr>
          <p:cNvPr id="23" name="TextBox 22"/>
          <p:cNvSpPr txBox="1"/>
          <p:nvPr/>
        </p:nvSpPr>
        <p:spPr>
          <a:xfrm>
            <a:off x="5394960" y="2194560"/>
            <a:ext cx="26517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① 매칭 신청</a:t>
            </a:r>
          </a:p>
        </p:txBody>
      </p:sp>
      <p:sp>
        <p:nvSpPr>
          <p:cNvPr id="24" name="Rounded Rectangle 23"/>
          <p:cNvSpPr/>
          <p:nvPr/>
        </p:nvSpPr>
        <p:spPr>
          <a:xfrm>
            <a:off x="5394960" y="2542032"/>
            <a:ext cx="2651760" cy="640080"/>
          </a:xfrm>
          <a:prstGeom prst="roundRect">
            <a:avLst>
              <a:gd name="adj" fmla="val 20000"/>
            </a:avLst>
          </a:prstGeom>
          <a:solidFill>
            <a:srgbClr val="EDE9FE"/>
          </a:solidFill>
          <a:ln w="12700">
            <a:solidFill>
              <a:srgbClr val="6D28D9"/>
            </a:solidFill>
          </a:ln>
        </p:spPr>
        <p:txBody>
          <a:bodyPr rtlCol="0" anchor="ctr" wrap="square" tIns="36576" bIns="36576"/>
          <a:lstStyle/>
          <a:p>
            <a:pPr algn="ctr">
              <a:spcAft>
                <a:spcPts val="0"/>
              </a:spcAft>
            </a:pPr>
            <a:r>
              <a:rPr sz="1800" b="1">
                <a:solidFill>
                  <a:srgbClr val="6D28D9"/>
                </a:solidFill>
                <a:latin typeface="Consolas"/>
                <a:ea typeface="Consolas"/>
                <a:cs typeface="Consolas"/>
              </a:rPr>
              <a:t>waiting</a:t>
            </a:r>
          </a:p>
        </p:txBody>
      </p:sp>
      <p:sp>
        <p:nvSpPr>
          <p:cNvPr id="25" name="TextBox 24"/>
          <p:cNvSpPr txBox="1"/>
          <p:nvPr/>
        </p:nvSpPr>
        <p:spPr>
          <a:xfrm>
            <a:off x="5394960" y="3456432"/>
            <a:ext cx="26517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③ 실시간 수신</a:t>
            </a:r>
          </a:p>
        </p:txBody>
      </p:sp>
      <p:sp>
        <p:nvSpPr>
          <p:cNvPr id="26" name="Rounded Rectangle 25"/>
          <p:cNvSpPr/>
          <p:nvPr/>
        </p:nvSpPr>
        <p:spPr>
          <a:xfrm>
            <a:off x="5394960" y="3803904"/>
            <a:ext cx="2651760" cy="640080"/>
          </a:xfrm>
          <a:prstGeom prst="roundRect">
            <a:avLst>
              <a:gd name="adj" fmla="val 20000"/>
            </a:avLst>
          </a:prstGeom>
          <a:solidFill>
            <a:srgbClr val="047857"/>
          </a:solidFill>
          <a:ln>
            <a:noFill/>
          </a:ln>
        </p:spPr>
        <p:txBody>
          <a:bodyPr rtlCol="0" anchor="ctr" wrap="square" tIns="36576" bIns="36576"/>
          <a:lstStyle/>
          <a:p>
            <a:pPr algn="ctr">
              <a:spcAft>
                <a:spcPts val="0"/>
              </a:spcAft>
            </a:pPr>
            <a:r>
              <a:rPr sz="1800" b="1">
                <a:solidFill>
                  <a:srgbClr val="FFFFFF"/>
                </a:solidFill>
                <a:latin typeface="Consolas"/>
                <a:ea typeface="Consolas"/>
                <a:cs typeface="Consolas"/>
              </a:rPr>
              <a:t>matched</a:t>
            </a:r>
          </a:p>
        </p:txBody>
      </p:sp>
      <p:sp>
        <p:nvSpPr>
          <p:cNvPr id="27" name="Rounded Rectangle 26"/>
          <p:cNvSpPr/>
          <p:nvPr/>
        </p:nvSpPr>
        <p:spPr>
          <a:xfrm>
            <a:off x="8458200" y="1554480"/>
            <a:ext cx="3108960" cy="3246120"/>
          </a:xfrm>
          <a:prstGeom prst="roundRect">
            <a:avLst>
              <a:gd name="adj" fmla="val 4000"/>
            </a:avLst>
          </a:prstGeom>
          <a:solidFill>
            <a:srgbClr val="FFFFFF"/>
          </a:solidFill>
          <a:ln w="12700">
            <a:solidFill>
              <a:srgbClr val="9CA3AF"/>
            </a:solidFill>
          </a:ln>
        </p:spPr>
        <p:txBody>
          <a:bodyPr rtlCol="0" anchor="ctr" wrap="square" tIns="36576" bIns="36576"/>
          <a:lstStyle/>
          <a:p>
            <a:pPr algn="ctr"/>
          </a:p>
        </p:txBody>
      </p:sp>
      <p:sp>
        <p:nvSpPr>
          <p:cNvPr id="28" name="Rectangle 27"/>
          <p:cNvSpPr/>
          <p:nvPr/>
        </p:nvSpPr>
        <p:spPr>
          <a:xfrm>
            <a:off x="8458200" y="1554480"/>
            <a:ext cx="3108960" cy="411480"/>
          </a:xfrm>
          <a:prstGeom prst="rect">
            <a:avLst/>
          </a:prstGeom>
          <a:solidFill>
            <a:srgbClr val="E5E7EB"/>
          </a:solidFill>
          <a:ln>
            <a:noFill/>
          </a:ln>
        </p:spPr>
        <p:txBody>
          <a:bodyPr rtlCol="0" anchor="ctr" wrap="square" tIns="36576" bIns="36576"/>
          <a:lstStyle/>
          <a:p>
            <a:pPr algn="ctr"/>
          </a:p>
        </p:txBody>
      </p:sp>
      <p:sp>
        <p:nvSpPr>
          <p:cNvPr id="29" name="Oval 28"/>
          <p:cNvSpPr/>
          <p:nvPr/>
        </p:nvSpPr>
        <p:spPr>
          <a:xfrm>
            <a:off x="8595360" y="1691640"/>
            <a:ext cx="128016" cy="128016"/>
          </a:xfrm>
          <a:prstGeom prst="ellipse">
            <a:avLst/>
          </a:prstGeom>
          <a:solidFill>
            <a:srgbClr val="F87171"/>
          </a:solidFill>
          <a:ln>
            <a:noFill/>
          </a:ln>
        </p:spPr>
        <p:txBody>
          <a:bodyPr rtlCol="0" anchor="ctr" wrap="square" tIns="36576" bIns="36576"/>
          <a:lstStyle/>
          <a:p>
            <a:pPr algn="ctr"/>
          </a:p>
        </p:txBody>
      </p:sp>
      <p:sp>
        <p:nvSpPr>
          <p:cNvPr id="30" name="Oval 29"/>
          <p:cNvSpPr/>
          <p:nvPr/>
        </p:nvSpPr>
        <p:spPr>
          <a:xfrm>
            <a:off x="8796528" y="1691640"/>
            <a:ext cx="128016" cy="128016"/>
          </a:xfrm>
          <a:prstGeom prst="ellipse">
            <a:avLst/>
          </a:prstGeom>
          <a:solidFill>
            <a:srgbClr val="FBBF24"/>
          </a:solidFill>
          <a:ln>
            <a:noFill/>
          </a:ln>
        </p:spPr>
        <p:txBody>
          <a:bodyPr rtlCol="0" anchor="ctr" wrap="square" tIns="36576" bIns="36576"/>
          <a:lstStyle/>
          <a:p>
            <a:pPr algn="ctr"/>
          </a:p>
        </p:txBody>
      </p:sp>
      <p:sp>
        <p:nvSpPr>
          <p:cNvPr id="31" name="Oval 30"/>
          <p:cNvSpPr/>
          <p:nvPr/>
        </p:nvSpPr>
        <p:spPr>
          <a:xfrm>
            <a:off x="8997696" y="1691640"/>
            <a:ext cx="128016" cy="128016"/>
          </a:xfrm>
          <a:prstGeom prst="ellipse">
            <a:avLst/>
          </a:prstGeom>
          <a:solidFill>
            <a:srgbClr val="34D399"/>
          </a:solidFill>
          <a:ln>
            <a:noFill/>
          </a:ln>
        </p:spPr>
        <p:txBody>
          <a:bodyPr rtlCol="0" anchor="ctr" wrap="square" tIns="36576" bIns="36576"/>
          <a:lstStyle/>
          <a:p>
            <a:pPr algn="ctr"/>
          </a:p>
        </p:txBody>
      </p:sp>
      <p:sp>
        <p:nvSpPr>
          <p:cNvPr id="32" name="TextBox 31"/>
          <p:cNvSpPr txBox="1"/>
          <p:nvPr/>
        </p:nvSpPr>
        <p:spPr>
          <a:xfrm>
            <a:off x="9235440" y="1572768"/>
            <a:ext cx="2286000" cy="365760"/>
          </a:xfrm>
          <a:prstGeom prst="rect">
            <a:avLst/>
          </a:prstGeom>
          <a:noFill/>
        </p:spPr>
        <p:txBody>
          <a:bodyPr wrap="square" lIns="36576" rIns="36576" tIns="18288" bIns="18288" anchor="ctr">
            <a:spAutoFit/>
          </a:bodyPr>
          <a:lstStyle/>
          <a:p>
            <a:pPr algn="l">
              <a:spcAft>
                <a:spcPts val="0"/>
              </a:spcAft>
            </a:pPr>
            <a:r>
              <a:rPr sz="1200" b="1">
                <a:solidFill>
                  <a:srgbClr val="374151"/>
                </a:solidFill>
                <a:latin typeface="맑은 고딕"/>
                <a:ea typeface="맑은 고딕"/>
                <a:cs typeface="맑은 고딕"/>
              </a:rPr>
              <a:t>시크릿 창 · 사용자 B</a:t>
            </a:r>
          </a:p>
        </p:txBody>
      </p:sp>
      <p:sp>
        <p:nvSpPr>
          <p:cNvPr id="33" name="TextBox 32"/>
          <p:cNvSpPr txBox="1"/>
          <p:nvPr/>
        </p:nvSpPr>
        <p:spPr>
          <a:xfrm>
            <a:off x="8686800" y="2194560"/>
            <a:ext cx="26517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② 매칭 신청</a:t>
            </a:r>
          </a:p>
        </p:txBody>
      </p:sp>
      <p:sp>
        <p:nvSpPr>
          <p:cNvPr id="34" name="Rounded Rectangle 33"/>
          <p:cNvSpPr/>
          <p:nvPr/>
        </p:nvSpPr>
        <p:spPr>
          <a:xfrm>
            <a:off x="8686800" y="2542032"/>
            <a:ext cx="2651760" cy="640080"/>
          </a:xfrm>
          <a:prstGeom prst="roundRect">
            <a:avLst>
              <a:gd name="adj" fmla="val 20000"/>
            </a:avLst>
          </a:prstGeom>
          <a:solidFill>
            <a:srgbClr val="EDE9FE"/>
          </a:solidFill>
          <a:ln w="12700">
            <a:solidFill>
              <a:srgbClr val="6D28D9"/>
            </a:solidFill>
          </a:ln>
        </p:spPr>
        <p:txBody>
          <a:bodyPr rtlCol="0" anchor="ctr" wrap="square" tIns="36576" bIns="36576"/>
          <a:lstStyle/>
          <a:p>
            <a:pPr algn="ctr">
              <a:spcAft>
                <a:spcPts val="0"/>
              </a:spcAft>
            </a:pPr>
            <a:r>
              <a:rPr sz="1800" b="1">
                <a:solidFill>
                  <a:srgbClr val="6D28D9"/>
                </a:solidFill>
                <a:latin typeface="Consolas"/>
                <a:ea typeface="Consolas"/>
                <a:cs typeface="Consolas"/>
              </a:rPr>
              <a:t>match 생성</a:t>
            </a:r>
          </a:p>
        </p:txBody>
      </p:sp>
      <p:sp>
        <p:nvSpPr>
          <p:cNvPr id="35" name="TextBox 34"/>
          <p:cNvSpPr txBox="1"/>
          <p:nvPr/>
        </p:nvSpPr>
        <p:spPr>
          <a:xfrm>
            <a:off x="8686800" y="3456432"/>
            <a:ext cx="2651760" cy="32004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③ 실시간 수신</a:t>
            </a:r>
          </a:p>
        </p:txBody>
      </p:sp>
      <p:sp>
        <p:nvSpPr>
          <p:cNvPr id="36" name="Rounded Rectangle 35"/>
          <p:cNvSpPr/>
          <p:nvPr/>
        </p:nvSpPr>
        <p:spPr>
          <a:xfrm>
            <a:off x="8686800" y="3803904"/>
            <a:ext cx="2651760" cy="640080"/>
          </a:xfrm>
          <a:prstGeom prst="roundRect">
            <a:avLst>
              <a:gd name="adj" fmla="val 20000"/>
            </a:avLst>
          </a:prstGeom>
          <a:solidFill>
            <a:srgbClr val="047857"/>
          </a:solidFill>
          <a:ln>
            <a:noFill/>
          </a:ln>
        </p:spPr>
        <p:txBody>
          <a:bodyPr rtlCol="0" anchor="ctr" wrap="square" tIns="36576" bIns="36576"/>
          <a:lstStyle/>
          <a:p>
            <a:pPr algn="ctr">
              <a:spcAft>
                <a:spcPts val="0"/>
              </a:spcAft>
            </a:pPr>
            <a:r>
              <a:rPr sz="1800" b="1">
                <a:solidFill>
                  <a:srgbClr val="FFFFFF"/>
                </a:solidFill>
                <a:latin typeface="Consolas"/>
                <a:ea typeface="Consolas"/>
                <a:cs typeface="Consolas"/>
              </a:rPr>
              <a:t>matched</a:t>
            </a:r>
          </a:p>
        </p:txBody>
      </p:sp>
      <p:sp>
        <p:nvSpPr>
          <p:cNvPr id="37" name="Can 36"/>
          <p:cNvSpPr/>
          <p:nvPr/>
        </p:nvSpPr>
        <p:spPr>
          <a:xfrm>
            <a:off x="7909560" y="5166360"/>
            <a:ext cx="1097280" cy="868680"/>
          </a:xfrm>
          <a:prstGeom prst="can">
            <a:avLst/>
          </a:prstGeom>
          <a:solidFill>
            <a:srgbClr val="E2E8F0"/>
          </a:solidFill>
          <a:ln w="12700">
            <a:solidFill>
              <a:srgbClr val="475569"/>
            </a:solidFill>
          </a:ln>
        </p:spPr>
        <p:txBody>
          <a:bodyPr rtlCol="0" anchor="ctr" wrap="square" tIns="36576" bIns="36576"/>
          <a:lstStyle/>
          <a:p>
            <a:pPr algn="ctr">
              <a:spcAft>
                <a:spcPts val="0"/>
              </a:spcAft>
            </a:pPr>
            <a:r>
              <a:rPr sz="1200" b="1">
                <a:solidFill>
                  <a:srgbClr val="1F2937"/>
                </a:solidFill>
                <a:latin typeface="맑은 고딕"/>
                <a:ea typeface="맑은 고딕"/>
                <a:cs typeface="맑은 고딕"/>
              </a:rPr>
              <a:t>Firebase</a:t>
            </a:r>
          </a:p>
        </p:txBody>
      </p:sp>
      <p:cxnSp>
        <p:nvCxnSpPr>
          <p:cNvPr id="38" name="Connector 37"/>
          <p:cNvCxnSpPr/>
          <p:nvPr/>
        </p:nvCxnSpPr>
        <p:spPr>
          <a:xfrm>
            <a:off x="6720840" y="4818888"/>
            <a:ext cx="1161287" cy="713232"/>
          </a:xfrm>
          <a:prstGeom prst="line">
            <a:avLst/>
          </a:prstGeom>
          <a:ln w="22225">
            <a:solidFill>
              <a:srgbClr val="475569"/>
            </a:solidFill>
            <a:round/>
            <a:headEnd type="triangle" w="med" len="med"/>
            <a:tailEnd type="triangle" w="med" len="med"/>
          </a:ln>
        </p:spPr>
      </p:cxnSp>
      <p:cxnSp>
        <p:nvCxnSpPr>
          <p:cNvPr id="39" name="Connector 38"/>
          <p:cNvCxnSpPr/>
          <p:nvPr/>
        </p:nvCxnSpPr>
        <p:spPr>
          <a:xfrm flipH="1">
            <a:off x="9034272" y="4818888"/>
            <a:ext cx="1161288" cy="713232"/>
          </a:xfrm>
          <a:prstGeom prst="line">
            <a:avLst/>
          </a:prstGeom>
          <a:ln w="22225">
            <a:solidFill>
              <a:srgbClr val="475569"/>
            </a:solidFill>
            <a:round/>
            <a:headEnd type="triangle" w="med" len="med"/>
            <a:tailEnd type="triangle" w="med" len="med"/>
          </a:ln>
        </p:spPr>
      </p:cxnSp>
      <p:sp>
        <p:nvSpPr>
          <p:cNvPr id="40" name="Rounded Rectangle 39"/>
          <p:cNvSpPr/>
          <p:nvPr/>
        </p:nvSpPr>
        <p:spPr>
          <a:xfrm>
            <a:off x="548640" y="5120640"/>
            <a:ext cx="4389120" cy="1051560"/>
          </a:xfrm>
          <a:prstGeom prst="roundRect">
            <a:avLst>
              <a:gd name="adj" fmla="val 6000"/>
            </a:avLst>
          </a:prstGeom>
          <a:solidFill>
            <a:srgbClr val="FFF7ED"/>
          </a:solidFill>
          <a:ln w="12700">
            <a:solidFill>
              <a:srgbClr val="FED7AA"/>
            </a:solidFill>
          </a:ln>
        </p:spPr>
        <p:txBody>
          <a:bodyPr rtlCol="0" anchor="ctr" wrap="square" tIns="36576" bIns="36576"/>
          <a:lstStyle/>
          <a:p>
            <a:pPr algn="ctr"/>
          </a:p>
        </p:txBody>
      </p:sp>
      <p:sp>
        <p:nvSpPr>
          <p:cNvPr id="41" name="Oval 40"/>
          <p:cNvSpPr/>
          <p:nvPr/>
        </p:nvSpPr>
        <p:spPr>
          <a:xfrm>
            <a:off x="731520" y="5257800"/>
            <a:ext cx="347472" cy="347472"/>
          </a:xfrm>
          <a:prstGeom prst="ellipse">
            <a:avLst/>
          </a:prstGeom>
          <a:solidFill>
            <a:srgbClr val="C2410C"/>
          </a:solidFill>
          <a:ln>
            <a:noFill/>
          </a:ln>
        </p:spPr>
        <p:txBody>
          <a:bodyPr rtlCol="0" anchor="ctr" wrap="square" lIns="0" rIns="0" tIns="36576" bIns="36576"/>
          <a:lstStyle/>
          <a:p>
            <a:pPr algn="ctr">
              <a:spcAft>
                <a:spcPts val="0"/>
              </a:spcAft>
            </a:pPr>
            <a:r>
              <a:rPr sz="1600" b="1">
                <a:solidFill>
                  <a:srgbClr val="FFFFFF"/>
                </a:solidFill>
                <a:latin typeface="맑은 고딕"/>
                <a:ea typeface="맑은 고딕"/>
                <a:cs typeface="맑은 고딕"/>
              </a:rPr>
              <a:t>!</a:t>
            </a:r>
          </a:p>
        </p:txBody>
      </p:sp>
      <p:sp>
        <p:nvSpPr>
          <p:cNvPr id="42" name="TextBox 41"/>
          <p:cNvSpPr txBox="1"/>
          <p:nvPr/>
        </p:nvSpPr>
        <p:spPr>
          <a:xfrm>
            <a:off x="1188720" y="5193792"/>
            <a:ext cx="3657600" cy="914400"/>
          </a:xfrm>
          <a:prstGeom prst="rect">
            <a:avLst/>
          </a:prstGeom>
          <a:noFill/>
        </p:spPr>
        <p:txBody>
          <a:bodyPr wrap="square" lIns="36576" rIns="36576" tIns="18288" bIns="18288" anchor="t">
            <a:spAutoFit/>
          </a:bodyPr>
          <a:lstStyle/>
          <a:p>
            <a:pPr algn="l">
              <a:spcAft>
                <a:spcPts val="200"/>
              </a:spcAft>
            </a:pPr>
            <a:r>
              <a:rPr sz="1500" b="1">
                <a:solidFill>
                  <a:srgbClr val="C2410C"/>
                </a:solidFill>
                <a:latin typeface="맑은 고딕"/>
                <a:ea typeface="맑은 고딕"/>
                <a:cs typeface="맑은 고딕"/>
              </a:rPr>
              <a:t>수업용 예제</a:t>
            </a:r>
          </a:p>
          <a:p>
            <a:pPr algn="l">
              <a:spcAft>
                <a:spcPts val="200"/>
              </a:spcAft>
            </a:pPr>
            <a:r>
              <a:rPr sz="1200" b="0">
                <a:solidFill>
                  <a:srgbClr val="1F2937"/>
                </a:solidFill>
                <a:latin typeface="맑은 고딕"/>
                <a:ea typeface="맑은 고딕"/>
                <a:cs typeface="맑은 고딕"/>
              </a:rPr>
              <a:t>상태 전환을 보여 주는 코드. 전용 게임 서버나 운영용 매칭 완성본이 아니다.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5 · 데모와 AI 활용</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AI로 구조 초안 검토하기</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19 / 22</a:t>
            </a:r>
          </a:p>
        </p:txBody>
      </p:sp>
      <p:sp>
        <p:nvSpPr>
          <p:cNvPr id="6" name="TextBox 5"/>
          <p:cNvSpPr txBox="1"/>
          <p:nvPr/>
        </p:nvSpPr>
        <p:spPr>
          <a:xfrm>
            <a:off x="548640" y="1508760"/>
            <a:ext cx="11064240" cy="914400"/>
          </a:xfrm>
          <a:prstGeom prst="rect">
            <a:avLst/>
          </a:prstGeom>
          <a:noFill/>
        </p:spPr>
        <p:txBody>
          <a:bodyPr wrap="square" lIns="36576" rIns="36576" tIns="18288" bIns="18288" anchor="t">
            <a:spAutoFit/>
          </a:bodyPr>
          <a:lstStyle/>
          <a:p>
            <a:pPr algn="l">
              <a:spcAft>
                <a:spcPts val="0"/>
              </a:spcAft>
            </a:pPr>
            <a:r>
              <a:rPr sz="2600" b="1">
                <a:solidFill>
                  <a:srgbClr val="1F2937"/>
                </a:solidFill>
                <a:latin typeface="맑은 고딕"/>
                <a:ea typeface="맑은 고딕"/>
                <a:cs typeface="맑은 고딕"/>
              </a:rPr>
              <a:t>AI에게 구조를 결정하게 하지 말고, </a:t>
            </a:r>
            <a:r>
              <a:rPr sz="2600" b="1">
                <a:solidFill>
                  <a:srgbClr val="2563EB"/>
                </a:solidFill>
                <a:latin typeface="맑은 고딕"/>
                <a:ea typeface="맑은 고딕"/>
                <a:cs typeface="맑은 고딕"/>
              </a:rPr>
              <a:t>빠진 질문을 찾게 한다.</a:t>
            </a:r>
          </a:p>
        </p:txBody>
      </p:sp>
      <p:sp>
        <p:nvSpPr>
          <p:cNvPr id="7" name="TextBox 6"/>
          <p:cNvSpPr txBox="1"/>
          <p:nvPr/>
        </p:nvSpPr>
        <p:spPr>
          <a:xfrm>
            <a:off x="548640" y="2514600"/>
            <a:ext cx="5029200" cy="365760"/>
          </a:xfrm>
          <a:prstGeom prst="rect">
            <a:avLst/>
          </a:prstGeom>
          <a:noFill/>
        </p:spPr>
        <p:txBody>
          <a:bodyPr wrap="square" lIns="36576" rIns="36576" tIns="18288" bIns="18288" anchor="t">
            <a:spAutoFit/>
          </a:bodyPr>
          <a:lstStyle/>
          <a:p>
            <a:pPr algn="l">
              <a:spcAft>
                <a:spcPts val="0"/>
              </a:spcAft>
            </a:pPr>
            <a:r>
              <a:rPr sz="1600" b="1">
                <a:solidFill>
                  <a:srgbClr val="1F2937"/>
                </a:solidFill>
                <a:latin typeface="맑은 고딕"/>
                <a:ea typeface="맑은 고딕"/>
                <a:cs typeface="맑은 고딕"/>
              </a:rPr>
              <a:t>요청에 포함할 5가지</a:t>
            </a:r>
          </a:p>
        </p:txBody>
      </p:sp>
      <p:sp>
        <p:nvSpPr>
          <p:cNvPr id="8" name="Oval 7"/>
          <p:cNvSpPr/>
          <p:nvPr/>
        </p:nvSpPr>
        <p:spPr>
          <a:xfrm>
            <a:off x="548640" y="2971800"/>
            <a:ext cx="411480" cy="411480"/>
          </a:xfrm>
          <a:prstGeom prst="ellipse">
            <a:avLst/>
          </a:prstGeom>
          <a:solidFill>
            <a:srgbClr val="EFF6FF"/>
          </a:solidFill>
          <a:ln>
            <a:noFill/>
          </a:ln>
        </p:spPr>
        <p:txBody>
          <a:bodyPr rtlCol="0" anchor="ctr" wrap="square" lIns="0" rIns="0" tIns="36576" bIns="36576"/>
          <a:lstStyle/>
          <a:p>
            <a:pPr algn="ctr">
              <a:spcAft>
                <a:spcPts val="0"/>
              </a:spcAft>
            </a:pPr>
            <a:r>
              <a:rPr sz="1300" b="1">
                <a:solidFill>
                  <a:srgbClr val="2563EB"/>
                </a:solidFill>
                <a:latin typeface="맑은 고딕"/>
                <a:ea typeface="맑은 고딕"/>
                <a:cs typeface="맑은 고딕"/>
              </a:rPr>
              <a:t>1</a:t>
            </a:r>
          </a:p>
        </p:txBody>
      </p:sp>
      <p:sp>
        <p:nvSpPr>
          <p:cNvPr id="9" name="TextBox 8"/>
          <p:cNvSpPr txBox="1"/>
          <p:nvPr/>
        </p:nvSpPr>
        <p:spPr>
          <a:xfrm>
            <a:off x="1143000" y="2935224"/>
            <a:ext cx="4389120" cy="475488"/>
          </a:xfrm>
          <a:prstGeom prst="rect">
            <a:avLst/>
          </a:prstGeom>
          <a:noFill/>
        </p:spPr>
        <p:txBody>
          <a:bodyPr wrap="square" lIns="36576" rIns="36576" tIns="18288" bIns="18288" anchor="ctr">
            <a:spAutoFit/>
          </a:bodyPr>
          <a:lstStyle/>
          <a:p>
            <a:pPr algn="l">
              <a:spcAft>
                <a:spcPts val="0"/>
              </a:spcAft>
            </a:pPr>
            <a:r>
              <a:rPr sz="1700" b="0">
                <a:solidFill>
                  <a:srgbClr val="1F2937"/>
                </a:solidFill>
                <a:latin typeface="맑은 고딕"/>
                <a:ea typeface="맑은 고딕"/>
                <a:cs typeface="맑은 고딕"/>
              </a:rPr>
              <a:t>경기 인원과 장르</a:t>
            </a:r>
          </a:p>
        </p:txBody>
      </p:sp>
      <p:sp>
        <p:nvSpPr>
          <p:cNvPr id="10" name="Oval 9"/>
          <p:cNvSpPr/>
          <p:nvPr/>
        </p:nvSpPr>
        <p:spPr>
          <a:xfrm>
            <a:off x="548640" y="3575304"/>
            <a:ext cx="411480" cy="411480"/>
          </a:xfrm>
          <a:prstGeom prst="ellipse">
            <a:avLst/>
          </a:prstGeom>
          <a:solidFill>
            <a:srgbClr val="EFF6FF"/>
          </a:solidFill>
          <a:ln>
            <a:noFill/>
          </a:ln>
        </p:spPr>
        <p:txBody>
          <a:bodyPr rtlCol="0" anchor="ctr" wrap="square" lIns="0" rIns="0" tIns="36576" bIns="36576"/>
          <a:lstStyle/>
          <a:p>
            <a:pPr algn="ctr">
              <a:spcAft>
                <a:spcPts val="0"/>
              </a:spcAft>
            </a:pPr>
            <a:r>
              <a:rPr sz="1300" b="1">
                <a:solidFill>
                  <a:srgbClr val="2563EB"/>
                </a:solidFill>
                <a:latin typeface="맑은 고딕"/>
                <a:ea typeface="맑은 고딕"/>
                <a:cs typeface="맑은 고딕"/>
              </a:rPr>
              <a:t>2</a:t>
            </a:r>
          </a:p>
        </p:txBody>
      </p:sp>
      <p:sp>
        <p:nvSpPr>
          <p:cNvPr id="11" name="TextBox 10"/>
          <p:cNvSpPr txBox="1"/>
          <p:nvPr/>
        </p:nvSpPr>
        <p:spPr>
          <a:xfrm>
            <a:off x="1143000" y="3538728"/>
            <a:ext cx="4389120" cy="475488"/>
          </a:xfrm>
          <a:prstGeom prst="rect">
            <a:avLst/>
          </a:prstGeom>
          <a:noFill/>
        </p:spPr>
        <p:txBody>
          <a:bodyPr wrap="square" lIns="36576" rIns="36576" tIns="18288" bIns="18288" anchor="ctr">
            <a:spAutoFit/>
          </a:bodyPr>
          <a:lstStyle/>
          <a:p>
            <a:pPr algn="l">
              <a:spcAft>
                <a:spcPts val="0"/>
              </a:spcAft>
            </a:pPr>
            <a:r>
              <a:rPr sz="1700" b="0">
                <a:solidFill>
                  <a:srgbClr val="1F2937"/>
                </a:solidFill>
                <a:latin typeface="맑은 고딕"/>
                <a:ea typeface="맑은 고딕"/>
                <a:cs typeface="맑은 고딕"/>
              </a:rPr>
              <a:t>서버별 책임</a:t>
            </a:r>
          </a:p>
        </p:txBody>
      </p:sp>
      <p:sp>
        <p:nvSpPr>
          <p:cNvPr id="12" name="Oval 11"/>
          <p:cNvSpPr/>
          <p:nvPr/>
        </p:nvSpPr>
        <p:spPr>
          <a:xfrm>
            <a:off x="548640" y="4178808"/>
            <a:ext cx="411480" cy="411480"/>
          </a:xfrm>
          <a:prstGeom prst="ellipse">
            <a:avLst/>
          </a:prstGeom>
          <a:solidFill>
            <a:srgbClr val="EFF6FF"/>
          </a:solidFill>
          <a:ln>
            <a:noFill/>
          </a:ln>
        </p:spPr>
        <p:txBody>
          <a:bodyPr rtlCol="0" anchor="ctr" wrap="square" lIns="0" rIns="0" tIns="36576" bIns="36576"/>
          <a:lstStyle/>
          <a:p>
            <a:pPr algn="ctr">
              <a:spcAft>
                <a:spcPts val="0"/>
              </a:spcAft>
            </a:pPr>
            <a:r>
              <a:rPr sz="1300" b="1">
                <a:solidFill>
                  <a:srgbClr val="2563EB"/>
                </a:solidFill>
                <a:latin typeface="맑은 고딕"/>
                <a:ea typeface="맑은 고딕"/>
                <a:cs typeface="맑은 고딕"/>
              </a:rPr>
              <a:t>3</a:t>
            </a:r>
          </a:p>
        </p:txBody>
      </p:sp>
      <p:sp>
        <p:nvSpPr>
          <p:cNvPr id="13" name="TextBox 12"/>
          <p:cNvSpPr txBox="1"/>
          <p:nvPr/>
        </p:nvSpPr>
        <p:spPr>
          <a:xfrm>
            <a:off x="1143000" y="4142232"/>
            <a:ext cx="4389120" cy="475488"/>
          </a:xfrm>
          <a:prstGeom prst="rect">
            <a:avLst/>
          </a:prstGeom>
          <a:noFill/>
        </p:spPr>
        <p:txBody>
          <a:bodyPr wrap="square" lIns="36576" rIns="36576" tIns="18288" bIns="18288" anchor="ctr">
            <a:spAutoFit/>
          </a:bodyPr>
          <a:lstStyle/>
          <a:p>
            <a:pPr algn="l">
              <a:spcAft>
                <a:spcPts val="0"/>
              </a:spcAft>
            </a:pPr>
            <a:r>
              <a:rPr sz="1700" b="0">
                <a:solidFill>
                  <a:srgbClr val="1F2937"/>
                </a:solidFill>
                <a:latin typeface="맑은 고딕"/>
                <a:ea typeface="맑은 고딕"/>
                <a:cs typeface="맑은 고딕"/>
              </a:rPr>
              <a:t>지속 저장 데이터 · 실시간 데이터</a:t>
            </a:r>
          </a:p>
        </p:txBody>
      </p:sp>
      <p:sp>
        <p:nvSpPr>
          <p:cNvPr id="14" name="Oval 13"/>
          <p:cNvSpPr/>
          <p:nvPr/>
        </p:nvSpPr>
        <p:spPr>
          <a:xfrm>
            <a:off x="548640" y="4782312"/>
            <a:ext cx="411480" cy="411480"/>
          </a:xfrm>
          <a:prstGeom prst="ellipse">
            <a:avLst/>
          </a:prstGeom>
          <a:solidFill>
            <a:srgbClr val="EFF6FF"/>
          </a:solidFill>
          <a:ln>
            <a:noFill/>
          </a:ln>
        </p:spPr>
        <p:txBody>
          <a:bodyPr rtlCol="0" anchor="ctr" wrap="square" lIns="0" rIns="0" tIns="36576" bIns="36576"/>
          <a:lstStyle/>
          <a:p>
            <a:pPr algn="ctr">
              <a:spcAft>
                <a:spcPts val="0"/>
              </a:spcAft>
            </a:pPr>
            <a:r>
              <a:rPr sz="1300" b="1">
                <a:solidFill>
                  <a:srgbClr val="2563EB"/>
                </a:solidFill>
                <a:latin typeface="맑은 고딕"/>
                <a:ea typeface="맑은 고딕"/>
                <a:cs typeface="맑은 고딕"/>
              </a:rPr>
              <a:t>4</a:t>
            </a:r>
          </a:p>
        </p:txBody>
      </p:sp>
      <p:sp>
        <p:nvSpPr>
          <p:cNvPr id="15" name="TextBox 14"/>
          <p:cNvSpPr txBox="1"/>
          <p:nvPr/>
        </p:nvSpPr>
        <p:spPr>
          <a:xfrm>
            <a:off x="1143000" y="4745736"/>
            <a:ext cx="4389120" cy="475488"/>
          </a:xfrm>
          <a:prstGeom prst="rect">
            <a:avLst/>
          </a:prstGeom>
          <a:noFill/>
        </p:spPr>
        <p:txBody>
          <a:bodyPr wrap="square" lIns="36576" rIns="36576" tIns="18288" bIns="18288" anchor="ctr">
            <a:spAutoFit/>
          </a:bodyPr>
          <a:lstStyle/>
          <a:p>
            <a:pPr algn="l">
              <a:spcAft>
                <a:spcPts val="0"/>
              </a:spcAft>
            </a:pPr>
            <a:r>
              <a:rPr sz="1700" b="0">
                <a:solidFill>
                  <a:srgbClr val="1F2937"/>
                </a:solidFill>
                <a:latin typeface="맑은 고딕"/>
                <a:ea typeface="맑은 고딕"/>
                <a:cs typeface="맑은 고딕"/>
              </a:rPr>
              <a:t>권한과 예외 상황</a:t>
            </a:r>
          </a:p>
        </p:txBody>
      </p:sp>
      <p:sp>
        <p:nvSpPr>
          <p:cNvPr id="16" name="Oval 15"/>
          <p:cNvSpPr/>
          <p:nvPr/>
        </p:nvSpPr>
        <p:spPr>
          <a:xfrm>
            <a:off x="548640" y="5385816"/>
            <a:ext cx="411480" cy="411480"/>
          </a:xfrm>
          <a:prstGeom prst="ellipse">
            <a:avLst/>
          </a:prstGeom>
          <a:solidFill>
            <a:srgbClr val="EFF6FF"/>
          </a:solidFill>
          <a:ln>
            <a:noFill/>
          </a:ln>
        </p:spPr>
        <p:txBody>
          <a:bodyPr rtlCol="0" anchor="ctr" wrap="square" lIns="0" rIns="0" tIns="36576" bIns="36576"/>
          <a:lstStyle/>
          <a:p>
            <a:pPr algn="ctr">
              <a:spcAft>
                <a:spcPts val="0"/>
              </a:spcAft>
            </a:pPr>
            <a:r>
              <a:rPr sz="1300" b="1">
                <a:solidFill>
                  <a:srgbClr val="2563EB"/>
                </a:solidFill>
                <a:latin typeface="맑은 고딕"/>
                <a:ea typeface="맑은 고딕"/>
                <a:cs typeface="맑은 고딕"/>
              </a:rPr>
              <a:t>5</a:t>
            </a:r>
          </a:p>
        </p:txBody>
      </p:sp>
      <p:sp>
        <p:nvSpPr>
          <p:cNvPr id="17" name="TextBox 16"/>
          <p:cNvSpPr txBox="1"/>
          <p:nvPr/>
        </p:nvSpPr>
        <p:spPr>
          <a:xfrm>
            <a:off x="1143000" y="5349240"/>
            <a:ext cx="4389120" cy="475488"/>
          </a:xfrm>
          <a:prstGeom prst="rect">
            <a:avLst/>
          </a:prstGeom>
          <a:noFill/>
        </p:spPr>
        <p:txBody>
          <a:bodyPr wrap="square" lIns="36576" rIns="36576" tIns="18288" bIns="18288" anchor="ctr">
            <a:spAutoFit/>
          </a:bodyPr>
          <a:lstStyle/>
          <a:p>
            <a:pPr algn="l">
              <a:spcAft>
                <a:spcPts val="0"/>
              </a:spcAft>
            </a:pPr>
            <a:r>
              <a:rPr sz="1700" b="0">
                <a:solidFill>
                  <a:srgbClr val="1F2937"/>
                </a:solidFill>
                <a:latin typeface="맑은 고딕"/>
                <a:ea typeface="맑은 고딕"/>
                <a:cs typeface="맑은 고딕"/>
              </a:rPr>
              <a:t>원하는 결과물 형식</a:t>
            </a:r>
          </a:p>
        </p:txBody>
      </p:sp>
      <p:sp>
        <p:nvSpPr>
          <p:cNvPr id="18" name="TextBox 17"/>
          <p:cNvSpPr txBox="1"/>
          <p:nvPr/>
        </p:nvSpPr>
        <p:spPr>
          <a:xfrm>
            <a:off x="6035040" y="2514600"/>
            <a:ext cx="5577840" cy="365760"/>
          </a:xfrm>
          <a:prstGeom prst="rect">
            <a:avLst/>
          </a:prstGeom>
          <a:noFill/>
        </p:spPr>
        <p:txBody>
          <a:bodyPr wrap="square" lIns="36576" rIns="36576" tIns="18288" bIns="18288" anchor="t">
            <a:spAutoFit/>
          </a:bodyPr>
          <a:lstStyle/>
          <a:p>
            <a:pPr algn="l">
              <a:spcAft>
                <a:spcPts val="0"/>
              </a:spcAft>
            </a:pPr>
            <a:r>
              <a:rPr sz="1600" b="1">
                <a:solidFill>
                  <a:srgbClr val="1F2937"/>
                </a:solidFill>
                <a:latin typeface="맑은 고딕"/>
                <a:ea typeface="맑은 고딕"/>
                <a:cs typeface="맑은 고딕"/>
              </a:rPr>
              <a:t>요청 예시</a:t>
            </a:r>
          </a:p>
        </p:txBody>
      </p:sp>
      <p:sp>
        <p:nvSpPr>
          <p:cNvPr id="19" name="Rounded Rectangle 18"/>
          <p:cNvSpPr/>
          <p:nvPr/>
        </p:nvSpPr>
        <p:spPr>
          <a:xfrm>
            <a:off x="6035040" y="2971800"/>
            <a:ext cx="5605272" cy="1783080"/>
          </a:xfrm>
          <a:prstGeom prst="roundRect">
            <a:avLst>
              <a:gd name="adj" fmla="val 4000"/>
            </a:avLst>
          </a:prstGeom>
          <a:solidFill>
            <a:srgbClr val="1E293B"/>
          </a:solidFill>
          <a:ln>
            <a:noFill/>
          </a:ln>
        </p:spPr>
        <p:txBody>
          <a:bodyPr rtlCol="0" anchor="t" wrap="square" lIns="274320" rIns="274320" tIns="36576" bIns="36576"/>
          <a:lstStyle/>
          <a:p>
            <a:pPr algn="l">
              <a:spcAft>
                <a:spcPts val="800"/>
              </a:spcAft>
            </a:pPr>
            <a:r>
              <a:rPr sz="1500" b="0">
                <a:solidFill>
                  <a:srgbClr val="E2E8F0"/>
                </a:solidFill>
                <a:latin typeface="맑은 고딕"/>
                <a:ea typeface="맑은 고딕"/>
                <a:cs typeface="맑은 고딕"/>
              </a:rPr>
              <a:t>4인 협동 디펜스 게임이다.</a:t>
            </a:r>
          </a:p>
          <a:p>
            <a:pPr algn="l">
              <a:spcAft>
                <a:spcPts val="800"/>
              </a:spcAft>
            </a:pPr>
            <a:r>
              <a:rPr sz="1500" b="0">
                <a:solidFill>
                  <a:srgbClr val="E2E8F0"/>
                </a:solidFill>
                <a:latin typeface="맑은 고딕"/>
                <a:ea typeface="맑은 고딕"/>
                <a:cs typeface="맑은 고딕"/>
              </a:rPr>
              <a:t>서버 책임표 · API 목록 · 매칭 상태 · 테스트 시나리오를 만들고</a:t>
            </a:r>
          </a:p>
          <a:p>
            <a:pPr algn="l">
              <a:spcAft>
                <a:spcPts val="800"/>
              </a:spcAft>
            </a:pPr>
            <a:r>
              <a:rPr sz="1500" b="1">
                <a:solidFill>
                  <a:srgbClr val="FCD34D"/>
                </a:solidFill>
                <a:latin typeface="맑은 고딕"/>
                <a:ea typeface="맑은 고딕"/>
                <a:cs typeface="맑은 고딕"/>
              </a:rPr>
              <a:t>네가 가정한 부분은 따로 표시해 줘.</a:t>
            </a:r>
          </a:p>
        </p:txBody>
      </p:sp>
      <p:sp>
        <p:nvSpPr>
          <p:cNvPr id="20" name="TextBox 19"/>
          <p:cNvSpPr txBox="1"/>
          <p:nvPr/>
        </p:nvSpPr>
        <p:spPr>
          <a:xfrm>
            <a:off x="6035040" y="4983480"/>
            <a:ext cx="5577840" cy="731520"/>
          </a:xfrm>
          <a:prstGeom prst="rect">
            <a:avLst/>
          </a:prstGeom>
          <a:noFill/>
        </p:spPr>
        <p:txBody>
          <a:bodyPr wrap="square" lIns="36576" rIns="36576" tIns="18288" bIns="18288" anchor="t">
            <a:spAutoFit/>
          </a:bodyPr>
          <a:lstStyle/>
          <a:p>
            <a:pPr algn="l">
              <a:spcAft>
                <a:spcPts val="0"/>
              </a:spcAft>
            </a:pPr>
            <a:r>
              <a:rPr sz="1500" b="1">
                <a:solidFill>
                  <a:srgbClr val="2563EB"/>
                </a:solidFill>
                <a:latin typeface="맑은 고딕"/>
                <a:ea typeface="맑은 고딕"/>
                <a:cs typeface="맑은 고딕"/>
              </a:rPr>
              <a:t>→ </a:t>
            </a:r>
            <a:r>
              <a:rPr sz="1500" b="0">
                <a:solidFill>
                  <a:srgbClr val="1F2937"/>
                </a:solidFill>
                <a:latin typeface="맑은 고딕"/>
                <a:ea typeface="맑은 고딕"/>
                <a:cs typeface="맑은 고딕"/>
              </a:rPr>
              <a:t>답은 정답이 아니라 </a:t>
            </a:r>
            <a:r>
              <a:rPr sz="1500" b="1">
                <a:solidFill>
                  <a:srgbClr val="1F2937"/>
                </a:solidFill>
                <a:latin typeface="맑은 고딕"/>
                <a:ea typeface="맑은 고딕"/>
                <a:cs typeface="맑은 고딕"/>
              </a:rPr>
              <a:t>팀 검토의 시작점</a:t>
            </a:r>
            <a:r>
              <a:rPr sz="1500" b="0">
                <a:solidFill>
                  <a:srgbClr val="1F2937"/>
                </a:solidFill>
                <a:latin typeface="맑은 고딕"/>
                <a:ea typeface="맑은 고딕"/>
                <a:cs typeface="맑은 고딕"/>
              </a:rPr>
              <a:t>으로 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PART 5 · 데모와 AI 활용</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AI 답변 검증</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20 / 22</a:t>
            </a:r>
          </a:p>
        </p:txBody>
      </p:sp>
      <p:graphicFrame>
        <p:nvGraphicFramePr>
          <p:cNvPr id="6" name="Table 5"/>
          <p:cNvGraphicFramePr>
            <a:graphicFrameLocks noGrp="1"/>
          </p:cNvGraphicFramePr>
          <p:nvPr/>
        </p:nvGraphicFramePr>
        <p:xfrm>
          <a:off x="548640" y="1600200"/>
          <a:ext cx="6949440" cy="3566160"/>
        </p:xfrm>
        <a:graphic>
          <a:graphicData uri="http://schemas.openxmlformats.org/drawingml/2006/table">
            <a:tbl>
              <a:tblPr firstRow="1">
                <a:tableStyleId>{5C22544A-7EE6-4342-B048-85BDC9FD1C3A}</a:tableStyleId>
              </a:tblPr>
              <a:tblGrid>
                <a:gridCol w="2194560"/>
                <a:gridCol w="4754880"/>
              </a:tblGrid>
              <a:tr h="457200">
                <a:tc>
                  <a:txBody>
                    <a:bodyPr wrap="square"/>
                    <a:lstStyle/>
                    <a:p>
                      <a:pPr algn="l">
                        <a:spcAft>
                          <a:spcPts val="0"/>
                        </a:spcAft>
                      </a:pPr>
                      <a:r>
                        <a:rPr sz="1400" b="1">
                          <a:solidFill>
                            <a:srgbClr val="FFFFFF"/>
                          </a:solidFill>
                          <a:latin typeface="맑은 고딕"/>
                          <a:ea typeface="맑은 고딕"/>
                          <a:cs typeface="맑은 고딕"/>
                        </a:rPr>
                        <a:t>확인할 것</a:t>
                      </a:r>
                    </a:p>
                  </a:txBody>
                  <a:tcPr marL="128016" marR="128016" marT="36576" marB="36576" anchor="ctr">
                    <a:solidFill>
                      <a:srgbClr val="1F2937"/>
                    </a:solidFill>
                  </a:tcPr>
                </a:tc>
                <a:tc>
                  <a:txBody>
                    <a:bodyPr wrap="square"/>
                    <a:lstStyle/>
                    <a:p>
                      <a:pPr algn="l">
                        <a:spcAft>
                          <a:spcPts val="0"/>
                        </a:spcAft>
                      </a:pPr>
                      <a:r>
                        <a:rPr sz="1400" b="1">
                          <a:solidFill>
                            <a:srgbClr val="FFFFFF"/>
                          </a:solidFill>
                          <a:latin typeface="맑은 고딕"/>
                          <a:ea typeface="맑은 고딕"/>
                          <a:cs typeface="맑은 고딕"/>
                        </a:rPr>
                        <a:t>검증 방법</a:t>
                      </a:r>
                    </a:p>
                  </a:txBody>
                  <a:tcPr marL="128016" marR="128016" marT="36576" marB="36576" anchor="ctr">
                    <a:solidFill>
                      <a:srgbClr val="1F2937"/>
                    </a:solidFill>
                  </a:tcPr>
                </a:tc>
              </a:tr>
              <a:tr h="777240">
                <a:tc>
                  <a:txBody>
                    <a:bodyPr wrap="square"/>
                    <a:lstStyle/>
                    <a:p>
                      <a:pPr algn="l">
                        <a:spcAft>
                          <a:spcPts val="0"/>
                        </a:spcAft>
                      </a:pPr>
                      <a:r>
                        <a:rPr sz="1500" b="1">
                          <a:solidFill>
                            <a:srgbClr val="1F2937"/>
                          </a:solidFill>
                          <a:latin typeface="맑은 고딕"/>
                          <a:ea typeface="맑은 고딕"/>
                          <a:cs typeface="맑은 고딕"/>
                        </a:rPr>
                        <a:t>서버 책임</a:t>
                      </a:r>
                    </a:p>
                  </a:txBody>
                  <a:tcPr marL="128016" marR="128016" marT="36576" marB="36576" anchor="ctr">
                    <a:solidFill>
                      <a:srgbClr val="FFFFFF"/>
                    </a:solidFill>
                  </a:tcPr>
                </a:tc>
                <a:tc>
                  <a:txBody>
                    <a:bodyPr wrap="square"/>
                    <a:lstStyle/>
                    <a:p>
                      <a:pPr algn="l">
                        <a:spcAft>
                          <a:spcPts val="0"/>
                        </a:spcAft>
                      </a:pPr>
                      <a:r>
                        <a:rPr sz="1500" b="0">
                          <a:solidFill>
                            <a:srgbClr val="1F2937"/>
                          </a:solidFill>
                          <a:latin typeface="맑은 고딕"/>
                          <a:ea typeface="맑은 고딕"/>
                          <a:cs typeface="맑은 고딕"/>
                        </a:rPr>
                        <a:t>우리 실제 기획 · 구조와 대조한다</a:t>
                      </a:r>
                    </a:p>
                  </a:txBody>
                  <a:tcPr marL="128016" marR="128016" marT="36576" marB="36576" anchor="ctr">
                    <a:solidFill>
                      <a:srgbClr val="FFFFFF"/>
                    </a:solidFill>
                  </a:tcPr>
                </a:tc>
              </a:tr>
              <a:tr h="777240">
                <a:tc>
                  <a:txBody>
                    <a:bodyPr wrap="square"/>
                    <a:lstStyle/>
                    <a:p>
                      <a:pPr algn="l">
                        <a:spcAft>
                          <a:spcPts val="0"/>
                        </a:spcAft>
                      </a:pPr>
                      <a:r>
                        <a:rPr sz="1500" b="1">
                          <a:solidFill>
                            <a:srgbClr val="1F2937"/>
                          </a:solidFill>
                          <a:latin typeface="맑은 고딕"/>
                          <a:ea typeface="맑은 고딕"/>
                          <a:cs typeface="맑은 고딕"/>
                        </a:rPr>
                        <a:t>기술 기능</a:t>
                      </a:r>
                    </a:p>
                  </a:txBody>
                  <a:tcPr marL="128016" marR="128016" marT="36576" marB="36576" anchor="ctr">
                    <a:solidFill>
                      <a:srgbClr val="F3F4F6"/>
                    </a:solidFill>
                  </a:tcPr>
                </a:tc>
                <a:tc>
                  <a:txBody>
                    <a:bodyPr wrap="square"/>
                    <a:lstStyle/>
                    <a:p>
                      <a:pPr algn="l">
                        <a:spcAft>
                          <a:spcPts val="0"/>
                        </a:spcAft>
                      </a:pPr>
                      <a:r>
                        <a:rPr sz="1500" b="0">
                          <a:solidFill>
                            <a:srgbClr val="1F2937"/>
                          </a:solidFill>
                          <a:latin typeface="맑은 고딕"/>
                          <a:ea typeface="맑은 고딕"/>
                          <a:cs typeface="맑은 고딕"/>
                        </a:rPr>
                        <a:t>공식 문서와 실제 실행으로 확인한다 (기능 · 요금은 자주 바뀐다)</a:t>
                      </a:r>
                    </a:p>
                  </a:txBody>
                  <a:tcPr marL="128016" marR="128016" marT="36576" marB="36576" anchor="ctr">
                    <a:solidFill>
                      <a:srgbClr val="F3F4F6"/>
                    </a:solidFill>
                  </a:tcPr>
                </a:tc>
              </a:tr>
              <a:tr h="777240">
                <a:tc>
                  <a:txBody>
                    <a:bodyPr wrap="square"/>
                    <a:lstStyle/>
                    <a:p>
                      <a:pPr algn="l">
                        <a:spcAft>
                          <a:spcPts val="0"/>
                        </a:spcAft>
                      </a:pPr>
                      <a:r>
                        <a:rPr sz="1500" b="1">
                          <a:solidFill>
                            <a:srgbClr val="1F2937"/>
                          </a:solidFill>
                          <a:latin typeface="맑은 고딕"/>
                          <a:ea typeface="맑은 고딕"/>
                          <a:cs typeface="맑은 고딕"/>
                        </a:rPr>
                        <a:t>권한 · 보안</a:t>
                      </a:r>
                    </a:p>
                  </a:txBody>
                  <a:tcPr marL="128016" marR="128016" marT="36576" marB="36576" anchor="ctr">
                    <a:solidFill>
                      <a:srgbClr val="FFFFFF"/>
                    </a:solidFill>
                  </a:tcPr>
                </a:tc>
                <a:tc>
                  <a:txBody>
                    <a:bodyPr wrap="square"/>
                    <a:lstStyle/>
                    <a:p>
                      <a:pPr algn="l">
                        <a:spcAft>
                          <a:spcPts val="0"/>
                        </a:spcAft>
                      </a:pPr>
                      <a:r>
                        <a:rPr sz="1500" b="0">
                          <a:solidFill>
                            <a:srgbClr val="1F2937"/>
                          </a:solidFill>
                          <a:latin typeface="맑은 고딕"/>
                          <a:ea typeface="맑은 고딕"/>
                          <a:cs typeface="맑은 고딕"/>
                        </a:rPr>
                        <a:t>규칙을 만들고, 다른 사용자 데이터를 직접 써 본다</a:t>
                      </a:r>
                    </a:p>
                  </a:txBody>
                  <a:tcPr marL="128016" marR="128016" marT="36576" marB="36576" anchor="ctr">
                    <a:solidFill>
                      <a:srgbClr val="FFFFFF"/>
                    </a:solidFill>
                  </a:tcPr>
                </a:tc>
              </a:tr>
              <a:tr h="777240">
                <a:tc>
                  <a:txBody>
                    <a:bodyPr wrap="square"/>
                    <a:lstStyle/>
                    <a:p>
                      <a:pPr algn="l">
                        <a:spcAft>
                          <a:spcPts val="0"/>
                        </a:spcAft>
                      </a:pPr>
                      <a:r>
                        <a:rPr sz="1500" b="1">
                          <a:solidFill>
                            <a:srgbClr val="1F2937"/>
                          </a:solidFill>
                          <a:latin typeface="맑은 고딕"/>
                          <a:ea typeface="맑은 고딕"/>
                          <a:cs typeface="맑은 고딕"/>
                        </a:rPr>
                        <a:t>예외 처리</a:t>
                      </a:r>
                    </a:p>
                  </a:txBody>
                  <a:tcPr marL="128016" marR="128016" marT="36576" marB="36576" anchor="ctr">
                    <a:solidFill>
                      <a:srgbClr val="F3F4F6"/>
                    </a:solidFill>
                  </a:tcPr>
                </a:tc>
                <a:tc>
                  <a:txBody>
                    <a:bodyPr wrap="square"/>
                    <a:lstStyle/>
                    <a:p>
                      <a:pPr algn="l">
                        <a:spcAft>
                          <a:spcPts val="0"/>
                        </a:spcAft>
                      </a:pPr>
                      <a:r>
                        <a:rPr sz="1500" b="0">
                          <a:solidFill>
                            <a:srgbClr val="1F2937"/>
                          </a:solidFill>
                          <a:latin typeface="맑은 고딕"/>
                          <a:ea typeface="맑은 고딕"/>
                          <a:cs typeface="맑은 고딕"/>
                        </a:rPr>
                        <a:t>취소 · 이탈 · 재접속을 실제로 테스트한다</a:t>
                      </a:r>
                    </a:p>
                  </a:txBody>
                  <a:tcPr marL="128016" marR="128016" marT="36576" marB="36576" anchor="ctr">
                    <a:solidFill>
                      <a:srgbClr val="F3F4F6"/>
                    </a:solidFill>
                  </a:tcPr>
                </a:tc>
              </a:tr>
            </a:tbl>
          </a:graphicData>
        </a:graphic>
      </p:graphicFrame>
      <p:sp>
        <p:nvSpPr>
          <p:cNvPr id="7" name="Rounded Rectangle 6"/>
          <p:cNvSpPr/>
          <p:nvPr/>
        </p:nvSpPr>
        <p:spPr>
          <a:xfrm>
            <a:off x="7772400" y="1600200"/>
            <a:ext cx="3867912" cy="3566160"/>
          </a:xfrm>
          <a:prstGeom prst="roundRect">
            <a:avLst>
              <a:gd name="adj" fmla="val 5000"/>
            </a:avLst>
          </a:prstGeom>
          <a:solidFill>
            <a:srgbClr val="0F172A"/>
          </a:solidFill>
          <a:ln>
            <a:noFill/>
          </a:ln>
        </p:spPr>
        <p:txBody>
          <a:bodyPr rtlCol="0" anchor="ctr" wrap="square" tIns="36576" bIns="36576"/>
          <a:lstStyle/>
          <a:p>
            <a:pPr algn="ctr"/>
          </a:p>
        </p:txBody>
      </p:sp>
      <p:sp>
        <p:nvSpPr>
          <p:cNvPr id="8" name="TextBox 7"/>
          <p:cNvSpPr txBox="1"/>
          <p:nvPr/>
        </p:nvSpPr>
        <p:spPr>
          <a:xfrm>
            <a:off x="8046720" y="1783080"/>
            <a:ext cx="3383280" cy="320040"/>
          </a:xfrm>
          <a:prstGeom prst="rect">
            <a:avLst/>
          </a:prstGeom>
          <a:noFill/>
        </p:spPr>
        <p:txBody>
          <a:bodyPr wrap="square" lIns="36576" rIns="36576" tIns="18288" bIns="18288" anchor="t">
            <a:spAutoFit/>
          </a:bodyPr>
          <a:lstStyle/>
          <a:p>
            <a:pPr algn="l">
              <a:spcAft>
                <a:spcPts val="0"/>
              </a:spcAft>
            </a:pPr>
            <a:r>
              <a:rPr sz="1300" b="1">
                <a:solidFill>
                  <a:srgbClr val="FCD34D"/>
                </a:solidFill>
                <a:latin typeface="맑은 고딕"/>
                <a:ea typeface="맑은 고딕"/>
                <a:cs typeface="맑은 고딕"/>
              </a:rPr>
              <a:t>특히 조심할 문장</a:t>
            </a:r>
          </a:p>
        </p:txBody>
      </p:sp>
      <p:sp>
        <p:nvSpPr>
          <p:cNvPr id="9" name="TextBox 8"/>
          <p:cNvSpPr txBox="1"/>
          <p:nvPr/>
        </p:nvSpPr>
        <p:spPr>
          <a:xfrm>
            <a:off x="8046720" y="2148840"/>
            <a:ext cx="3383280" cy="640080"/>
          </a:xfrm>
          <a:prstGeom prst="rect">
            <a:avLst/>
          </a:prstGeom>
          <a:noFill/>
        </p:spPr>
        <p:txBody>
          <a:bodyPr wrap="square" lIns="36576" rIns="36576" tIns="18288" bIns="18288" anchor="t">
            <a:spAutoFit/>
          </a:bodyPr>
          <a:lstStyle/>
          <a:p>
            <a:pPr algn="l">
              <a:spcAft>
                <a:spcPts val="0"/>
              </a:spcAft>
            </a:pPr>
            <a:r>
              <a:rPr sz="2600" b="1">
                <a:solidFill>
                  <a:srgbClr val="FFFFFF"/>
                </a:solidFill>
                <a:latin typeface="맑은 고딕"/>
                <a:ea typeface="맑은 고딕"/>
                <a:cs typeface="맑은 고딕"/>
              </a:rPr>
              <a:t>“서버가 판정한다”</a:t>
            </a:r>
          </a:p>
        </p:txBody>
      </p:sp>
      <p:sp>
        <p:nvSpPr>
          <p:cNvPr id="10" name="TextBox 9"/>
          <p:cNvSpPr txBox="1"/>
          <p:nvPr/>
        </p:nvSpPr>
        <p:spPr>
          <a:xfrm>
            <a:off x="8046720" y="2926080"/>
            <a:ext cx="3383280" cy="640080"/>
          </a:xfrm>
          <a:prstGeom prst="rect">
            <a:avLst/>
          </a:prstGeom>
          <a:noFill/>
        </p:spPr>
        <p:txBody>
          <a:bodyPr wrap="square" lIns="36576" rIns="36576" tIns="18288" bIns="18288" anchor="t">
            <a:spAutoFit/>
          </a:bodyPr>
          <a:lstStyle/>
          <a:p>
            <a:pPr algn="l">
              <a:spcAft>
                <a:spcPts val="0"/>
              </a:spcAft>
            </a:pPr>
            <a:r>
              <a:rPr sz="1600" b="1">
                <a:solidFill>
                  <a:srgbClr val="E2E8F0"/>
                </a:solidFill>
                <a:latin typeface="맑은 고딕"/>
                <a:ea typeface="맑은 고딕"/>
                <a:cs typeface="맑은 고딕"/>
              </a:rPr>
              <a:t>→ 실제 권한 주체가 누구인지 다시 묻는다</a:t>
            </a:r>
          </a:p>
        </p:txBody>
      </p:sp>
      <p:sp>
        <p:nvSpPr>
          <p:cNvPr id="11" name="TextBox 10"/>
          <p:cNvSpPr txBox="1"/>
          <p:nvPr/>
        </p:nvSpPr>
        <p:spPr>
          <a:xfrm>
            <a:off x="8046720" y="3703320"/>
            <a:ext cx="3383280" cy="1280160"/>
          </a:xfrm>
          <a:prstGeom prst="rect">
            <a:avLst/>
          </a:prstGeom>
          <a:noFill/>
        </p:spPr>
        <p:txBody>
          <a:bodyPr wrap="square" lIns="36576" rIns="36576" tIns="18288" bIns="18288" anchor="t">
            <a:spAutoFit/>
          </a:bodyPr>
          <a:lstStyle/>
          <a:p>
            <a:pPr algn="l">
              <a:spcAft>
                <a:spcPts val="0"/>
              </a:spcAft>
            </a:pPr>
            <a:r>
              <a:rPr sz="1300" b="0">
                <a:solidFill>
                  <a:srgbClr val="94A3B8"/>
                </a:solidFill>
                <a:latin typeface="맑은 고딕"/>
                <a:ea typeface="맑은 고딕"/>
                <a:cs typeface="맑은 고딕"/>
              </a:rPr>
              <a:t>릴레이 서버를 쓰면서 ‘서버가 판정한다’고 적힌 설계가 의외로 많다. 메시지가 서버를 지나간다고 서버가 판정하는 것은 아니다.</a:t>
            </a:r>
          </a:p>
        </p:txBody>
      </p:sp>
      <p:sp>
        <p:nvSpPr>
          <p:cNvPr id="12" name="TextBox 11"/>
          <p:cNvSpPr txBox="1"/>
          <p:nvPr/>
        </p:nvSpPr>
        <p:spPr>
          <a:xfrm>
            <a:off x="548640" y="5532120"/>
            <a:ext cx="11091672" cy="548640"/>
          </a:xfrm>
          <a:prstGeom prst="rect">
            <a:avLst/>
          </a:prstGeom>
          <a:noFill/>
        </p:spPr>
        <p:txBody>
          <a:bodyPr wrap="square" lIns="36576" rIns="36576" tIns="18288" bIns="18288" anchor="t">
            <a:spAutoFit/>
          </a:bodyPr>
          <a:lstStyle/>
          <a:p>
            <a:pPr algn="l">
              <a:spcAft>
                <a:spcPts val="0"/>
              </a:spcAft>
            </a:pPr>
            <a:r>
              <a:rPr sz="1500" b="0">
                <a:solidFill>
                  <a:srgbClr val="6B7280"/>
                </a:solidFill>
                <a:latin typeface="맑은 고딕"/>
                <a:ea typeface="맑은 고딕"/>
                <a:cs typeface="맑은 고딕"/>
              </a:rPr>
              <a:t>TCP · UDP · Firebase · Photon에 대한 AI 설명은 제품 문서와 실제 실행으로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36576" rIns="36576" tIns="18288" bIns="18288" anchor="t">
            <a:spAutoFit/>
          </a:bodyPr>
          <a:lstStyle/>
          <a:p>
            <a:pPr algn="l">
              <a:spcAft>
                <a:spcPts val="0"/>
              </a:spcAft>
            </a:pPr>
            <a:r>
              <a:rPr sz="1200" b="1">
                <a:solidFill>
                  <a:srgbClr val="2563EB"/>
                </a:solidFill>
                <a:latin typeface="맑은 고딕"/>
                <a:ea typeface="맑은 고딕"/>
                <a:cs typeface="맑은 고딕"/>
              </a:rPr>
              <a:t>정리</a:t>
            </a:r>
          </a:p>
        </p:txBody>
      </p:sp>
      <p:sp>
        <p:nvSpPr>
          <p:cNvPr id="3" name="TextBox 2"/>
          <p:cNvSpPr txBox="1"/>
          <p:nvPr/>
        </p:nvSpPr>
        <p:spPr>
          <a:xfrm>
            <a:off x="548640" y="603504"/>
            <a:ext cx="11064240" cy="685800"/>
          </a:xfrm>
          <a:prstGeom prst="rect">
            <a:avLst/>
          </a:prstGeom>
          <a:noFill/>
        </p:spPr>
        <p:txBody>
          <a:bodyPr wrap="square" lIns="36576" rIns="36576" tIns="18288" bIns="18288" anchor="t">
            <a:spAutoFit/>
          </a:bodyPr>
          <a:lstStyle/>
          <a:p>
            <a:pPr algn="l">
              <a:spcAft>
                <a:spcPts val="0"/>
              </a:spcAft>
            </a:pPr>
            <a:r>
              <a:rPr sz="2800" b="1">
                <a:solidFill>
                  <a:srgbClr val="1F2937"/>
                </a:solidFill>
                <a:latin typeface="맑은 고딕"/>
                <a:ea typeface="맑은 고딕"/>
                <a:cs typeface="맑은 고딕"/>
              </a:rPr>
              <a:t>설계 순서 6단계</a:t>
            </a:r>
          </a:p>
        </p:txBody>
      </p:sp>
      <p:sp>
        <p:nvSpPr>
          <p:cNvPr id="4" name="TextBox 3"/>
          <p:cNvSpPr txBox="1"/>
          <p:nvPr/>
        </p:nvSpPr>
        <p:spPr>
          <a:xfrm>
            <a:off x="548640" y="6419088"/>
            <a:ext cx="6400800" cy="274320"/>
          </a:xfrm>
          <a:prstGeom prst="rect">
            <a:avLst/>
          </a:prstGeom>
          <a:noFill/>
        </p:spPr>
        <p:txBody>
          <a:bodyPr wrap="square" lIns="36576" rIns="36576" tIns="18288" bIns="18288" anchor="t">
            <a:spAutoFit/>
          </a:bodyPr>
          <a:lstStyle/>
          <a:p>
            <a:pPr algn="l">
              <a:spcAft>
                <a:spcPts val="0"/>
              </a:spcAft>
            </a:pPr>
            <a:r>
              <a:rPr sz="1000" b="0">
                <a:solidFill>
                  <a:srgbClr val="6B7280"/>
                </a:solidFill>
                <a:latin typeface="맑은 고딕"/>
                <a:ea typeface="맑은 고딕"/>
                <a:cs typeface="맑은 고딕"/>
              </a:rPr>
              <a:t>Level 9 · 클라이언트 서버 통신과 멀티플레이</a:t>
            </a:r>
          </a:p>
        </p:txBody>
      </p:sp>
      <p:sp>
        <p:nvSpPr>
          <p:cNvPr id="5" name="TextBox 4"/>
          <p:cNvSpPr txBox="1"/>
          <p:nvPr/>
        </p:nvSpPr>
        <p:spPr>
          <a:xfrm>
            <a:off x="10424160" y="6419088"/>
            <a:ext cx="1216152" cy="274320"/>
          </a:xfrm>
          <a:prstGeom prst="rect">
            <a:avLst/>
          </a:prstGeom>
          <a:noFill/>
        </p:spPr>
        <p:txBody>
          <a:bodyPr wrap="square" lIns="36576" rIns="36576" tIns="18288" bIns="18288" anchor="t">
            <a:spAutoFit/>
          </a:bodyPr>
          <a:lstStyle/>
          <a:p>
            <a:pPr algn="r">
              <a:spcAft>
                <a:spcPts val="0"/>
              </a:spcAft>
            </a:pPr>
            <a:r>
              <a:rPr sz="1000" b="0">
                <a:solidFill>
                  <a:srgbClr val="6B7280"/>
                </a:solidFill>
                <a:latin typeface="맑은 고딕"/>
                <a:ea typeface="맑은 고딕"/>
                <a:cs typeface="맑은 고딕"/>
              </a:rPr>
              <a:t>21 / 22</a:t>
            </a:r>
          </a:p>
        </p:txBody>
      </p:sp>
      <p:sp>
        <p:nvSpPr>
          <p:cNvPr id="6" name="Rounded Rectangle 5"/>
          <p:cNvSpPr/>
          <p:nvPr/>
        </p:nvSpPr>
        <p:spPr>
          <a:xfrm>
            <a:off x="9829800" y="365760"/>
            <a:ext cx="1810512" cy="329184"/>
          </a:xfrm>
          <a:prstGeom prst="roundRect">
            <a:avLst>
              <a:gd name="adj" fmla="val 50000"/>
            </a:avLst>
          </a:prstGeom>
          <a:solidFill>
            <a:srgbClr val="EFF6FF"/>
          </a:solidFill>
          <a:ln w="9525">
            <a:solidFill>
              <a:srgbClr val="2563EB"/>
            </a:solidFill>
          </a:ln>
        </p:spPr>
        <p:txBody>
          <a:bodyPr rtlCol="0" anchor="ctr" wrap="square" tIns="36576" bIns="36576"/>
          <a:lstStyle/>
          <a:p>
            <a:pPr algn="ctr">
              <a:spcAft>
                <a:spcPts val="0"/>
              </a:spcAft>
            </a:pPr>
            <a:r>
              <a:rPr sz="1100" b="1">
                <a:solidFill>
                  <a:srgbClr val="2563EB"/>
                </a:solidFill>
                <a:latin typeface="맑은 고딕"/>
                <a:ea typeface="맑은 고딕"/>
                <a:cs typeface="맑은 고딕"/>
              </a:rPr>
              <a:t>핸드아웃 §6</a:t>
            </a:r>
          </a:p>
        </p:txBody>
      </p:sp>
      <p:sp>
        <p:nvSpPr>
          <p:cNvPr id="7" name="Rounded Rectangle 6"/>
          <p:cNvSpPr/>
          <p:nvPr/>
        </p:nvSpPr>
        <p:spPr>
          <a:xfrm>
            <a:off x="548640" y="1554480"/>
            <a:ext cx="3520440" cy="192024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8" name="TextBox 7"/>
          <p:cNvSpPr txBox="1"/>
          <p:nvPr/>
        </p:nvSpPr>
        <p:spPr>
          <a:xfrm>
            <a:off x="777240" y="1691639"/>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1</a:t>
            </a:r>
          </a:p>
        </p:txBody>
      </p:sp>
      <p:sp>
        <p:nvSpPr>
          <p:cNvPr id="9" name="TextBox 8"/>
          <p:cNvSpPr txBox="1"/>
          <p:nvPr/>
        </p:nvSpPr>
        <p:spPr>
          <a:xfrm>
            <a:off x="777240" y="228600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인원 · 장르 · 지연 민감 행동</a:t>
            </a:r>
          </a:p>
        </p:txBody>
      </p:sp>
      <p:sp>
        <p:nvSpPr>
          <p:cNvPr id="10" name="TextBox 9"/>
          <p:cNvSpPr txBox="1"/>
          <p:nvPr/>
        </p:nvSpPr>
        <p:spPr>
          <a:xfrm>
            <a:off x="777240" y="274320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몇 명? 0.1초에 민감한 행동은?</a:t>
            </a:r>
          </a:p>
        </p:txBody>
      </p:sp>
      <p:sp>
        <p:nvSpPr>
          <p:cNvPr id="11" name="Rounded Rectangle 10"/>
          <p:cNvSpPr/>
          <p:nvPr/>
        </p:nvSpPr>
        <p:spPr>
          <a:xfrm>
            <a:off x="4334255" y="1554480"/>
            <a:ext cx="3520440" cy="192024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12" name="TextBox 11"/>
          <p:cNvSpPr txBox="1"/>
          <p:nvPr/>
        </p:nvSpPr>
        <p:spPr>
          <a:xfrm>
            <a:off x="4562855" y="1691639"/>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2</a:t>
            </a:r>
          </a:p>
        </p:txBody>
      </p:sp>
      <p:sp>
        <p:nvSpPr>
          <p:cNvPr id="13" name="TextBox 12"/>
          <p:cNvSpPr txBox="1"/>
          <p:nvPr/>
        </p:nvSpPr>
        <p:spPr>
          <a:xfrm>
            <a:off x="4562855" y="228600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데이터를 세 종류로 나눈다</a:t>
            </a:r>
          </a:p>
        </p:txBody>
      </p:sp>
      <p:sp>
        <p:nvSpPr>
          <p:cNvPr id="14" name="TextBox 13"/>
          <p:cNvSpPr txBox="1"/>
          <p:nvPr/>
        </p:nvSpPr>
        <p:spPr>
          <a:xfrm>
            <a:off x="4562855" y="274320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지속 · 매칭 · 실시간 데이터</a:t>
            </a:r>
          </a:p>
        </p:txBody>
      </p:sp>
      <p:sp>
        <p:nvSpPr>
          <p:cNvPr id="15" name="Rounded Rectangle 14"/>
          <p:cNvSpPr/>
          <p:nvPr/>
        </p:nvSpPr>
        <p:spPr>
          <a:xfrm>
            <a:off x="8119871" y="1554480"/>
            <a:ext cx="3520440" cy="1920240"/>
          </a:xfrm>
          <a:prstGeom prst="roundRect">
            <a:avLst>
              <a:gd name="adj" fmla="val 5000"/>
            </a:avLst>
          </a:prstGeom>
          <a:solidFill>
            <a:srgbClr val="EFF6FF"/>
          </a:solidFill>
          <a:ln w="19050">
            <a:solidFill>
              <a:srgbClr val="2563EB"/>
            </a:solidFill>
          </a:ln>
        </p:spPr>
        <p:txBody>
          <a:bodyPr rtlCol="0" anchor="ctr" wrap="square" tIns="36576" bIns="36576"/>
          <a:lstStyle/>
          <a:p>
            <a:pPr algn="ctr"/>
          </a:p>
        </p:txBody>
      </p:sp>
      <p:sp>
        <p:nvSpPr>
          <p:cNvPr id="16" name="TextBox 15"/>
          <p:cNvSpPr txBox="1"/>
          <p:nvPr/>
        </p:nvSpPr>
        <p:spPr>
          <a:xfrm>
            <a:off x="8348471" y="1691639"/>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3</a:t>
            </a:r>
          </a:p>
        </p:txBody>
      </p:sp>
      <p:sp>
        <p:nvSpPr>
          <p:cNvPr id="17" name="TextBox 16"/>
          <p:cNvSpPr txBox="1"/>
          <p:nvPr/>
        </p:nvSpPr>
        <p:spPr>
          <a:xfrm>
            <a:off x="8348471" y="228600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확정 주체와 저장 위치</a:t>
            </a:r>
          </a:p>
        </p:txBody>
      </p:sp>
      <p:sp>
        <p:nvSpPr>
          <p:cNvPr id="18" name="TextBox 17"/>
          <p:cNvSpPr txBox="1"/>
          <p:nvPr/>
        </p:nvSpPr>
        <p:spPr>
          <a:xfrm>
            <a:off x="8348471" y="274320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누가 확정하고, 어디에 저장하나?</a:t>
            </a:r>
          </a:p>
        </p:txBody>
      </p:sp>
      <p:sp>
        <p:nvSpPr>
          <p:cNvPr id="19" name="Rounded Rectangle 18"/>
          <p:cNvSpPr/>
          <p:nvPr/>
        </p:nvSpPr>
        <p:spPr>
          <a:xfrm>
            <a:off x="548640" y="3657600"/>
            <a:ext cx="3520440" cy="192024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20" name="TextBox 19"/>
          <p:cNvSpPr txBox="1"/>
          <p:nvPr/>
        </p:nvSpPr>
        <p:spPr>
          <a:xfrm>
            <a:off x="777240" y="3794760"/>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4</a:t>
            </a:r>
          </a:p>
        </p:txBody>
      </p:sp>
      <p:sp>
        <p:nvSpPr>
          <p:cNvPr id="21" name="TextBox 20"/>
          <p:cNvSpPr txBox="1"/>
          <p:nvPr/>
        </p:nvSpPr>
        <p:spPr>
          <a:xfrm>
            <a:off x="777240" y="438912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API와 실시간 메시지 분리</a:t>
            </a:r>
          </a:p>
        </p:txBody>
      </p:sp>
      <p:sp>
        <p:nvSpPr>
          <p:cNvPr id="22" name="TextBox 21"/>
          <p:cNvSpPr txBox="1"/>
          <p:nvPr/>
        </p:nvSpPr>
        <p:spPr>
          <a:xfrm>
            <a:off x="777240" y="484632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요청·응답 목록 / 룸 메시지 목록</a:t>
            </a:r>
          </a:p>
        </p:txBody>
      </p:sp>
      <p:sp>
        <p:nvSpPr>
          <p:cNvPr id="23" name="Rounded Rectangle 22"/>
          <p:cNvSpPr/>
          <p:nvPr/>
        </p:nvSpPr>
        <p:spPr>
          <a:xfrm>
            <a:off x="4334255" y="3657600"/>
            <a:ext cx="3520440" cy="192024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24" name="TextBox 23"/>
          <p:cNvSpPr txBox="1"/>
          <p:nvPr/>
        </p:nvSpPr>
        <p:spPr>
          <a:xfrm>
            <a:off x="4562855" y="3794760"/>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5</a:t>
            </a:r>
          </a:p>
        </p:txBody>
      </p:sp>
      <p:sp>
        <p:nvSpPr>
          <p:cNvPr id="25" name="TextBox 24"/>
          <p:cNvSpPr txBox="1"/>
          <p:nvPr/>
        </p:nvSpPr>
        <p:spPr>
          <a:xfrm>
            <a:off x="4562855" y="438912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예외를 상태도로 검토</a:t>
            </a:r>
          </a:p>
        </p:txBody>
      </p:sp>
      <p:sp>
        <p:nvSpPr>
          <p:cNvPr id="26" name="TextBox 25"/>
          <p:cNvSpPr txBox="1"/>
          <p:nvPr/>
        </p:nvSpPr>
        <p:spPr>
          <a:xfrm>
            <a:off x="4562855" y="484632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취소 · 이탈 · 재접속 · 중복 · 저장 실패</a:t>
            </a:r>
          </a:p>
        </p:txBody>
      </p:sp>
      <p:sp>
        <p:nvSpPr>
          <p:cNvPr id="27" name="Rounded Rectangle 26"/>
          <p:cNvSpPr/>
          <p:nvPr/>
        </p:nvSpPr>
        <p:spPr>
          <a:xfrm>
            <a:off x="8119871" y="3657600"/>
            <a:ext cx="3520440" cy="1920240"/>
          </a:xfrm>
          <a:prstGeom prst="roundRect">
            <a:avLst>
              <a:gd name="adj" fmla="val 5000"/>
            </a:avLst>
          </a:prstGeom>
          <a:solidFill>
            <a:srgbClr val="F8FAFC"/>
          </a:solidFill>
          <a:ln w="12700">
            <a:solidFill>
              <a:srgbClr val="E5E7EB"/>
            </a:solidFill>
          </a:ln>
        </p:spPr>
        <p:txBody>
          <a:bodyPr rtlCol="0" anchor="ctr" wrap="square" tIns="36576" bIns="36576"/>
          <a:lstStyle/>
          <a:p>
            <a:pPr algn="ctr"/>
          </a:p>
        </p:txBody>
      </p:sp>
      <p:sp>
        <p:nvSpPr>
          <p:cNvPr id="28" name="TextBox 27"/>
          <p:cNvSpPr txBox="1"/>
          <p:nvPr/>
        </p:nvSpPr>
        <p:spPr>
          <a:xfrm>
            <a:off x="8348471" y="3794760"/>
            <a:ext cx="914400" cy="548640"/>
          </a:xfrm>
          <a:prstGeom prst="rect">
            <a:avLst/>
          </a:prstGeom>
          <a:noFill/>
        </p:spPr>
        <p:txBody>
          <a:bodyPr wrap="square" lIns="36576" rIns="36576" tIns="18288" bIns="18288" anchor="t">
            <a:spAutoFit/>
          </a:bodyPr>
          <a:lstStyle/>
          <a:p>
            <a:pPr algn="l">
              <a:spcAft>
                <a:spcPts val="0"/>
              </a:spcAft>
            </a:pPr>
            <a:r>
              <a:rPr sz="3000" b="1">
                <a:solidFill>
                  <a:srgbClr val="2563EB"/>
                </a:solidFill>
                <a:latin typeface="맑은 고딕"/>
                <a:ea typeface="맑은 고딕"/>
                <a:cs typeface="맑은 고딕"/>
              </a:rPr>
              <a:t>6</a:t>
            </a:r>
          </a:p>
        </p:txBody>
      </p:sp>
      <p:sp>
        <p:nvSpPr>
          <p:cNvPr id="29" name="TextBox 28"/>
          <p:cNvSpPr txBox="1"/>
          <p:nvPr/>
        </p:nvSpPr>
        <p:spPr>
          <a:xfrm>
            <a:off x="8348471" y="4389120"/>
            <a:ext cx="3108960" cy="457200"/>
          </a:xfrm>
          <a:prstGeom prst="rect">
            <a:avLst/>
          </a:prstGeom>
          <a:noFill/>
        </p:spPr>
        <p:txBody>
          <a:bodyPr wrap="square" lIns="36576" rIns="36576" tIns="18288" bIns="18288" anchor="t">
            <a:spAutoFit/>
          </a:bodyPr>
          <a:lstStyle/>
          <a:p>
            <a:pPr algn="l">
              <a:spcAft>
                <a:spcPts val="0"/>
              </a:spcAft>
            </a:pPr>
            <a:r>
              <a:rPr sz="1700" b="1">
                <a:solidFill>
                  <a:srgbClr val="1F2937"/>
                </a:solidFill>
                <a:latin typeface="맑은 고딕"/>
                <a:ea typeface="맑은 고딕"/>
                <a:cs typeface="맑은 고딕"/>
              </a:rPr>
              <a:t>최소 인원으로 실제 테스트</a:t>
            </a:r>
          </a:p>
        </p:txBody>
      </p:sp>
      <p:sp>
        <p:nvSpPr>
          <p:cNvPr id="30" name="TextBox 29"/>
          <p:cNvSpPr txBox="1"/>
          <p:nvPr/>
        </p:nvSpPr>
        <p:spPr>
          <a:xfrm>
            <a:off x="8348471" y="4846320"/>
            <a:ext cx="3108960" cy="640080"/>
          </a:xfrm>
          <a:prstGeom prst="rect">
            <a:avLst/>
          </a:prstGeom>
          <a:noFill/>
        </p:spPr>
        <p:txBody>
          <a:bodyPr wrap="square" lIns="36576" rIns="36576" tIns="18288" bIns="18288" anchor="t">
            <a:spAutoFit/>
          </a:bodyPr>
          <a:lstStyle/>
          <a:p>
            <a:pPr algn="l">
              <a:spcAft>
                <a:spcPts val="0"/>
              </a:spcAft>
            </a:pPr>
            <a:r>
              <a:rPr sz="1300" b="0">
                <a:solidFill>
                  <a:srgbClr val="6B7280"/>
                </a:solidFill>
                <a:latin typeface="맑은 고딕"/>
                <a:ea typeface="맑은 고딕"/>
                <a:cs typeface="맑은 고딕"/>
              </a:rPr>
              <a:t>접속 · 지연 · 이탈을 기기 두 대로라도</a:t>
            </a:r>
          </a:p>
        </p:txBody>
      </p:sp>
      <p:sp>
        <p:nvSpPr>
          <p:cNvPr id="31" name="TextBox 30"/>
          <p:cNvSpPr txBox="1"/>
          <p:nvPr/>
        </p:nvSpPr>
        <p:spPr>
          <a:xfrm>
            <a:off x="548640" y="5852160"/>
            <a:ext cx="11091672" cy="411480"/>
          </a:xfrm>
          <a:prstGeom prst="rect">
            <a:avLst/>
          </a:prstGeom>
          <a:noFill/>
        </p:spPr>
        <p:txBody>
          <a:bodyPr wrap="square" lIns="36576" rIns="36576" tIns="18288" bIns="18288" anchor="t">
            <a:spAutoFit/>
          </a:bodyPr>
          <a:lstStyle/>
          <a:p>
            <a:pPr algn="l">
              <a:spcAft>
                <a:spcPts val="0"/>
              </a:spcAft>
            </a:pPr>
            <a:r>
              <a:rPr sz="1600" b="1">
                <a:solidFill>
                  <a:srgbClr val="2563EB"/>
                </a:solidFill>
                <a:latin typeface="맑은 고딕"/>
                <a:ea typeface="맑은 고딕"/>
                <a:cs typeface="맑은 고딕"/>
              </a:rPr>
              <a:t>도구보다 구조가 먼저.  </a:t>
            </a:r>
            <a:r>
              <a:rPr sz="1600" b="0">
                <a:solidFill>
                  <a:srgbClr val="1F2937"/>
                </a:solidFill>
                <a:latin typeface="맑은 고딕"/>
                <a:ea typeface="맑은 고딕"/>
                <a:cs typeface="맑은 고딕"/>
              </a:rPr>
              <a:t>서버 기술을 고르는 것은 거의 마지막 단계다.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22960" y="822960"/>
            <a:ext cx="10058400" cy="914400"/>
          </a:xfrm>
          <a:prstGeom prst="rect">
            <a:avLst/>
          </a:prstGeom>
          <a:noFill/>
        </p:spPr>
        <p:txBody>
          <a:bodyPr wrap="square" lIns="36576" rIns="36576" tIns="18288" bIns="18288" anchor="t">
            <a:spAutoFit/>
          </a:bodyPr>
          <a:lstStyle/>
          <a:p>
            <a:pPr algn="l">
              <a:spcAft>
                <a:spcPts val="0"/>
              </a:spcAft>
            </a:pPr>
            <a:r>
              <a:rPr sz="4400" b="1">
                <a:solidFill>
                  <a:srgbClr val="FFFFFF"/>
                </a:solidFill>
                <a:latin typeface="맑은 고딕"/>
                <a:ea typeface="맑은 고딕"/>
                <a:cs typeface="맑은 고딕"/>
              </a:rPr>
              <a:t>질의응답</a:t>
            </a:r>
          </a:p>
        </p:txBody>
      </p:sp>
      <p:sp>
        <p:nvSpPr>
          <p:cNvPr id="3" name="TextBox 2"/>
          <p:cNvSpPr txBox="1"/>
          <p:nvPr/>
        </p:nvSpPr>
        <p:spPr>
          <a:xfrm>
            <a:off x="822960" y="1783080"/>
            <a:ext cx="10058400" cy="457200"/>
          </a:xfrm>
          <a:prstGeom prst="rect">
            <a:avLst/>
          </a:prstGeom>
          <a:noFill/>
        </p:spPr>
        <p:txBody>
          <a:bodyPr wrap="square" lIns="36576" rIns="36576" tIns="18288" bIns="18288" anchor="t">
            <a:spAutoFit/>
          </a:bodyPr>
          <a:lstStyle/>
          <a:p>
            <a:pPr algn="l">
              <a:spcAft>
                <a:spcPts val="0"/>
              </a:spcAft>
            </a:pPr>
            <a:r>
              <a:rPr sz="1800" b="1">
                <a:solidFill>
                  <a:srgbClr val="93C5FD"/>
                </a:solidFill>
                <a:latin typeface="맑은 고딕"/>
                <a:ea typeface="맑은 고딕"/>
                <a:cs typeface="맑은 고딕"/>
              </a:rPr>
              <a:t>질문할 때 알려 주세요</a:t>
            </a:r>
          </a:p>
        </p:txBody>
      </p:sp>
      <p:sp>
        <p:nvSpPr>
          <p:cNvPr id="4" name="Oval 3"/>
          <p:cNvSpPr/>
          <p:nvPr/>
        </p:nvSpPr>
        <p:spPr>
          <a:xfrm>
            <a:off x="822960" y="246888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1</a:t>
            </a:r>
          </a:p>
        </p:txBody>
      </p:sp>
      <p:sp>
        <p:nvSpPr>
          <p:cNvPr id="5" name="TextBox 4"/>
          <p:cNvSpPr txBox="1"/>
          <p:nvPr/>
        </p:nvSpPr>
        <p:spPr>
          <a:xfrm>
            <a:off x="1600200" y="2468880"/>
            <a:ext cx="9144000" cy="548640"/>
          </a:xfrm>
          <a:prstGeom prst="rect">
            <a:avLst/>
          </a:prstGeom>
          <a:noFill/>
        </p:spPr>
        <p:txBody>
          <a:bodyPr wrap="square" lIns="36576" rIns="36576" tIns="18288" bIns="18288" anchor="ctr">
            <a:spAutoFit/>
          </a:bodyPr>
          <a:lstStyle/>
          <a:p>
            <a:pPr algn="l">
              <a:spcAft>
                <a:spcPts val="0"/>
              </a:spcAft>
            </a:pPr>
            <a:r>
              <a:rPr sz="2200" b="0">
                <a:solidFill>
                  <a:srgbClr val="FFFFFF"/>
                </a:solidFill>
                <a:latin typeface="맑은 고딕"/>
                <a:ea typeface="맑은 고딕"/>
                <a:cs typeface="맑은 고딕"/>
              </a:rPr>
              <a:t>현재 게임과 경기 인원</a:t>
            </a:r>
          </a:p>
        </p:txBody>
      </p:sp>
      <p:sp>
        <p:nvSpPr>
          <p:cNvPr id="6" name="Oval 5"/>
          <p:cNvSpPr/>
          <p:nvPr/>
        </p:nvSpPr>
        <p:spPr>
          <a:xfrm>
            <a:off x="822960" y="324612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2</a:t>
            </a:r>
          </a:p>
        </p:txBody>
      </p:sp>
      <p:sp>
        <p:nvSpPr>
          <p:cNvPr id="7" name="TextBox 6"/>
          <p:cNvSpPr txBox="1"/>
          <p:nvPr/>
        </p:nvSpPr>
        <p:spPr>
          <a:xfrm>
            <a:off x="1600200" y="3246120"/>
            <a:ext cx="9144000" cy="548640"/>
          </a:xfrm>
          <a:prstGeom prst="rect">
            <a:avLst/>
          </a:prstGeom>
          <a:noFill/>
        </p:spPr>
        <p:txBody>
          <a:bodyPr wrap="square" lIns="36576" rIns="36576" tIns="18288" bIns="18288" anchor="ctr">
            <a:spAutoFit/>
          </a:bodyPr>
          <a:lstStyle/>
          <a:p>
            <a:pPr algn="l">
              <a:spcAft>
                <a:spcPts val="0"/>
              </a:spcAft>
            </a:pPr>
            <a:r>
              <a:rPr sz="2200" b="0">
                <a:solidFill>
                  <a:srgbClr val="FFFFFF"/>
                </a:solidFill>
                <a:latin typeface="맑은 고딕"/>
                <a:ea typeface="맑은 고딕"/>
                <a:cs typeface="맑은 고딕"/>
              </a:rPr>
              <a:t>저장 · 매칭 · 실시간 · 판정 중 막힌 지점</a:t>
            </a:r>
          </a:p>
        </p:txBody>
      </p:sp>
      <p:sp>
        <p:nvSpPr>
          <p:cNvPr id="8" name="Oval 7"/>
          <p:cNvSpPr/>
          <p:nvPr/>
        </p:nvSpPr>
        <p:spPr>
          <a:xfrm>
            <a:off x="822960" y="4023360"/>
            <a:ext cx="548640" cy="548640"/>
          </a:xfrm>
          <a:prstGeom prst="ellipse">
            <a:avLst/>
          </a:prstGeom>
          <a:solidFill>
            <a:srgbClr val="2563EB"/>
          </a:solidFill>
          <a:ln>
            <a:noFill/>
          </a:ln>
        </p:spPr>
        <p:txBody>
          <a:bodyPr rtlCol="0" anchor="ctr" wrap="square" lIns="0" rIns="0" tIns="36576" bIns="36576"/>
          <a:lstStyle/>
          <a:p>
            <a:pPr algn="ctr">
              <a:spcAft>
                <a:spcPts val="0"/>
              </a:spcAft>
            </a:pPr>
            <a:r>
              <a:rPr sz="1800" b="1">
                <a:solidFill>
                  <a:srgbClr val="FFFFFF"/>
                </a:solidFill>
                <a:latin typeface="맑은 고딕"/>
                <a:ea typeface="맑은 고딕"/>
                <a:cs typeface="맑은 고딕"/>
              </a:rPr>
              <a:t>3</a:t>
            </a:r>
          </a:p>
        </p:txBody>
      </p:sp>
      <p:sp>
        <p:nvSpPr>
          <p:cNvPr id="9" name="TextBox 8"/>
          <p:cNvSpPr txBox="1"/>
          <p:nvPr/>
        </p:nvSpPr>
        <p:spPr>
          <a:xfrm>
            <a:off x="1600200" y="4023360"/>
            <a:ext cx="9144000" cy="548640"/>
          </a:xfrm>
          <a:prstGeom prst="rect">
            <a:avLst/>
          </a:prstGeom>
          <a:noFill/>
        </p:spPr>
        <p:txBody>
          <a:bodyPr wrap="square" lIns="36576" rIns="36576" tIns="18288" bIns="18288" anchor="ctr">
            <a:spAutoFit/>
          </a:bodyPr>
          <a:lstStyle/>
          <a:p>
            <a:pPr algn="l">
              <a:spcAft>
                <a:spcPts val="0"/>
              </a:spcAft>
            </a:pPr>
            <a:r>
              <a:rPr sz="2200" b="0">
                <a:solidFill>
                  <a:srgbClr val="FFFFFF"/>
                </a:solidFill>
                <a:latin typeface="맑은 고딕"/>
                <a:ea typeface="맑은 고딕"/>
                <a:cs typeface="맑은 고딕"/>
              </a:rPr>
              <a:t>사용 중인 엔진 · 서비스와 제약</a:t>
            </a:r>
          </a:p>
        </p:txBody>
      </p:sp>
      <p:sp>
        <p:nvSpPr>
          <p:cNvPr id="10" name="Rounded Rectangle 9"/>
          <p:cNvSpPr/>
          <p:nvPr/>
        </p:nvSpPr>
        <p:spPr>
          <a:xfrm>
            <a:off x="822960" y="4983480"/>
            <a:ext cx="10543032" cy="1097280"/>
          </a:xfrm>
          <a:prstGeom prst="roundRect">
            <a:avLst>
              <a:gd name="adj" fmla="val 6000"/>
            </a:avLst>
          </a:prstGeom>
          <a:solidFill>
            <a:srgbClr val="1E293B"/>
          </a:solidFill>
          <a:ln>
            <a:noFill/>
          </a:ln>
        </p:spPr>
        <p:txBody>
          <a:bodyPr rtlCol="0" anchor="ctr" wrap="square" tIns="36576" bIns="36576"/>
          <a:lstStyle/>
          <a:p>
            <a:pPr algn="ctr"/>
          </a:p>
        </p:txBody>
      </p:sp>
      <p:sp>
        <p:nvSpPr>
          <p:cNvPr id="11" name="TextBox 10"/>
          <p:cNvSpPr txBox="1"/>
          <p:nvPr/>
        </p:nvSpPr>
        <p:spPr>
          <a:xfrm>
            <a:off x="1143000" y="5074920"/>
            <a:ext cx="10058400" cy="365760"/>
          </a:xfrm>
          <a:prstGeom prst="rect">
            <a:avLst/>
          </a:prstGeom>
          <a:noFill/>
        </p:spPr>
        <p:txBody>
          <a:bodyPr wrap="square" lIns="36576" rIns="36576" tIns="18288" bIns="18288" anchor="t">
            <a:spAutoFit/>
          </a:bodyPr>
          <a:lstStyle/>
          <a:p>
            <a:pPr algn="l">
              <a:spcAft>
                <a:spcPts val="0"/>
              </a:spcAft>
            </a:pPr>
            <a:r>
              <a:rPr sz="1300" b="1">
                <a:solidFill>
                  <a:srgbClr val="FCD34D"/>
                </a:solidFill>
                <a:latin typeface="맑은 고딕"/>
                <a:ea typeface="맑은 고딕"/>
                <a:cs typeface="맑은 고딕"/>
              </a:rPr>
              <a:t>오늘의 한 문장</a:t>
            </a:r>
          </a:p>
        </p:txBody>
      </p:sp>
      <p:sp>
        <p:nvSpPr>
          <p:cNvPr id="12" name="TextBox 11"/>
          <p:cNvSpPr txBox="1"/>
          <p:nvPr/>
        </p:nvSpPr>
        <p:spPr>
          <a:xfrm>
            <a:off x="1143000" y="5413248"/>
            <a:ext cx="10058400" cy="548640"/>
          </a:xfrm>
          <a:prstGeom prst="rect">
            <a:avLst/>
          </a:prstGeom>
          <a:noFill/>
        </p:spPr>
        <p:txBody>
          <a:bodyPr wrap="square" lIns="36576" rIns="36576" tIns="18288" bIns="18288" anchor="t">
            <a:spAutoFit/>
          </a:bodyPr>
          <a:lstStyle/>
          <a:p>
            <a:pPr algn="l">
              <a:spcAft>
                <a:spcPts val="0"/>
              </a:spcAft>
            </a:pPr>
            <a:r>
              <a:rPr sz="2000" b="1">
                <a:solidFill>
                  <a:srgbClr val="FFFFFF"/>
                </a:solidFill>
                <a:latin typeface="맑은 고딕"/>
                <a:ea typeface="맑은 고딕"/>
                <a:cs typeface="맑은 고딕"/>
              </a:rPr>
              <a:t>“누가 결과를 확정하는가”를 먼저 정하면, 서버 구조와 통신 방식은 따라온다.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